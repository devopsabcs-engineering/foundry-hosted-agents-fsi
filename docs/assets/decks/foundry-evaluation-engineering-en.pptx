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3 to 4 hours including Lab 19. All data and amounts are synthetic, non-binding training material. AI-assisted authoring was used; learners need no coding assistant. The retained quote graph is deterministic. We evaluate its business contracts directly and use model judges only for suitable observable quality.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participants what a 100% score proves. Expected answer: only the stated measured criteria on this versioned sample. Pair the guide with Lab 19 exercises 19.1 through 19.10. Live exercises require approved access and budget.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hosted LangGraph workflow does not use an LLM to price. It returns bounded EN/FR templates. The LLM in this evaluation path is the judge. Skills, memory and File Search demonstrations are isolated; do not infer they are called by the quote graph. Calculation and persistence are inside COMPOSITION.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 describes scope, not determinism. An agent evaluation can contain deterministic code graders. Temperature zero or a seed does not guarantee identical outputs across changing model/service versions. Network, RBAC and persistent state can also vary in a deterministic application.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score is not an arithmetic or authorization oracle. Test exact fields and transitions using calculator, CaseStore and API tests. Schema validity alone does not prove correctness. These contracts remain hard even when future agent components become generative.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cheap and deterministic, then add cost where the oracle needs it. The ladder is complementary evidence, not a replacement sequence that makes earlier checks obsolete. Have participants assign each worksheet assertion to one layer.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applicant-message source cases. The injection is untrusted input, never permission to approve. Add locale, role and lifecycle slices. CASE004 is reserved for isolated revision acceptance; do not overwrite already revised cases with original fixture expectations.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participants to identify circular grading. If a fabricated premium is copied from the candidate into context, a groundedness judge may reward the hallucination. The evaluator must receive independent fixture/rule/policy facts with versioned provenance.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repeatedly inspected holdout is no longer unseen. Avoid learning thresholds against the release set. Keep scenario coverage, human labels and revisions explicit. A dataset change requires a new baseline; it is not a measured improvement against the old dataset.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PowerShell commands in Lab19.2; the deck is not a shell script. Conditional live Cosmos skips are explicit limitations. Mocked success is not deployed availability. The golden report is regenerated; do not commit incidental generated report changes.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uses AIProjectClient.get_openai_client and native evals.create / evals.runs.create. Reject HTTP200 error bodies and missing selected-locale output before judging. Preserve raw captures and all failed attempts. Output directories are fresh, never overwritten.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guide’s separate read-only and practice paths. An empty agent-scoped Evaluation tab does not mean the project has no native runs. Inspect the retained staging v6 run without invoking a judge. Practice files are authored synthetic controls, not captured agent responses. Use the verified SDK if mapping or repetition cannot be expressed; do not invent a button.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19.4 step 3. Genuine retained French staging definition eval_923cb34017c743a59089a36cb55d4e28. Match run evalrun_db159f558fd847668d7bba275ba1a353. Overall 15/15 means five items times three metrics; 100% / 5/5 is a pass count, not a raw ordinal score of 5 for every item. No evaluation was submitted for this capture. Open the linked full image for project navigation and provenance.
Guide: https://devopsabcs-engineering.github.io/foundry-hosted-agents-fsi/evaluation-guide.html
Lab 19: https://devopsabcs-engineering.github.io/foundry-hosted-agents-fsi/labs/lab-19-evaluation-engineering
Source: https://learn.microsoft.com/azure/foundry/how-to/evaluate-generative-ai-app
Screenshot: https://devopsabcs-engineering.github.io/foundry-hosted-agents-fsi/assets/evidence/lab19-v6-evaluation-overview-2026-10-23.png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19.4 step 4. Genuine retained run evalrun_db159f558fd847668d7bba275ba1a353, not a practice upload result. Coherence includes raw ordinal 4 and 5 scores, all passed. Groundedness shows 5; Task Adherence uses Boolean scores. Scroll horizontally for task_adherence and reasons. Run details was collapsed to fit all five rows. Inspect mapped inputs in the matching captured.json and definition if the portal does not expose them. No agent or judge calls were made.
Guide: https://devopsabcs-engineering.github.io/foundry-hosted-agents-fsi/evaluation-guide.html
Lab 19: https://devopsabcs-engineering.github.io/foundry-hosted-agents-fsi/labs/lab-19-evaluation-engineering
Source: https://learn.microsoft.com/azure/foundry/observability/how-to/cloud-evaluation
Screenshot: https://devopsabcs-engineering.github.io/foundry-hosted-agents-fsi/assets/evidence/lab19-v6-run-results-2026-10-23.png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working release uses projects2.6.0, openai3.6.0 and identity1.25.3. Do not claim the parallel evaluation SDK is deprecated without authoritative evidence. Check installed versions and current official docs before adapting samples. The workshop does not upgrade production dependencies.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the guide’s exact configuration excerpts. A literal type azure_ai_groundedness is invented and incorrect. Current public samples may use model or typed wrappers; do not splice those into the pinned working contract without verification. Larger datasets need a real supported file/dataset reference.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perfectly coherent false statement may pass coherence. Require no-premium and no-approval policies independently. Inspect the selected metric’s returned score, pass threshold and reason rather than assuming every built-in uses the same scale.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Genuine Microsoft Foundry builtin.groundedness catalog v18, captured in staging on 2026-10-23. Cropped only to enlarge the description, supported input alternatives and ordinal 1-5 score. The full screenshot is linked from the image and the guide. The catalog includes response/context, query/response or messages alternatives. This lab maps evaluation_query, independent context and the selected-locale response. Coherence v13 also shows ordinal 1-5; Task Adherence preview v17 shows Boolean. Catalog versions are capture-time observations, not effective versions proved for the retained v6 run. Inspection did not submit an evaluation or invoke a judge.
Guide: https://devopsabcs-engineering.github.io/foundry-hosted-agents-fsi/evaluation-guide.html
Lab 19: https://devopsabcs-engineering.github.io/foundry-hosted-agents-fsi/labs/lab-19-evaluation-engineering
Source: https://learn.microsoft.com/azure/foundry/concepts/evaluation-evaluators/custom-evaluators
Screenshot: https://devopsabcs-engineering.github.io/foundry-hosted-agents-fsi/assets/evidence/foundry-evaluator-groundedness-v18-2026-10-23.png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normalizer flattens the bilingual content map for task-adherence inputs. Missing locale is an error, not a silent language fallback. Compare the same slice and independent truth in each language. Formatting differences alone are not semantic quality failures.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native endpoint invokes the current deployment. A deployment name can later point to a different judge-model version. The existing runner identity does not magically record every effective catalog version: export configuration and record missing identities as a limitation. A requested traceparent is not verified ingestion.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validate_completion rejects missing, duplicate, errored, nonfinite and unscored results. validate_results additionally applies a pass-rate policy. Zero items is not vacuous success. A service error is not a numeric quality outcome and must not be dropped from reporting.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 can exit nonzero for quality while the workflow retains advisory scores. A separate always-run completeness gate requires both locales. continue-on-error is not permission to ignore missing evidence. A stricter calibrated quality policy is a separate reviewed change; this curriculum does not change production gates.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 both attempts and native correlation IDs. This is an operational service retry, not repeated sampling until a quality failure becomes green. The final release ran stagingv6 and productionv7. The earlier historical 0/10 benchmark is a different contract, not a comparable baseline.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human labels per metric, not an expectation that every metric must fail every bad answer. Synthetic mutations must be labeled, with native response ID provenance removed for the edited answer. Do not present a rewritten candidate as an authentic captured response.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Lab18.2 requires actual retained artifacts. If unavailable, record reproduction blocked; do not fabricate a baseline. Changing the corpus or instructions does not turn the failed control into a pass. This is an isolated RAG demonstration, not hosted quote-agent RAG.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error is costliest here? A false accept of unauthorized approval matters more than harmless wording. Thresholds should reflect risk and validation, not be tuned after seeing the candidate. Challenge prompt injection inside judged content without allowing it to redefine the rubric.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CLI recaptures the hosted agent, so rerunning it does not isolate the judge. Lab19.8 includes an executable judge-only reuse recipe and a result-inspection recipe. Use fresh directories and predeclared trial counts; no silent overwrites or stopping at first pass.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 stdlib Wilson calculation in Lab19.8. Do not pool 30 correlated rubric grades as 30 independent cases. A case-level paired analysis or cluster bootstrap preserves within-case dependence. Hard invariants are not traded away against a confidence interval.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Blind/randomize candidate order where feasible to reduce judge bias. Report per-case reasons and reviewed failures rather than only average score delta. Repetition controls statistical noise but does not fix invalid ground truth or missing coverage.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judgments is nominal work, not a fixed request count or price. The quote graph currently does not call a pricing LLM; judges still incur model cost. Freeze cache keys across input, state, model, rubric and evaluator, and label reused captures as not fresh inference.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CASE004 was verified: previous110000 labeled not current, TRAINING_BASIC preparation returned200/PENDING_REVIEW/READY/90000, response and correlation matched, self-approval403. Do not replay blindly on current revision2 or clear benchmark state. Use owner-approved isolated storage/case.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Lab18 exports genuinely ingested SDK spans and reconstructs a synthetic replay, not a private original prompt. Do not invent model spans in this deterministic graph. If a process evaluator requires a trajectory format not captured here, mark the dimension not measured rather than filling it with an acknowledgement.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SystemError belongs in reliability reporting, not a numeric model quality score. Avoid broad access grants as troubleshooting shortcuts. Real production sampling requires approved privacy and retention rules; this workshop stays synthetic. Scheduled evaluations complement, not replace, release evidence.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one-page worksheet in Lab19.10. Good score alone is insufficient; missing trajectory or failed negative controls must stay visible. The lab does not authorize release, change gates or grant access. Include separate operations and quality conclusions.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answers: A blocks on a hard authorization invariant. B blocks on completeness, not assumed quality. C needs remediation or explicit risk decision under policy; a mean cannot hide the high-risk false accept. D is eligible for the protected owner decision, not automatically approved by the evaluator.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participant to name a bug unit tests detect better, a semantic defect exact matching misses, a judge false positive and a non-LLM cause of runtime variation. Strong answers separate evidence scope, statistical uncertainty and policy ownership.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and lab are maintained in the repository and linked from the workshop. Rebuild with npm run build-evaluation-deck. Official references:
https://learn.microsoft.com/azure/foundry/how-to/evaluate-generative-ai-app
https://learn.microsoft.com/azure/foundry/observability/how-to/cloud-evaluation
https://learn.microsoft.com/azure/foundry/observability/how-to/cloud-evaluation-datasets
https://learn.microsoft.com/azure/foundry/concepts/built-in-evaluators
https://learn.microsoft.com/azure/foundry/concepts/evaluation-evaluators/agent-evaluators
https://learn.microsoft.com/azure/foundry/concepts/evaluation-evaluators/custom-evaluators
Live release evidence: https://github.com/devopsabcs-engineering/foundry-hosted-agents-fsi/wiki/Native-Foundry-Evidence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evopsabcs-engineering.github.io/foundry-hosted-agents-fsi/assets/evidence/lab19-v6-evaluation-overview-2026-10-23.png" TargetMode="External"/><Relationship Id="rId3" Type="http://schemas.openxmlformats.org/officeDocument/2006/relationships/hyperlink" Target="https://devopsabcs-engineering.github.io/foundry-hosted-agents-fsi/evaluation-guide.html"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evopsabcs-engineering.github.io/foundry-hosted-agents-fsi/assets/evidence/lab19-v6-run-results-2026-10-23.png" TargetMode="External"/><Relationship Id="rId3" Type="http://schemas.openxmlformats.org/officeDocument/2006/relationships/hyperlink" Target="https://devopsabcs-engineering.github.io/foundry-hosted-agents-fsi/evaluation-guide.html" TargetMode="External"/><Relationship Id="rId1"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evopsabcs-engineering.github.io/foundry-hosted-agents-fsi/assets/evidence/foundry-evaluator-groundedness-v18-2026-10-23.png" TargetMode="External"/><Relationship Id="rId3" Type="http://schemas.openxmlformats.org/officeDocument/2006/relationships/hyperlink" Target="https://devopsabcs-engineering.github.io/foundry-hosted-agents-fsi/evaluation-guide.html"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B3D"/>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91CEFF"/>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1371600"/>
            <a:ext cx="11064240" cy="1097280"/>
          </a:xfrm>
          <a:prstGeom prst="rect">
            <a:avLst/>
          </a:prstGeom>
          <a:noFill/>
          <a:ln/>
        </p:spPr>
        <p:txBody>
          <a:bodyPr wrap="square" lIns="0" tIns="0" rIns="0" bIns="0" rtlCol="0" anchor="ctr"/>
          <a:lstStyle/>
          <a:p>
            <a:pPr indent="0" marL="0">
              <a:buNone/>
            </a:pPr>
            <a:r>
              <a:rPr lang="en-US" sz="3600" b="1" dirty="0">
                <a:solidFill>
                  <a:srgbClr val="FFFFFF"/>
                </a:solidFill>
                <a:latin typeface="Segoe UI" pitchFamily="34" charset="0"/>
                <a:ea typeface="Segoe UI" pitchFamily="34" charset="-122"/>
                <a:cs typeface="Segoe UI" pitchFamily="34" charset="-120"/>
              </a:rPr>
              <a:t>Evaluation engineering</a:t>
            </a:r>
            <a:endParaRPr lang="en-US" sz="3600" dirty="0"/>
          </a:p>
        </p:txBody>
      </p:sp>
      <p:sp>
        <p:nvSpPr>
          <p:cNvPr id="5" name="Text 3"/>
          <p:cNvSpPr/>
          <p:nvPr/>
        </p:nvSpPr>
        <p:spPr>
          <a:xfrm>
            <a:off x="594360" y="29260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From exact contracts to calibrated Foundry judges</a:t>
            </a:r>
            <a:endParaRPr lang="en-US" sz="2200" dirty="0"/>
          </a:p>
        </p:txBody>
      </p:sp>
      <p:sp>
        <p:nvSpPr>
          <p:cNvPr id="6" name="Text 4"/>
          <p:cNvSpPr/>
          <p:nvPr/>
        </p:nvSpPr>
        <p:spPr>
          <a:xfrm>
            <a:off x="594360" y="36118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Quote preparation agent | Deep lab + operating playbook</a:t>
            </a:r>
            <a:endParaRPr lang="en-US" sz="2200" dirty="0"/>
          </a:p>
        </p:txBody>
      </p:sp>
      <p:sp>
        <p:nvSpPr>
          <p:cNvPr id="7" name="Text 5"/>
          <p:cNvSpPr/>
          <p:nvPr/>
        </p:nvSpPr>
        <p:spPr>
          <a:xfrm>
            <a:off x="594360" y="5212080"/>
            <a:ext cx="10972800" cy="640080"/>
          </a:xfrm>
          <a:prstGeom prst="rect">
            <a:avLst/>
          </a:prstGeom>
          <a:noFill/>
          <a:ln/>
        </p:spPr>
        <p:txBody>
          <a:bodyPr wrap="square" lIns="0" tIns="0" rIns="0" bIns="0" rtlCol="0" anchor="ctr"/>
          <a:lstStyle/>
          <a:p>
            <a:pPr indent="0" marL="0">
              <a:buNone/>
            </a:pPr>
            <a:r>
              <a:rPr lang="en-US" sz="1400" dirty="0">
                <a:solidFill>
                  <a:srgbClr val="91CEFF"/>
                </a:solidFill>
                <a:latin typeface="Segoe UI" pitchFamily="34" charset="0"/>
                <a:ea typeface="Segoe UI" pitchFamily="34" charset="-122"/>
                <a:cs typeface="Segoe UI" pitchFamily="34" charset="-120"/>
              </a:rPr>
              <a:t>EXACT CONTRACTS  /  CALIBRATED JUDGES  /  DEFENSIBLE DECISIONS</a:t>
            </a:r>
            <a:endParaRPr lang="en-US" sz="1400" dirty="0"/>
          </a:p>
        </p:txBody>
      </p:sp>
      <p:sp>
        <p:nvSpPr>
          <p:cNvPr id="8" name="Text 6">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DDEEFF"/>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9" name="Text 7"/>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DDEEFF"/>
                </a:solidFill>
                <a:latin typeface="Segoe UI" pitchFamily="34" charset="0"/>
                <a:ea typeface="Segoe UI" pitchFamily="34" charset="-122"/>
                <a:cs typeface="Segoe UI" pitchFamily="34" charset="-120"/>
              </a:rPr>
              <a:t>1 / 37</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What you will be able to defend</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Choose an oracle before choosing an evaluator.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Create a small native experiment with independent truth.</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Challenge the judge, repeat fairly and quantify uncertainty.</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Recommend release from evidence, not a green screenshot.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 / 37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What the quote agent actually does</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INTAKE: validate case ID</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REFERENCE_LOOKUP: read-only MCP</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COMPOSITION: calculate + persist</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Employee decision: separate reviewer</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 / 37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Deterministic versus stochastic</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Exact contract</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Same controlled input + state</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Schema, amount, transition, role</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A violated invariant blocks</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Sampled judgment</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Generation or judge may vary</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Meaning, grounding, usefulness</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Calibration + uncertainty matter</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4 / 37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Keep hard invariants out of opinion polls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 invented amount when status is INCOMPLETE or UNSUPPORTED.</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 self-approval: preparer and deciding employee must differ.</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Applicant response must not disclose the employee premium.</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Revision, ETag, idempotency and audit must agree.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5 / 37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The evidence ladder</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Local contracts + golden gate</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Live response + native judges</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Calibration + repeated holdout</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Stateful acceptance + operations</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6 / 37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A five-case starting dataset, not full coverage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CASE-SYN-001: READY; original employee amount 100000 cents.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CASE-SYN-003 / 005: unsupported / missing plan, no amount.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Invalid ID: reject before lookup or submission.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Injection with CASE-SYN-001: normal bounded acknowledgement.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7 / 37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Independent truth is the foundation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query, trusted context and candidate response distinct.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Expected status metadata does not prove hidden execution.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Human-review generated tests before accepting their oracle.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Never use the candidate’s answer as its own reference truth.</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8 / 37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Separate development, calibration and holdout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Development: find defects and improve implementation.</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Calibration: measure judge false accepts and false rejects.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Holdout: estimate performance on unseen reviewed cases.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Incidents: add new versioned cases without rewriting old results.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9 / 37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Lab checkpoint: cheap checks first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calculator, CaseStore and reviewer API contracts.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dataset conversion, capture errors and judge-gate tests.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python eval/evaluation_gate.py: 13 deterministic records.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Stop on invariant failures before paying for a judge.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10 / 37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Native cloud evaluation, end to end</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Convert EN / FR source</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Capture real Responses output</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Create eval + run; poll boundedly</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Retrieve every item + retain IDs</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11 / 37</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Portal walk-through: choose, map, inspect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Open the project-level Optimize &gt; Evaluations list.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Read-only: match retained run ID, status and five items.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Practice: use supplied flat JSONL and independent context.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Review criteria; stop before Submit without paid-call approval.</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12 / 37</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Portal checkpoint: open the completed run</a:t>
            </a:r>
            <a:endParaRPr lang="en-US" sz="2700" dirty="0"/>
          </a:p>
        </p:txBody>
      </p:sp>
      <p:pic>
        <p:nvPicPr>
          <p:cNvPr id="5" name="Image 0" descr="Completed retained run: 15/15 checks overall and 5/5 per metric.">
            <a:hlinkClick r:id="rId2" tooltip=""/>
          </p:cNvPr>
          <p:cNvPicPr>
            <a:picLocks noChangeAspect="1"/>
          </p:cNvPicPr>
          <p:nvPr/>
        </p:nvPicPr>
        <p:blipFill>
          <a:blip r:embed="rId1"/>
          <a:srcRect l="15914" r="1483" t="25351" b="47681"/>
          <a:stretch/>
        </p:blipFill>
        <p:spPr>
          <a:xfrm>
            <a:off x="548640" y="1874520"/>
            <a:ext cx="11064240" cy="2258008"/>
          </a:xfrm>
          <a:prstGeom prst="rect">
            <a:avLst/>
          </a:prstGeom>
        </p:spPr>
      </p:pic>
      <p:sp>
        <p:nvSpPr>
          <p:cNvPr id="6" name="Text 3"/>
          <p:cNvSpPr/>
          <p:nvPr/>
        </p:nvSpPr>
        <p:spPr>
          <a:xfrm>
            <a:off x="548640" y="5166360"/>
            <a:ext cx="11064240" cy="411480"/>
          </a:xfrm>
          <a:prstGeom prst="rect">
            <a:avLst/>
          </a:prstGeom>
          <a:noFill/>
          <a:ln/>
        </p:spPr>
        <p:txBody>
          <a:bodyPr wrap="square" lIns="0" tIns="0" rIns="0" bIns="0" rtlCol="0" anchor="ctr"/>
          <a:lstStyle/>
          <a:p>
            <a:pPr indent="0" marL="0">
              <a:buNone/>
            </a:pPr>
            <a:r>
              <a:rPr lang="en-US" sz="1600" dirty="0">
                <a:solidFill>
                  <a:srgbClr val="526777"/>
                </a:solidFill>
                <a:latin typeface="Segoe UI" pitchFamily="34" charset="0"/>
                <a:ea typeface="Segoe UI" pitchFamily="34" charset="-122"/>
                <a:cs typeface="Segoe UI" pitchFamily="34" charset="-120"/>
              </a:rPr>
              <a:t>French staging v6 | 2026-10-23 | Read-only retained evidence</a:t>
            </a:r>
            <a:endParaRPr lang="en-US" sz="1600" dirty="0"/>
          </a:p>
        </p:txBody>
      </p:sp>
      <p:sp>
        <p:nvSpPr>
          <p:cNvPr id="7" name="Text 4"/>
          <p:cNvSpPr/>
          <p:nvPr/>
        </p:nvSpPr>
        <p:spPr>
          <a:xfrm>
            <a:off x="548640" y="5623560"/>
            <a:ext cx="11064240" cy="457200"/>
          </a:xfrm>
          <a:prstGeom prst="rect">
            <a:avLst/>
          </a:prstGeom>
          <a:noFill/>
          <a:ln/>
        </p:spPr>
        <p:txBody>
          <a:bodyPr wrap="square" lIns="0" tIns="0" rIns="0" bIns="0" rtlCol="0" anchor="ctr"/>
          <a:lstStyle/>
          <a:p>
            <a:pPr indent="0" marL="0">
              <a:buNone/>
            </a:pPr>
            <a:r>
              <a:rPr lang="en-US" sz="2000" b="1" dirty="0">
                <a:solidFill>
                  <a:srgbClr val="183449"/>
                </a:solidFill>
                <a:latin typeface="Segoe UI" pitchFamily="34" charset="0"/>
                <a:ea typeface="Segoe UI" pitchFamily="34" charset="-122"/>
                <a:cs typeface="Segoe UI" pitchFamily="34" charset="-120"/>
              </a:rPr>
              <a:t>Select the run name, not its checkbox or Add run.</a:t>
            </a:r>
            <a:endParaRPr lang="en-US" sz="2000" dirty="0"/>
          </a:p>
        </p:txBody>
      </p:sp>
      <p:sp>
        <p:nvSpPr>
          <p:cNvPr id="8" name="Text 5">
            <a:hlinkClick r:id="rId3"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9" name="Text 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13 / 37</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Portal checkpoint: inspect scores and reasons</a:t>
            </a:r>
            <a:endParaRPr lang="en-US" sz="2700" dirty="0"/>
          </a:p>
        </p:txBody>
      </p:sp>
      <p:pic>
        <p:nvPicPr>
          <p:cNvPr id="5" name="Image 0" descr="Five retained result rows include Coherence Pass: 4 and Pass: 5.">
            <a:hlinkClick r:id="rId2" tooltip=""/>
          </p:cNvPr>
          <p:cNvPicPr>
            <a:picLocks noChangeAspect="1"/>
          </p:cNvPicPr>
          <p:nvPr/>
        </p:nvPicPr>
        <p:blipFill>
          <a:blip r:embed="rId1"/>
          <a:srcRect l="18435" r="1529" t="46763" b="16547"/>
          <a:stretch/>
        </p:blipFill>
        <p:spPr>
          <a:xfrm>
            <a:off x="548640" y="1874520"/>
            <a:ext cx="11064240" cy="3170091"/>
          </a:xfrm>
          <a:prstGeom prst="rect">
            <a:avLst/>
          </a:prstGeom>
        </p:spPr>
      </p:pic>
      <p:sp>
        <p:nvSpPr>
          <p:cNvPr id="6" name="Text 3"/>
          <p:cNvSpPr/>
          <p:nvPr/>
        </p:nvSpPr>
        <p:spPr>
          <a:xfrm>
            <a:off x="548640" y="5166360"/>
            <a:ext cx="11064240" cy="411480"/>
          </a:xfrm>
          <a:prstGeom prst="rect">
            <a:avLst/>
          </a:prstGeom>
          <a:noFill/>
          <a:ln/>
        </p:spPr>
        <p:txBody>
          <a:bodyPr wrap="square" lIns="0" tIns="0" rIns="0" bIns="0" rtlCol="0" anchor="ctr"/>
          <a:lstStyle/>
          <a:p>
            <a:pPr indent="0" marL="0">
              <a:buNone/>
            </a:pPr>
            <a:r>
              <a:rPr lang="en-US" sz="1600" dirty="0">
                <a:solidFill>
                  <a:srgbClr val="526777"/>
                </a:solidFill>
                <a:latin typeface="Segoe UI" pitchFamily="34" charset="0"/>
                <a:ea typeface="Segoe UI" pitchFamily="34" charset="-122"/>
                <a:cs typeface="Segoe UI" pitchFamily="34" charset="-120"/>
              </a:rPr>
              <a:t>French staging v6 | 2026-10-23 | Five retained result rows</a:t>
            </a:r>
            <a:endParaRPr lang="en-US" sz="1600" dirty="0"/>
          </a:p>
        </p:txBody>
      </p:sp>
      <p:sp>
        <p:nvSpPr>
          <p:cNvPr id="7" name="Text 4"/>
          <p:cNvSpPr/>
          <p:nvPr/>
        </p:nvSpPr>
        <p:spPr>
          <a:xfrm>
            <a:off x="548640" y="5623560"/>
            <a:ext cx="11064240" cy="457200"/>
          </a:xfrm>
          <a:prstGeom prst="rect">
            <a:avLst/>
          </a:prstGeom>
          <a:noFill/>
          <a:ln/>
        </p:spPr>
        <p:txBody>
          <a:bodyPr wrap="square" lIns="0" tIns="0" rIns="0" bIns="0" rtlCol="0" anchor="ctr"/>
          <a:lstStyle/>
          <a:p>
            <a:pPr indent="0" marL="0">
              <a:buNone/>
            </a:pPr>
            <a:r>
              <a:rPr lang="en-US" sz="2000" b="1" dirty="0">
                <a:solidFill>
                  <a:srgbClr val="183449"/>
                </a:solidFill>
                <a:latin typeface="Segoe UI" pitchFamily="34" charset="0"/>
                <a:ea typeface="Segoe UI" pitchFamily="34" charset="-122"/>
                <a:cs typeface="Segoe UI" pitchFamily="34" charset="-120"/>
              </a:rPr>
              <a:t>Pass: 4 can coexist with a 100% / 5/5 pass-rate summary.</a:t>
            </a:r>
            <a:endParaRPr lang="en-US" sz="2000" dirty="0"/>
          </a:p>
        </p:txBody>
      </p:sp>
      <p:sp>
        <p:nvSpPr>
          <p:cNvPr id="8" name="Text 5">
            <a:hlinkClick r:id="rId3"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9" name="Text 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14 / 37</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Do not mix API generations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Projects SDK + native Evals is this repository’s cloud path.</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azure-ai-evaluation has a separate local evaluate() API.</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Built-ins, code graders and prompt rubrics have different schemas.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Preview, region and evaluator-version limits still apply.</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15 / 37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The built-in evaluator contract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type: azure_ai_evaluator; evaluator_name: builtin.groundedness.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Map trusted context and selected-locale response explicitly.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The pinned runner uses initialization_parameters.deployment_name.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receives task messages and normalized output items.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16 / 37</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Three metrics, three different questions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is this acknowledgement logically understandable?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 is it supported by independent provided facts?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does it follow the bounded applicant task?</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None of these proves calculator, tool, persistence or RBAC behavior.</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17 / 37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Groundedness: inspect the input contract</a:t>
            </a:r>
            <a:endParaRPr lang="en-US" sz="2700" dirty="0"/>
          </a:p>
        </p:txBody>
      </p:sp>
      <p:pic>
        <p:nvPicPr>
          <p:cNvPr id="5" name="Image 0" descr="Groundedness catalog: input alternatives and ordinal 1-5 score.">
            <a:hlinkClick r:id="rId2" tooltip=""/>
          </p:cNvPr>
          <p:cNvPicPr>
            <a:picLocks noChangeAspect="1"/>
          </p:cNvPicPr>
          <p:nvPr/>
        </p:nvPicPr>
        <p:blipFill>
          <a:blip r:embed="rId1"/>
          <a:srcRect l="18206" r="202" t="53937" b="9924"/>
          <a:stretch/>
        </p:blipFill>
        <p:spPr>
          <a:xfrm>
            <a:off x="548640" y="1874520"/>
            <a:ext cx="11064240" cy="3063240"/>
          </a:xfrm>
          <a:prstGeom prst="rect">
            <a:avLst/>
          </a:prstGeom>
        </p:spPr>
      </p:pic>
      <p:sp>
        <p:nvSpPr>
          <p:cNvPr id="6" name="Text 3"/>
          <p:cNvSpPr/>
          <p:nvPr/>
        </p:nvSpPr>
        <p:spPr>
          <a:xfrm>
            <a:off x="548640" y="5166360"/>
            <a:ext cx="11064240" cy="411480"/>
          </a:xfrm>
          <a:prstGeom prst="rect">
            <a:avLst/>
          </a:prstGeom>
          <a:noFill/>
          <a:ln/>
        </p:spPr>
        <p:txBody>
          <a:bodyPr wrap="square" lIns="0" tIns="0" rIns="0" bIns="0" rtlCol="0" anchor="ctr"/>
          <a:lstStyle/>
          <a:p>
            <a:pPr indent="0" marL="0">
              <a:buNone/>
            </a:pPr>
            <a:r>
              <a:rPr lang="en-US" sz="1600" dirty="0">
                <a:solidFill>
                  <a:srgbClr val="526777"/>
                </a:solidFill>
                <a:latin typeface="Segoe UI" pitchFamily="34" charset="0"/>
                <a:ea typeface="Segoe UI" pitchFamily="34" charset="-122"/>
                <a:cs typeface="Segoe UI" pitchFamily="34" charset="-120"/>
              </a:rPr>
              <a:t>Staging catalog v18 | 2026-10-23 | Definition, not run results</a:t>
            </a:r>
            <a:endParaRPr lang="en-US" sz="1600" dirty="0"/>
          </a:p>
        </p:txBody>
      </p:sp>
      <p:sp>
        <p:nvSpPr>
          <p:cNvPr id="7" name="Text 4"/>
          <p:cNvSpPr/>
          <p:nvPr/>
        </p:nvSpPr>
        <p:spPr>
          <a:xfrm>
            <a:off x="548640" y="5623560"/>
            <a:ext cx="11064240" cy="457200"/>
          </a:xfrm>
          <a:prstGeom prst="rect">
            <a:avLst/>
          </a:prstGeom>
          <a:noFill/>
          <a:ln/>
        </p:spPr>
        <p:txBody>
          <a:bodyPr wrap="square" lIns="0" tIns="0" rIns="0" bIns="0" rtlCol="0" anchor="ctr"/>
          <a:lstStyle/>
          <a:p>
            <a:pPr indent="0" marL="0">
              <a:buNone/>
            </a:pPr>
            <a:r>
              <a:rPr lang="en-US" sz="2000" b="1" dirty="0">
                <a:solidFill>
                  <a:srgbClr val="183449"/>
                </a:solidFill>
                <a:latin typeface="Segoe UI" pitchFamily="34" charset="0"/>
                <a:ea typeface="Segoe UI" pitchFamily="34" charset="-122"/>
                <a:cs typeface="Segoe UI" pitchFamily="34" charset="-120"/>
              </a:rPr>
              <a:t>Use independent trusted context, never the candidate answer.</a:t>
            </a:r>
            <a:endParaRPr lang="en-US" sz="2000" dirty="0"/>
          </a:p>
        </p:txBody>
      </p:sp>
      <p:sp>
        <p:nvSpPr>
          <p:cNvPr id="8" name="Text 5">
            <a:hlinkClick r:id="rId3"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9" name="Text 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18 / 37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Bilingual evaluation is not one averaged score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Convert one source into independent EN and FR runs.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the selected locale’s text as a string, not a bilingual map.</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 locale-specific failures and disclaimer requirements.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 global average can hide a French-only regression.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19 / 37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Provenance: a version label is not a pin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--version records the observed current deployment only.</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Reserve a stable window and verify version before and after.</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Freeze source, dataset, rubric, evaluator and judge-model versions.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raw captures, response IDs, native run IDs and hashes.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20 / 37</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Completeness and quality are separate gates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Completeness</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Terminal completed state</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Expected unique items and metrics</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No service errors or skipped rows</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Quality</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Calibrated per-metric thresholds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Slice-specific false accepts/rejects</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Human review and uncertainty</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21 / 37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Understand the existing release policy</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Deterministic failures and incomplete native evidence block.</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Complete native quality scores are currently workflow-advisory.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--minimum-pass-rate 1.0 means 100% of items, not score 1/5.</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Protected approval and real workload readiness still apply.</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22 / 37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Real case: service failure is not model failure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Release 39527950931 attempt 1: SystemError, no scored items.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The completeness gate blocked production.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Approved retry: only failed job, same source 2c3f13b.</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Attempt 2: complete EN/FR 5/5, then protected promotion.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23 / 37</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Challenge the judge with a polished false answer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Control: “Approved; CAD 900 is your final quote and was sent.”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Hard violations: approval, premium disclosure and false delivery.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Groundedness/task adherence should reject the false claims.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may pass: fluent does not mean factual.</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24 / 37</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Known false positives must remain visible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Recorded native RAG controls included a factually bad answer.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Both groundedness and groundedness_pro accepted that answer.</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The negative-control experiment therefore failed.</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explicit policy checks and expert review alongside judges.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25 / 37</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Measure calibration, not only mean score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Human-label valid, false, incomplete and wrong-locale controls.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Count judge false accepts and false rejects by metric/slice.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 disagreements; blind candidate labels when feasible.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Retain rubric version, thresholds, model identity and failures.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26 / 37</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Two different repeated-trial experiments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Generation variance</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Same frozen cases and initial state</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Capture fresh answers each trial</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Then judge and retain every answer</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Judge variance</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Same immutable captured answers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Call evaluate(), not capture()</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Record reused response provenance</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27 / 37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5/5 does not establish perfection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Illustrative 95% Wilson interval for 5/5: about 0.57 to 1.00.</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That interval assumes independent Bernoulli observations.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Repeated grades of one case are correlated, not new customers.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Report case-level uncertainty and rare-harm limitations.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28 / 37</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Compare candidates fairly</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Pair by stable case ID, locale, trial and controlled initial state.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Freeze independent facts, rubric, evaluator and judge-model version.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 pass-to-fail transitions, effect size and uncertainty.</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Changed dataset or evaluator means rebaseline, not improvement.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29 / 37</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Spend where it buys useful evidence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Run local contracts and the golden gate before paid judges.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Pilot: 5 cases × 2 locales × 1 trial × 3 metrics = 30 judgments.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More trials, long contexts and evaluator retries increase cost.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Reuse captures for judge experiments; bound concurrency and budget.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30 / 37</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Stateful regression: the revision workflow</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Return pending case to DRAFT rev 2</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Confirm active / DRAFT queue visibility</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Correct + prepare through native agent</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Match audit; reject self-approval</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31 / 37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Trajectory evaluation needs real trajectory evidence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Outcome quality and process correctness are different questions.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Tool selection/arguments require compatible actual tool traces.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Real quote stages: INTAKE, REFERENCE_LOOKUP, COMPOSITION.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Requested trace ID or final text alone does not prove ingestion.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32 / 37</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Operate two scorecards, not one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Service: availability, latency, 401/403, quota, timeouts, cost.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Quality: grounding, adherence, locale slices and human overrides.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Safety: deterministic policy violations and role boundaries.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Review drift and turn verified incidents into new test cases.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33 / 37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Your release recommendation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Name the exact source, dataset, state, model and evaluator identities.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Report hard checks, completeness, quality, controls and uncertainty.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List unmeasured dimensions, cost, faults and remaining risks.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Approve, block or request evidence with an accountable owner.</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34 / 37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Discussion: which candidate can ship?</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 100% judge scores, but self-approval succeeds.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 all hard tests pass, native run has zero scored items.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 complete calibrated results, one known high-risk false accept.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 complete evidence, stable slices, reviewed risks and approval.</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35 / 37</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Debrief: what non-regression really means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State the measured contract and conditions, not “cannot regress.”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exact tests and semantic judgments complementary.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Preserve failed controls and operational failure attempts.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Improve coverage, calibration and monitoring as the system evolves.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36 / 37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Take the lab, guide and evidence with you</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Lab 19: ten progressive hands-on exercises with runnable commands.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Guide: portal steps, SDK mappings, policies and troubleshooting.</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Deck: editable EN/FR PowerPoint with instructor notes.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Sources: official Microsoft Learn links in these notes.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37 / 37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Engineering</dc:title>
  <dc:subject>Deterministic contracts, native Foundry evaluation and quote-agent regression prevention</dc:subject>
  <dc:creator>Foundry Hosted Agents FSI workshop</dc:creator>
  <cp:lastModifiedBy>Foundry Hosted Agents FSI workshop</cp:lastModifiedBy>
  <cp:revision>1</cp:revision>
  <dcterms:created xsi:type="dcterms:W3CDTF">2026-10-23T18:45:11Z</dcterms:created>
  <dcterms:modified xsi:type="dcterms:W3CDTF">2026-10-23T18:45:11Z</dcterms:modified>
</cp:coreProperties>
</file>