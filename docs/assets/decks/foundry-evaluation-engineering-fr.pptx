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Prévoir 3 à 4 heures avec l'Atelier 19. Données et montants synthétiques, non contraignants. Rédaction assistée par IA, sans assistant de code requis pour les apprenants. Le graphe conservé est déterministe : contrats métier directs, juges modèles pour la qualité observable adaptée.
Guide: https://devopsabcs-engineering.github.io/foundry-hosted-agents-fsi/fr/evaluation-guide.html
Lab 19: https://devopsabcs-engineering.github.io/foundry-hosted-agents-fsi/fr/labs/lab-19-evaluation-engineering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Demander ce que prouve 100 %. Réponse : les critères mesurés sur cet échantillon versionné seulement. Utiliser le guide et les exercices 19.1 à 19.10. Accès et budget approuvés requis pour le réel.
Guide: https://devopsabcs-engineering.github.io/foundry-hosted-agents-fsi/fr/evaluation-guide.html
Lab 19: https://devopsabcs-engineering.github.io/foundry-hosted-agents-fsi/fr/labs/lab-19-evaluation-engineering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graphe LangGraph ne tarifie pas avec un LLM. Les messages EN/FR sont bornés. Ici, le LLM est le juge. Compétences, mémoire et File Search sont isolés. Calcul et persistance restent dans COMPOSITION.
Guide: https://devopsabcs-engineering.github.io/foundry-hosted-agents-fsi/fr/evaluation-guide.html
Lab 19: https://devopsabcs-engineering.github.io/foundry-hosted-agents-fsi/fr/labs/lab-19-evaluation-engineering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unitaire décrit une portée, pas le déterminisme. Une évaluation d'agent peut utiliser du code déterministe. Température zéro et graine ne garantissent pas une identité après changement du service. Réseau, RBAC et état peuvent aussi varier.
Guide: https://devopsabcs-engineering.github.io/foundry-hosted-agents-fsi/fr/evaluation-guide.html
Lab 19: https://devopsabcs-engineering.github.io/foundry-hosted-agents-fsi/fr/labs/lab-19-evaluation-engineering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note modèle n'est pas un oracle de calcul ou d'autorisation. Vérifier champs et transitions par calculateur, CaseStore et API. Un schéma valide ne prouve pas la justesse. Ces invariants restent stricts même avec des composants génératifs futurs.
Guide: https://devopsabcs-engineering.github.io/foundry-hosted-agents-fsi/fr/evaluation-guide.html
Lab 19: https://devopsabcs-engineering.github.io/foundry-hosted-agents-fsi/fr/labs/lab-19-evaluation-engineering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Commencer peu coûteux et déterministe. Ajouter le coût seulement quand l'oracle le nécessite. Les couches se complètent; elles ne remplacent pas les précédentes. Affecter chaque assertion de la fiche à une couche.
Guide: https://devopsabcs-engineering.github.io/foundry-hosted-agents-fsi/fr/evaluation-guide.html
Lab 19: https://devopsabcs-engineering.github.io/foundry-hosted-agents-fsi/fr/labs/lab-19-evaluation-engineering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 source des messages au demandeur. L'injection ne donne aucun droit d'approuver. Ajouter langues, rôles et états. Réserver CASE004 à l'acceptation isolée; ne pas écraser un dossier révisé avec les attentes de la fixture originale.
Guide: https://devopsabcs-engineering.github.io/foundry-hosted-agents-fsi/fr/evaluation-guide.html
Lab 19: https://devopsabcs-engineering.github.io/foundry-hosted-agents-fsi/fr/labs/lab-19-evaluation-engineering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repérer le jugement circulaire. Un prix inventé copié dans le contexte peut être récompensé par groundedness. Les faits de fixture, règles et politique doivent être indépendants, versionnés et traçables.
Guide: https://devopsabcs-engineering.github.io/foundry-hosted-agents-fsi/fr/evaluation-guide.html
Lab 19: https://devopsabcs-engineering.github.io/foundry-hosted-agents-fsi/fr/labs/lab-19-evaluation-engineering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réserve inspectée continuellement n'est plus inédite. Éviter de régler les seuils sur le jeu de livraison. Garder couverture, étiquettes et versions. Un jeu modifié exige une nouvelle référence.
Guide: https://devopsabcs-engineering.github.io/foundry-hosted-agents-fsi/fr/evaluation-guide.html
Lab 19: https://devopsabcs-engineering.github.io/foundry-hosted-agents-fsi/fr/labs/lab-19-evaluation-engineering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Utiliser les commandes PowerShell exactes de l'Atelier 19.2. Les exclusions Cosmos sont des limites explicites. Un succès simulé ne prouve pas le déploiement. Ne pas valider les changements incidents du rapport généré.
Guide: https://devopsabcs-engineering.github.io/foundry-hosted-agents-fsi/fr/evaluation-guide.html
Lab 19: https://devopsabcs-engineering.github.io/foundry-hosted-agents-fsi/fr/labs/lab-19-evaluation-engineering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dépôt utilise AIProjectClient.get_openai_client et evals.create / evals.runs.create. Rejeter les corps d'erreur HTTP200 et langues absentes avant le juge. Garder captures et échecs dans des répertoires nouveaux.
Guide: https://devopsabcs-engineering.github.io/foundry-hosted-agents-fsi/fr/evaluation-guide.html
Lab 19: https://devopsabcs-engineering.github.io/foundry-hosted-agents-fsi/fr/labs/lab-19-evaluation-engineering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Suivre les parcours distincts de lecture seule et de pratique. Un onglet agent Evaluation vide ne signifie pas que le projet n'a aucun essai natif. Examiner staging v6 sans appel juge. Les jeux de pratique sont des contrôles synthétiques rédigés, pas des réponses agent capturées. Utiliser le SDK vérifié si nécessaire.
Guide: https://devopsabcs-engineering.github.io/foundry-hosted-agents-fsi/fr/evaluation-guide.html
Lab 19: https://devopsabcs-engineering.github.io/foundry-hosted-agents-fsi/fr/labs/lab-19-evaluation-engineering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livraison utilise projects2.6.0, openai3.6.0, identity1.25.3. Ne pas déclarer l'autre SDK obsolète sans preuve officielle. Vérifier versions installées et documentation avant adaptation. Aucun changement de dépendance de production.
Guide: https://devopsabcs-engineering.github.io/foundry-hosted-agents-fsi/fr/evaluation-guide.html
Lab 19: https://devopsabcs-engineering.github.io/foundry-hosted-agents-fsi/fr/labs/lab-19-evaluation-engineering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Consulter les extraits exacts du guide. azure_ai_groundedness est un type inventé. Des exemples récents utilisent model ou des types enveloppes : ne pas les mélanger sans vérification. Un grand jeu exige une référence fichier compatible réelle.
Guide: https://devopsabcs-engineering.github.io/foundry-hosted-agents-fsi/fr/evaluation-guide.html
Lab 19: https://devopsabcs-engineering.github.io/foundry-hosted-agents-fsi/fr/labs/lab-19-evaluation-engineering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affirmation fausse mais cohérente peut réussir coherence. Exiger séparément absence de prix et d'approbation. Inspecter note, seuil et justification propres à la métrique, sans supposer une échelle universelle.
Guide: https://devopsabcs-engineering.github.io/foundry-hosted-agents-fsi/fr/evaluation-guide.html
Lab 19: https://devopsabcs-engineering.github.io/foundry-hosted-agents-fsi/fr/labs/lab-19-evaluation-engineering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Vraie capture du catalogue Microsoft Foundry builtin.groundedness v18, prise en staging le 2026-10-23. Recadrée pour agrandir description, formes d'entrée et note ordinale de 1 à 5. L'image et le guide donnent accès à la capture complète. Le catalogue propose response/context, query/response ou messages. L'atelier mappe evaluation_query, context indépendant et response dans la langue choisie. Coherence v13 affiche aussi 1 à 5; Task Adherence en préversion v17 est booléen. Les versions du catalogue ne prouvent pas les versions effectives de l'essai v6 conservé. Aucune évaluation soumise ni aucun appel juge pour cette capture.
Guide: https://devopsabcs-engineering.github.io/foundry-hosted-agents-fsi/fr/evaluation-guide.html
Lab 19: https://devopsabcs-engineering.github.io/foundry-hosted-agents-fsi/fr/labs/lab-19-evaluation-engineering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capture aplatit la carte bilingue pour task adherence. Langue absente signifie erreur, pas remplacement silencieux. Comparer même segment et vérité indépendante dans chaque langue. Une différence de format n'est pas automatiquement sémantique.
Guide: https://devopsabcs-engineering.github.io/foundry-hosted-agents-fsi/fr/evaluation-guide.html
Lab 19: https://devopsabcs-engineering.github.io/foundry-hosted-agents-fsi/fr/labs/lab-19-evaluation-engineering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L'endpoint invoque le déploiement courant. Un nom de déploiement peut changer de modèle. Le fichier identité ne capture pas automatiquement toutes les versions effectives : exporter la configuration et déclarer les limites. traceparent demandé ne prouve pas l'ingestion.
Guide: https://devopsabcs-engineering.github.io/foundry-hosted-agents-fsi/fr/evaluation-guide.html
Lab 19: https://devopsabcs-engineering.github.io/foundry-hosted-agents-fsi/fr/labs/lab-19-evaluation-engineering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validate_completion rejette absences, doublons, erreurs et notes invalides. validate_results ajoute la politique de taux. Zéro ligne n'est pas un succès. Une panne n'est pas une note numérique à supprimer du rapport.
Guide: https://devopsabcs-engineering.github.io/foundry-hosted-agents-fsi/fr/evaluation-guide.html
Lab 19: https://devopsabcs-engineering.github.io/foundry-hosted-agents-fsi/fr/labs/lab-19-evaluation-engineering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 peut échouer sur la qualité tout en conservant des notes consultatives. Un contrôle distinct exige la complétude EN/FR. continue-on-error n'autorise pas une preuve manquante. Durcir la politique serait un changement séparé approuvé.
Guide: https://devopsabcs-engineering.github.io/foundry-hosted-agents-fsi/fr/evaluation-guide.html
Lab 19: https://devopsabcs-engineering.github.io/foundry-hosted-agents-fsi/fr/labs/lab-19-evaluation-engineering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Conserver les deux essais et corrélations. Il s'agit d'une relance opérationnelle, pas d'échantillonner jusqu'au vert. Livraison finale stagingv6/productionv7. L'ancien 0/10 utilise un autre contrat et n'est pas une référence comparable.
Guide: https://devopsabcs-engineering.github.io/foundry-hosted-agents-fsi/fr/evaluation-guide.html
Lab 19: https://devopsabcs-engineering.github.io/foundry-hosted-agents-fsi/fr/labs/lab-19-evaluation-engineering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Étiqueter l'attendu par métrique. Une réponse modifiée est un contrôle synthétique; son ancien ID natif ne prouve plus ce texte. Ne pas présenter une réécriture comme capture authentique.
Guide: https://devopsabcs-engineering.github.io/foundry-hosted-agents-fsi/fr/evaluation-guide.html
Lab 19: https://devopsabcs-engineering.github.io/foundry-hosted-agents-fsi/fr/labs/lab-19-evaluation-engineering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L'Atelier 18.2 exige les vrais artefacts. Sinon la reproduction est bloquée, sans référence inventée. Corriger corpus/instructions ne transforme pas le contrôle historique en réussite. Il s'agit du RAG isolé, pas du graphe de soumission.
Guide: https://devopsabcs-engineering.github.io/foundry-hosted-agents-fsi/fr/evaluation-guide.html
Lab 19: https://devopsabcs-engineering.github.io/foundry-hosted-agents-fsi/fr/labs/lab-19-evaluation-engineering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Quel défaut coûte le plus? Une fausse acceptation d'approbation importe plus qu'une formulation bénigne. Calibrer selon le risque, pas après avoir vu le candidat. L'injection dans une réponse ne doit pas redéfinir la grille.
Guide: https://devopsabcs-engineering.github.io/foundry-hosted-agents-fsi/fr/evaluation-guide.html
Lab 19: https://devopsabcs-engineering.github.io/foundry-hosted-agents-fsi/fr/labs/lab-19-evaluation-engineering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 complet recapture l'agent et n'isole donc pas le juge. L'Atelier 19.8 fournit le code de réutilisation et d'inspection. Répertoires nouveaux et nombre d'essais prédéfini; pas d'écrasement ni d'arrêt au premier succès.
Guide: https://devopsabcs-engineering.github.io/foundry-hosted-agents-fsi/fr/evaluation-guide.html
Lab 19: https://devopsabcs-engineering.github.io/foundry-hosted-agents-fsi/fr/labs/lab-19-evaluation-engineering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Calculer Wilson dans l'Atelier 19.8. Ne pas traiter trente notes corrélées comme trente cas indépendants. Analyse appariée ou bootstrap par grappes conserve cette dépendance. Un invariant strict ne se négocie pas contre un intervalle.
Guide: https://devopsabcs-engineering.github.io/foundry-hosted-agents-fsi/fr/evaluation-guide.html
Lab 19: https://devopsabcs-engineering.github.io/foundry-hosted-agents-fsi/fr/labs/lab-19-evaluation-engineering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Masquer/randomiser l'ordre si possible pour réduire le biais. Présenter raisons et défauts revus par cas, pas seulement delta moyen. Les répétitions ne réparent ni vérité invalide ni couverture absente.
Guide: https://devopsabcs-engineering.github.io/foundry-hosted-agents-fsi/fr/evaluation-guide.html
Lab 19: https://devopsabcs-engineering.github.io/foundry-hosted-agents-fsi/fr/labs/lab-19-evaluation-engineering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Trente jugements est une estimation nominale, pas un prix fixe. Le graphe ne tarifie pas par LLM, mais ses juges coûtent. Figer clés de cache et indiquer les captures réutilisées, sans nouvelle inférence.
Guide: https://devopsabcs-engineering.github.io/foundry-hosted-agents-fsi/fr/evaluation-guide.html
Lab 19: https://devopsabcs-engineering.github.io/foundry-hosted-agents-fsi/fr/labs/lab-19-evaluation-engineering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CASE004 production a été vérifié : ancien110000 non actuel, correction TRAINING_BASIC puis200/PENDING_REVIEW/READY/90000, IDs concordants, auto-approbation403. Ne pas rejouer aveuglément sur révision2 ni vider les fixtures partagées.
Guide: https://devopsabcs-engineering.github.io/foundry-hosted-agents-fsi/fr/evaluation-guide.html
Lab 19: https://devopsabcs-engineering.github.io/foundry-hosted-agents-fsi/fr/labs/lab-19-evaluation-engineering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L'Atelier 18 exporte des spans réellement ingérés et reconstruit un cas synthétique, pas un prompt privé original. Ne pas inventer de spans modèle. Sans format de trajectoire requis, cette dimension reste non mesurée.
Guide: https://devopsabcs-engineering.github.io/foundry-hosted-agents-fsi/fr/evaluation-guide.html
Lab 19: https://devopsabcs-engineering.github.io/foundry-hosted-agents-fsi/fr/labs/lab-19-evaluation-engineering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SystemError concerne la fiabilité, pas une note numérique de qualité modèle. Ne pas élargir l'accès pour diagnostiquer. Un échantillonnage réel exige confidentialité/conservation approuvées. L'atelier reste synthétique.
Guide: https://devopsabcs-engineering.github.io/foundry-hosted-agents-fsi/fr/evaluation-guide.html
Lab 19: https://devopsabcs-engineering.github.io/foundry-hosted-agents-fsi/fr/labs/lab-19-evaluation-engineering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Utiliser la fiche 19.10. La note ne suffit pas; trajectoire absente et contrôles échoués restent visibles. L'atelier n'autorise ni livraison, ni changement de contrôle, ni accès. Séparer exploitation et qualité.
Guide: https://devopsabcs-engineering.github.io/foundry-hosted-agents-fsi/fr/evaluation-guide.html
Lab 19: https://devopsabcs-engineering.github.io/foundry-hosted-agents-fsi/fr/labs/lab-19-evaluation-engineering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A bloque sur l'autorisation. B sur la complétude. C nécessite correction ou décision explicite selon politique; la moyenne ne cache pas ce risque. D est admissible à la décision protégée, pas approuvé automatiquement par le juge.
Guide: https://devopsabcs-engineering.github.io/foundry-hosted-agents-fsi/fr/evaluation-guide.html
Lab 19: https://devopsabcs-engineering.github.io/foundry-hosted-agents-fsi/fr/labs/lab-19-evaluation-engineering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participant nomme un bug mieux détecté par test unitaire, un défaut sémantique manqué par texte exact, un faux positif du juge et une cause non LLM de variation. Séparer portée, incertitude et responsabilité.
Guide: https://devopsabcs-engineering.github.io/foundry-hosted-agents-fsi/fr/evaluation-guide.html
Lab 19: https://devopsabcs-engineering.github.io/foundry-hosted-agents-fsi/fr/labs/lab-19-evaluation-engineering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guide et l'atelier sont maintenus dans le dépôt et reliés au programme. Régénérer avec npm run build-evaluation-deck. Références officielles :
https://learn.microsoft.com/azure/foundry/how-to/evaluate-generative-ai-app
https://learn.microsoft.com/azure/foundry/observability/how-to/cloud-evaluation
https://learn.microsoft.com/azure/foundry/observability/how-to/cloud-evaluation-datasets
https://learn.microsoft.com/azure/foundry/concepts/built-in-evaluators
https://learn.microsoft.com/azure/foundry/concepts/evaluation-evaluators/agent-evaluators
https://learn.microsoft.com/azure/foundry/concepts/evaluation-evaluators/custom-evaluators
Preuves : https://github.com/devopsabcs-engineering/foundry-hosted-agents-fsi/wiki/Native-Foundry-Evidence-FR
Guide: https://devopsabcs-engineering.github.io/foundry-hosted-agents-fsi/fr/evaluation-guide.html
Lab 19: https://devopsabcs-engineering.github.io/foundry-hosted-agents-fsi/fr/labs/lab-19-evaluation-engineering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evopsabcs-engineering.github.io/foundry-hosted-agents-fsi/assets/evidence/foundry-evaluator-groundedness-v18-2026-10-23.png" TargetMode="External"/><Relationship Id="rId3" Type="http://schemas.openxmlformats.org/officeDocument/2006/relationships/hyperlink" Target="https://devopsabcs-engineering.github.io/foundry-hosted-agents-fsi/fr/evaluation-guide.html" TargetMode="External"/><Relationship Id="rId1" Type="http://schemas.openxmlformats.org/officeDocument/2006/relationships/image" Target="../media/image-16-1.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B3D"/>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91CEFF"/>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1371600"/>
            <a:ext cx="11064240" cy="1097280"/>
          </a:xfrm>
          <a:prstGeom prst="rect">
            <a:avLst/>
          </a:prstGeom>
          <a:noFill/>
          <a:ln/>
        </p:spPr>
        <p:txBody>
          <a:bodyPr wrap="square" lIns="0" tIns="0" rIns="0" bIns="0" rtlCol="0" anchor="ctr"/>
          <a:lstStyle/>
          <a:p>
            <a:pPr indent="0" marL="0">
              <a:buNone/>
            </a:pPr>
            <a:r>
              <a:rPr lang="en-US" sz="3600" b="1" dirty="0">
                <a:solidFill>
                  <a:srgbClr val="FFFFFF"/>
                </a:solidFill>
                <a:latin typeface="Segoe UI" pitchFamily="34" charset="0"/>
                <a:ea typeface="Segoe UI" pitchFamily="34" charset="-122"/>
                <a:cs typeface="Segoe UI" pitchFamily="34" charset="-120"/>
              </a:rPr>
              <a:t>Ingénierie de l'évaluation</a:t>
            </a:r>
            <a:endParaRPr lang="en-US" sz="3600" dirty="0"/>
          </a:p>
        </p:txBody>
      </p:sp>
      <p:sp>
        <p:nvSpPr>
          <p:cNvPr id="5" name="Text 3"/>
          <p:cNvSpPr/>
          <p:nvPr/>
        </p:nvSpPr>
        <p:spPr>
          <a:xfrm>
            <a:off x="594360" y="2926080"/>
            <a:ext cx="10881360" cy="548640"/>
          </a:xfrm>
          <a:prstGeom prst="rect">
            <a:avLst/>
          </a:prstGeom>
          <a:noFill/>
          <a:ln/>
        </p:spPr>
        <p:txBody>
          <a:bodyPr wrap="square" lIns="0" tIns="0" rIns="0" bIns="0" rtlCol="0" anchor="ctr"/>
          <a:lstStyle/>
          <a:p>
            <a:pPr indent="0" marL="0">
              <a:buNone/>
            </a:pPr>
            <a:r>
              <a:rPr lang="en-US" sz="2200" dirty="0">
                <a:solidFill>
                  <a:srgbClr val="DDEEFF"/>
                </a:solidFill>
                <a:latin typeface="Segoe UI" pitchFamily="34" charset="0"/>
                <a:ea typeface="Segoe UI" pitchFamily="34" charset="-122"/>
                <a:cs typeface="Segoe UI" pitchFamily="34" charset="-120"/>
              </a:rPr>
              <a:t>Des contrats exacts aux juges Foundry calibrés</a:t>
            </a:r>
            <a:endParaRPr lang="en-US" sz="2200" dirty="0"/>
          </a:p>
        </p:txBody>
      </p:sp>
      <p:sp>
        <p:nvSpPr>
          <p:cNvPr id="6" name="Text 4"/>
          <p:cNvSpPr/>
          <p:nvPr/>
        </p:nvSpPr>
        <p:spPr>
          <a:xfrm>
            <a:off x="594360" y="3611880"/>
            <a:ext cx="10881360" cy="548640"/>
          </a:xfrm>
          <a:prstGeom prst="rect">
            <a:avLst/>
          </a:prstGeom>
          <a:noFill/>
          <a:ln/>
        </p:spPr>
        <p:txBody>
          <a:bodyPr wrap="square" lIns="0" tIns="0" rIns="0" bIns="0" rtlCol="0" anchor="ctr"/>
          <a:lstStyle/>
          <a:p>
            <a:pPr indent="0" marL="0">
              <a:buNone/>
            </a:pPr>
            <a:r>
              <a:rPr lang="en-US" sz="2200" dirty="0">
                <a:solidFill>
                  <a:srgbClr val="DDEEFF"/>
                </a:solidFill>
                <a:latin typeface="Segoe UI" pitchFamily="34" charset="0"/>
                <a:ea typeface="Segoe UI" pitchFamily="34" charset="-122"/>
                <a:cs typeface="Segoe UI" pitchFamily="34" charset="-120"/>
              </a:rPr>
              <a:t>Agent de soumission | Atelier approfondi et guide pratique</a:t>
            </a:r>
            <a:endParaRPr lang="en-US" sz="2200" dirty="0"/>
          </a:p>
        </p:txBody>
      </p:sp>
      <p:sp>
        <p:nvSpPr>
          <p:cNvPr id="7" name="Text 5"/>
          <p:cNvSpPr/>
          <p:nvPr/>
        </p:nvSpPr>
        <p:spPr>
          <a:xfrm>
            <a:off x="594360" y="5212080"/>
            <a:ext cx="10972800" cy="640080"/>
          </a:xfrm>
          <a:prstGeom prst="rect">
            <a:avLst/>
          </a:prstGeom>
          <a:noFill/>
          <a:ln/>
        </p:spPr>
        <p:txBody>
          <a:bodyPr wrap="square" lIns="0" tIns="0" rIns="0" bIns="0" rtlCol="0" anchor="ctr"/>
          <a:lstStyle/>
          <a:p>
            <a:pPr indent="0" marL="0">
              <a:buNone/>
            </a:pPr>
            <a:r>
              <a:rPr lang="en-US" sz="1400" dirty="0">
                <a:solidFill>
                  <a:srgbClr val="91CEFF"/>
                </a:solidFill>
                <a:latin typeface="Segoe UI" pitchFamily="34" charset="0"/>
                <a:ea typeface="Segoe UI" pitchFamily="34" charset="-122"/>
                <a:cs typeface="Segoe UI" pitchFamily="34" charset="-120"/>
              </a:rPr>
              <a:t>CONTRATS EXACTS  /  JUGES CALIBRÉS  /  DÉCISIONS JUSTIFIÉES</a:t>
            </a:r>
            <a:endParaRPr lang="en-US" sz="1400" dirty="0"/>
          </a:p>
        </p:txBody>
      </p:sp>
      <p:sp>
        <p:nvSpPr>
          <p:cNvPr id="8" name="Text 6">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DDEEFF"/>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9" name="Text 7"/>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DDEEFF"/>
                </a:solidFill>
                <a:latin typeface="Segoe UI" pitchFamily="34" charset="0"/>
                <a:ea typeface="Segoe UI" pitchFamily="34" charset="-122"/>
                <a:cs typeface="Segoe UI" pitchFamily="34" charset="-120"/>
              </a:rPr>
              <a:t>1 / 35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Ce que vous pourrez justifier</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Choisir l'oracle avant l'évaluateur.</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Créer une petite expérience native avec vérité indépendante.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Mettre le juge à l’épreuve, répéter et quantifier l’incertitude.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Recommander une livraison par les preuves, pas une capture verte.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 / 35</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Ce que fait réellement l’agent</a:t>
            </a:r>
            <a:endParaRPr lang="en-US" sz="2700" dirty="0"/>
          </a:p>
        </p:txBody>
      </p:sp>
      <p:sp>
        <p:nvSpPr>
          <p:cNvPr id="5" name="Shape 3"/>
          <p:cNvSpPr/>
          <p:nvPr/>
        </p:nvSpPr>
        <p:spPr>
          <a:xfrm>
            <a:off x="548640" y="1920240"/>
            <a:ext cx="5394960" cy="1417320"/>
          </a:xfrm>
          <a:prstGeom prst="rect">
            <a:avLst/>
          </a:prstGeom>
          <a:solidFill>
            <a:srgbClr val="EDF4FA"/>
          </a:solidFill>
          <a:ln w="12700">
            <a:solidFill>
              <a:srgbClr val="DCE5ED"/>
            </a:solidFill>
            <a:prstDash val="solid"/>
          </a:ln>
        </p:spPr>
      </p:sp>
      <p:sp>
        <p:nvSpPr>
          <p:cNvPr id="6" name="Text 4"/>
          <p:cNvSpPr/>
          <p:nvPr/>
        </p:nvSpPr>
        <p:spPr>
          <a:xfrm>
            <a:off x="77724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01</a:t>
            </a:r>
            <a:endParaRPr lang="en-US" sz="2500" dirty="0"/>
          </a:p>
        </p:txBody>
      </p:sp>
      <p:sp>
        <p:nvSpPr>
          <p:cNvPr id="7" name="Text 5"/>
          <p:cNvSpPr/>
          <p:nvPr/>
        </p:nvSpPr>
        <p:spPr>
          <a:xfrm>
            <a:off x="150876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INTAKE : valider le dossier</a:t>
            </a:r>
            <a:endParaRPr lang="en-US" sz="2100" dirty="0"/>
          </a:p>
        </p:txBody>
      </p:sp>
      <p:sp>
        <p:nvSpPr>
          <p:cNvPr id="8" name="Shape 6"/>
          <p:cNvSpPr/>
          <p:nvPr/>
        </p:nvSpPr>
        <p:spPr>
          <a:xfrm>
            <a:off x="6217920" y="1920240"/>
            <a:ext cx="5394960" cy="1417320"/>
          </a:xfrm>
          <a:prstGeom prst="rect">
            <a:avLst/>
          </a:prstGeom>
          <a:solidFill>
            <a:srgbClr val="EDF4FA"/>
          </a:solidFill>
          <a:ln w="12700">
            <a:solidFill>
              <a:srgbClr val="DCE5ED"/>
            </a:solidFill>
            <a:prstDash val="solid"/>
          </a:ln>
        </p:spPr>
      </p:sp>
      <p:sp>
        <p:nvSpPr>
          <p:cNvPr id="9" name="Text 7"/>
          <p:cNvSpPr/>
          <p:nvPr/>
        </p:nvSpPr>
        <p:spPr>
          <a:xfrm>
            <a:off x="644652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02</a:t>
            </a:r>
            <a:endParaRPr lang="en-US" sz="2500" dirty="0"/>
          </a:p>
        </p:txBody>
      </p:sp>
      <p:sp>
        <p:nvSpPr>
          <p:cNvPr id="10" name="Text 8"/>
          <p:cNvSpPr/>
          <p:nvPr/>
        </p:nvSpPr>
        <p:spPr>
          <a:xfrm>
            <a:off x="717804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REFERENCE_LOOKUP : MCP lecture seule</a:t>
            </a:r>
            <a:endParaRPr lang="en-US" sz="2100" dirty="0"/>
          </a:p>
        </p:txBody>
      </p:sp>
      <p:sp>
        <p:nvSpPr>
          <p:cNvPr id="11" name="Shape 9"/>
          <p:cNvSpPr/>
          <p:nvPr/>
        </p:nvSpPr>
        <p:spPr>
          <a:xfrm>
            <a:off x="548640" y="3749040"/>
            <a:ext cx="5394960" cy="1417320"/>
          </a:xfrm>
          <a:prstGeom prst="rect">
            <a:avLst/>
          </a:prstGeom>
          <a:solidFill>
            <a:srgbClr val="EDF4FA"/>
          </a:solidFill>
          <a:ln w="12700">
            <a:solidFill>
              <a:srgbClr val="DCE5ED"/>
            </a:solidFill>
            <a:prstDash val="solid"/>
          </a:ln>
        </p:spPr>
      </p:sp>
      <p:sp>
        <p:nvSpPr>
          <p:cNvPr id="12" name="Text 10"/>
          <p:cNvSpPr/>
          <p:nvPr/>
        </p:nvSpPr>
        <p:spPr>
          <a:xfrm>
            <a:off x="77724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03</a:t>
            </a:r>
            <a:endParaRPr lang="en-US" sz="2500" dirty="0"/>
          </a:p>
        </p:txBody>
      </p:sp>
      <p:sp>
        <p:nvSpPr>
          <p:cNvPr id="13" name="Text 11"/>
          <p:cNvSpPr/>
          <p:nvPr/>
        </p:nvSpPr>
        <p:spPr>
          <a:xfrm>
            <a:off x="150876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COMPOSITION : calculer et persister</a:t>
            </a:r>
            <a:endParaRPr lang="en-US" sz="2100" dirty="0"/>
          </a:p>
        </p:txBody>
      </p:sp>
      <p:sp>
        <p:nvSpPr>
          <p:cNvPr id="14" name="Shape 12"/>
          <p:cNvSpPr/>
          <p:nvPr/>
        </p:nvSpPr>
        <p:spPr>
          <a:xfrm>
            <a:off x="6217920" y="3749040"/>
            <a:ext cx="5394960" cy="1417320"/>
          </a:xfrm>
          <a:prstGeom prst="rect">
            <a:avLst/>
          </a:prstGeom>
          <a:solidFill>
            <a:srgbClr val="EDF4FA"/>
          </a:solidFill>
          <a:ln w="12700">
            <a:solidFill>
              <a:srgbClr val="DCE5ED"/>
            </a:solidFill>
            <a:prstDash val="solid"/>
          </a:ln>
        </p:spPr>
      </p:sp>
      <p:sp>
        <p:nvSpPr>
          <p:cNvPr id="15" name="Text 13"/>
          <p:cNvSpPr/>
          <p:nvPr/>
        </p:nvSpPr>
        <p:spPr>
          <a:xfrm>
            <a:off x="644652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04</a:t>
            </a:r>
            <a:endParaRPr lang="en-US" sz="2500" dirty="0"/>
          </a:p>
        </p:txBody>
      </p:sp>
      <p:sp>
        <p:nvSpPr>
          <p:cNvPr id="16" name="Text 14"/>
          <p:cNvSpPr/>
          <p:nvPr/>
        </p:nvSpPr>
        <p:spPr>
          <a:xfrm>
            <a:off x="717804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Décision employé : réviseur séparé</a:t>
            </a:r>
            <a:endParaRPr lang="en-US" sz="2100" dirty="0"/>
          </a:p>
        </p:txBody>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 / 35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Déterministe versus stochastique</a:t>
            </a:r>
            <a:endParaRPr lang="en-US" sz="2700" dirty="0"/>
          </a:p>
        </p:txBody>
      </p:sp>
      <p:sp>
        <p:nvSpPr>
          <p:cNvPr id="5" name="Shape 3"/>
          <p:cNvSpPr/>
          <p:nvPr/>
        </p:nvSpPr>
        <p:spPr>
          <a:xfrm>
            <a:off x="548640" y="1874520"/>
            <a:ext cx="5394960" cy="3886200"/>
          </a:xfrm>
          <a:prstGeom prst="rect">
            <a:avLst/>
          </a:prstGeom>
          <a:solidFill>
            <a:srgbClr val="EDF4FA"/>
          </a:solidFill>
          <a:ln w="12700">
            <a:solidFill>
              <a:srgbClr val="DCE5ED"/>
            </a:solidFill>
            <a:prstDash val="solid"/>
          </a:ln>
        </p:spPr>
      </p:sp>
      <p:sp>
        <p:nvSpPr>
          <p:cNvPr id="6" name="Text 4"/>
          <p:cNvSpPr/>
          <p:nvPr/>
        </p:nvSpPr>
        <p:spPr>
          <a:xfrm>
            <a:off x="82296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Contrat exact</a:t>
            </a:r>
            <a:endParaRPr lang="en-US" sz="2300" dirty="0"/>
          </a:p>
        </p:txBody>
      </p:sp>
      <p:sp>
        <p:nvSpPr>
          <p:cNvPr id="7" name="Text 5"/>
          <p:cNvSpPr/>
          <p:nvPr/>
        </p:nvSpPr>
        <p:spPr>
          <a:xfrm>
            <a:off x="82296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Même entrée et état contrôlés</a:t>
            </a:r>
            <a:endParaRPr lang="en-US" sz="1900" dirty="0"/>
          </a:p>
        </p:txBody>
      </p:sp>
      <p:sp>
        <p:nvSpPr>
          <p:cNvPr id="8" name="Text 6"/>
          <p:cNvSpPr/>
          <p:nvPr/>
        </p:nvSpPr>
        <p:spPr>
          <a:xfrm>
            <a:off x="82296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Schéma, montant, transition, rôle</a:t>
            </a:r>
            <a:endParaRPr lang="en-US" sz="1900" dirty="0"/>
          </a:p>
        </p:txBody>
      </p:sp>
      <p:sp>
        <p:nvSpPr>
          <p:cNvPr id="9" name="Text 7"/>
          <p:cNvSpPr/>
          <p:nvPr/>
        </p:nvSpPr>
        <p:spPr>
          <a:xfrm>
            <a:off x="82296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Un invariant violé bloque</a:t>
            </a:r>
            <a:endParaRPr lang="en-US" sz="1900" dirty="0"/>
          </a:p>
        </p:txBody>
      </p:sp>
      <p:sp>
        <p:nvSpPr>
          <p:cNvPr id="10" name="Shape 8"/>
          <p:cNvSpPr/>
          <p:nvPr/>
        </p:nvSpPr>
        <p:spPr>
          <a:xfrm>
            <a:off x="6217920" y="1874520"/>
            <a:ext cx="5394960" cy="3886200"/>
          </a:xfrm>
          <a:prstGeom prst="rect">
            <a:avLst/>
          </a:prstGeom>
          <a:solidFill>
            <a:srgbClr val="EDF4FA"/>
          </a:solidFill>
          <a:ln w="12700">
            <a:solidFill>
              <a:srgbClr val="DCE5ED"/>
            </a:solidFill>
            <a:prstDash val="solid"/>
          </a:ln>
        </p:spPr>
      </p:sp>
      <p:sp>
        <p:nvSpPr>
          <p:cNvPr id="11" name="Text 9"/>
          <p:cNvSpPr/>
          <p:nvPr/>
        </p:nvSpPr>
        <p:spPr>
          <a:xfrm>
            <a:off x="649224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Jugement échantillonné</a:t>
            </a:r>
            <a:endParaRPr lang="en-US" sz="2300" dirty="0"/>
          </a:p>
        </p:txBody>
      </p:sp>
      <p:sp>
        <p:nvSpPr>
          <p:cNvPr id="12" name="Text 10"/>
          <p:cNvSpPr/>
          <p:nvPr/>
        </p:nvSpPr>
        <p:spPr>
          <a:xfrm>
            <a:off x="649224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Génération ou juge variable</a:t>
            </a:r>
            <a:endParaRPr lang="en-US" sz="1900" dirty="0"/>
          </a:p>
        </p:txBody>
      </p:sp>
      <p:sp>
        <p:nvSpPr>
          <p:cNvPr id="13" name="Text 11"/>
          <p:cNvSpPr/>
          <p:nvPr/>
        </p:nvSpPr>
        <p:spPr>
          <a:xfrm>
            <a:off x="649224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Sens, ancrage, utilité</a:t>
            </a:r>
            <a:endParaRPr lang="en-US" sz="1900" dirty="0"/>
          </a:p>
        </p:txBody>
      </p:sp>
      <p:sp>
        <p:nvSpPr>
          <p:cNvPr id="14" name="Text 12"/>
          <p:cNvSpPr/>
          <p:nvPr/>
        </p:nvSpPr>
        <p:spPr>
          <a:xfrm>
            <a:off x="649224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Calibration et incertitude</a:t>
            </a:r>
            <a:endParaRPr lang="en-US" sz="1900" dirty="0"/>
          </a:p>
        </p:txBody>
      </p:sp>
      <p:sp>
        <p:nvSpPr>
          <p:cNvPr id="15" name="Text 13">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6" name="Text 14"/>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4 / 35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Un invariant strict n’est pas un sondage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Aucun montant inventé pour INCOMPLETE ou UNSUPPORTED.</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Aucune auto-approbation : préparateur et décideur distincts.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Le message demandeur ne divulgue pas la prime employé.</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Révision, ETag, idempotence et journal doivent concorder.</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5 / 35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La progression des preuves</a:t>
            </a:r>
            <a:endParaRPr lang="en-US" sz="2700" dirty="0"/>
          </a:p>
        </p:txBody>
      </p:sp>
      <p:sp>
        <p:nvSpPr>
          <p:cNvPr id="5" name="Shape 3"/>
          <p:cNvSpPr/>
          <p:nvPr/>
        </p:nvSpPr>
        <p:spPr>
          <a:xfrm>
            <a:off x="548640" y="1920240"/>
            <a:ext cx="5394960" cy="1417320"/>
          </a:xfrm>
          <a:prstGeom prst="rect">
            <a:avLst/>
          </a:prstGeom>
          <a:solidFill>
            <a:srgbClr val="EDF4FA"/>
          </a:solidFill>
          <a:ln w="12700">
            <a:solidFill>
              <a:srgbClr val="DCE5ED"/>
            </a:solidFill>
            <a:prstDash val="solid"/>
          </a:ln>
        </p:spPr>
      </p:sp>
      <p:sp>
        <p:nvSpPr>
          <p:cNvPr id="6" name="Text 4"/>
          <p:cNvSpPr/>
          <p:nvPr/>
        </p:nvSpPr>
        <p:spPr>
          <a:xfrm>
            <a:off x="77724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01</a:t>
            </a:r>
            <a:endParaRPr lang="en-US" sz="2500" dirty="0"/>
          </a:p>
        </p:txBody>
      </p:sp>
      <p:sp>
        <p:nvSpPr>
          <p:cNvPr id="7" name="Text 5"/>
          <p:cNvSpPr/>
          <p:nvPr/>
        </p:nvSpPr>
        <p:spPr>
          <a:xfrm>
            <a:off x="150876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Contrats locaux et golden gate</a:t>
            </a:r>
            <a:endParaRPr lang="en-US" sz="2100" dirty="0"/>
          </a:p>
        </p:txBody>
      </p:sp>
      <p:sp>
        <p:nvSpPr>
          <p:cNvPr id="8" name="Shape 6"/>
          <p:cNvSpPr/>
          <p:nvPr/>
        </p:nvSpPr>
        <p:spPr>
          <a:xfrm>
            <a:off x="6217920" y="1920240"/>
            <a:ext cx="5394960" cy="1417320"/>
          </a:xfrm>
          <a:prstGeom prst="rect">
            <a:avLst/>
          </a:prstGeom>
          <a:solidFill>
            <a:srgbClr val="EDF4FA"/>
          </a:solidFill>
          <a:ln w="12700">
            <a:solidFill>
              <a:srgbClr val="DCE5ED"/>
            </a:solidFill>
            <a:prstDash val="solid"/>
          </a:ln>
        </p:spPr>
      </p:sp>
      <p:sp>
        <p:nvSpPr>
          <p:cNvPr id="9" name="Text 7"/>
          <p:cNvSpPr/>
          <p:nvPr/>
        </p:nvSpPr>
        <p:spPr>
          <a:xfrm>
            <a:off x="644652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02</a:t>
            </a:r>
            <a:endParaRPr lang="en-US" sz="2500" dirty="0"/>
          </a:p>
        </p:txBody>
      </p:sp>
      <p:sp>
        <p:nvSpPr>
          <p:cNvPr id="10" name="Text 8"/>
          <p:cNvSpPr/>
          <p:nvPr/>
        </p:nvSpPr>
        <p:spPr>
          <a:xfrm>
            <a:off x="717804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Réponse réelle et juges natifs</a:t>
            </a:r>
            <a:endParaRPr lang="en-US" sz="2100" dirty="0"/>
          </a:p>
        </p:txBody>
      </p:sp>
      <p:sp>
        <p:nvSpPr>
          <p:cNvPr id="11" name="Shape 9"/>
          <p:cNvSpPr/>
          <p:nvPr/>
        </p:nvSpPr>
        <p:spPr>
          <a:xfrm>
            <a:off x="548640" y="3749040"/>
            <a:ext cx="5394960" cy="1417320"/>
          </a:xfrm>
          <a:prstGeom prst="rect">
            <a:avLst/>
          </a:prstGeom>
          <a:solidFill>
            <a:srgbClr val="EDF4FA"/>
          </a:solidFill>
          <a:ln w="12700">
            <a:solidFill>
              <a:srgbClr val="DCE5ED"/>
            </a:solidFill>
            <a:prstDash val="solid"/>
          </a:ln>
        </p:spPr>
      </p:sp>
      <p:sp>
        <p:nvSpPr>
          <p:cNvPr id="12" name="Text 10"/>
          <p:cNvSpPr/>
          <p:nvPr/>
        </p:nvSpPr>
        <p:spPr>
          <a:xfrm>
            <a:off x="77724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03</a:t>
            </a:r>
            <a:endParaRPr lang="en-US" sz="2500" dirty="0"/>
          </a:p>
        </p:txBody>
      </p:sp>
      <p:sp>
        <p:nvSpPr>
          <p:cNvPr id="13" name="Text 11"/>
          <p:cNvSpPr/>
          <p:nvPr/>
        </p:nvSpPr>
        <p:spPr>
          <a:xfrm>
            <a:off x="150876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Calibration et réserve répétée</a:t>
            </a:r>
            <a:endParaRPr lang="en-US" sz="2100" dirty="0"/>
          </a:p>
        </p:txBody>
      </p:sp>
      <p:sp>
        <p:nvSpPr>
          <p:cNvPr id="14" name="Shape 12"/>
          <p:cNvSpPr/>
          <p:nvPr/>
        </p:nvSpPr>
        <p:spPr>
          <a:xfrm>
            <a:off x="6217920" y="3749040"/>
            <a:ext cx="5394960" cy="1417320"/>
          </a:xfrm>
          <a:prstGeom prst="rect">
            <a:avLst/>
          </a:prstGeom>
          <a:solidFill>
            <a:srgbClr val="EDF4FA"/>
          </a:solidFill>
          <a:ln w="12700">
            <a:solidFill>
              <a:srgbClr val="DCE5ED"/>
            </a:solidFill>
            <a:prstDash val="solid"/>
          </a:ln>
        </p:spPr>
      </p:sp>
      <p:sp>
        <p:nvSpPr>
          <p:cNvPr id="15" name="Text 13"/>
          <p:cNvSpPr/>
          <p:nvPr/>
        </p:nvSpPr>
        <p:spPr>
          <a:xfrm>
            <a:off x="644652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04</a:t>
            </a:r>
            <a:endParaRPr lang="en-US" sz="2500" dirty="0"/>
          </a:p>
        </p:txBody>
      </p:sp>
      <p:sp>
        <p:nvSpPr>
          <p:cNvPr id="16" name="Text 14"/>
          <p:cNvSpPr/>
          <p:nvPr/>
        </p:nvSpPr>
        <p:spPr>
          <a:xfrm>
            <a:off x="717804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Acceptation avec état et suivi</a:t>
            </a:r>
            <a:endParaRPr lang="en-US" sz="2100" dirty="0"/>
          </a:p>
        </p:txBody>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6 / 35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Cinq cas initiaux, pas une couverture complète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CASE-SYN-001 : READY; montant employé original 100000 cents.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CASE-SYN-003 / 005 : non pris en charge / régime absent, sans montant.</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ID invalide : rejet avant recherche ou soumission.</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Injection avec CASE-SYN-001 : accusé normal borné.</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7 / 35</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La vérité indépendante est la fondation</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Séparer question, contexte fiable et réponse candidate.</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Le statut attendu ne prouve pas une exécution cachée.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Faire revoir humainement les tests générés et leur oracle.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Ne jamais prendre la réponse candidate comme sa propre vérité.</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8 / 35</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Séparer développement, calibration et réserve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Développement : trouver et corriger les défauts.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Calibration : mesurer fausses acceptations et faux rejets.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Réserve : estimer la qualité sur des cas revus mais inédits.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Incidents : ajouter des cas versionnés sans réécrire le passé.</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9 / 35</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Point pratique : les contrôles peu coûteux</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pytest : calculateur, CaseStore et contrats API reviewer.</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pytest : conversion, erreurs de capture et contrôle du juge.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python eval/evaluation_gate.py : 13 cas déterministes.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Arrêter sur un invariant avant de payer un juge.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10 / 35</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Évaluation cloud native de bout en bout</a:t>
            </a:r>
            <a:endParaRPr lang="en-US" sz="2700" dirty="0"/>
          </a:p>
        </p:txBody>
      </p:sp>
      <p:sp>
        <p:nvSpPr>
          <p:cNvPr id="5" name="Shape 3"/>
          <p:cNvSpPr/>
          <p:nvPr/>
        </p:nvSpPr>
        <p:spPr>
          <a:xfrm>
            <a:off x="548640" y="1920240"/>
            <a:ext cx="5394960" cy="1417320"/>
          </a:xfrm>
          <a:prstGeom prst="rect">
            <a:avLst/>
          </a:prstGeom>
          <a:solidFill>
            <a:srgbClr val="EDF4FA"/>
          </a:solidFill>
          <a:ln w="12700">
            <a:solidFill>
              <a:srgbClr val="DCE5ED"/>
            </a:solidFill>
            <a:prstDash val="solid"/>
          </a:ln>
        </p:spPr>
      </p:sp>
      <p:sp>
        <p:nvSpPr>
          <p:cNvPr id="6" name="Text 4"/>
          <p:cNvSpPr/>
          <p:nvPr/>
        </p:nvSpPr>
        <p:spPr>
          <a:xfrm>
            <a:off x="77724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01</a:t>
            </a:r>
            <a:endParaRPr lang="en-US" sz="2500" dirty="0"/>
          </a:p>
        </p:txBody>
      </p:sp>
      <p:sp>
        <p:nvSpPr>
          <p:cNvPr id="7" name="Text 5"/>
          <p:cNvSpPr/>
          <p:nvPr/>
        </p:nvSpPr>
        <p:spPr>
          <a:xfrm>
            <a:off x="150876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Convertir source EN / FR</a:t>
            </a:r>
            <a:endParaRPr lang="en-US" sz="2100" dirty="0"/>
          </a:p>
        </p:txBody>
      </p:sp>
      <p:sp>
        <p:nvSpPr>
          <p:cNvPr id="8" name="Shape 6"/>
          <p:cNvSpPr/>
          <p:nvPr/>
        </p:nvSpPr>
        <p:spPr>
          <a:xfrm>
            <a:off x="6217920" y="1920240"/>
            <a:ext cx="5394960" cy="1417320"/>
          </a:xfrm>
          <a:prstGeom prst="rect">
            <a:avLst/>
          </a:prstGeom>
          <a:solidFill>
            <a:srgbClr val="EDF4FA"/>
          </a:solidFill>
          <a:ln w="12700">
            <a:solidFill>
              <a:srgbClr val="DCE5ED"/>
            </a:solidFill>
            <a:prstDash val="solid"/>
          </a:ln>
        </p:spPr>
      </p:sp>
      <p:sp>
        <p:nvSpPr>
          <p:cNvPr id="9" name="Text 7"/>
          <p:cNvSpPr/>
          <p:nvPr/>
        </p:nvSpPr>
        <p:spPr>
          <a:xfrm>
            <a:off x="644652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02</a:t>
            </a:r>
            <a:endParaRPr lang="en-US" sz="2500" dirty="0"/>
          </a:p>
        </p:txBody>
      </p:sp>
      <p:sp>
        <p:nvSpPr>
          <p:cNvPr id="10" name="Text 8"/>
          <p:cNvSpPr/>
          <p:nvPr/>
        </p:nvSpPr>
        <p:spPr>
          <a:xfrm>
            <a:off x="717804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Capturer les vraies réponses</a:t>
            </a:r>
            <a:endParaRPr lang="en-US" sz="2100" dirty="0"/>
          </a:p>
        </p:txBody>
      </p:sp>
      <p:sp>
        <p:nvSpPr>
          <p:cNvPr id="11" name="Shape 9"/>
          <p:cNvSpPr/>
          <p:nvPr/>
        </p:nvSpPr>
        <p:spPr>
          <a:xfrm>
            <a:off x="548640" y="3749040"/>
            <a:ext cx="5394960" cy="1417320"/>
          </a:xfrm>
          <a:prstGeom prst="rect">
            <a:avLst/>
          </a:prstGeom>
          <a:solidFill>
            <a:srgbClr val="EDF4FA"/>
          </a:solidFill>
          <a:ln w="12700">
            <a:solidFill>
              <a:srgbClr val="DCE5ED"/>
            </a:solidFill>
            <a:prstDash val="solid"/>
          </a:ln>
        </p:spPr>
      </p:sp>
      <p:sp>
        <p:nvSpPr>
          <p:cNvPr id="12" name="Text 10"/>
          <p:cNvSpPr/>
          <p:nvPr/>
        </p:nvSpPr>
        <p:spPr>
          <a:xfrm>
            <a:off x="77724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03</a:t>
            </a:r>
            <a:endParaRPr lang="en-US" sz="2500" dirty="0"/>
          </a:p>
        </p:txBody>
      </p:sp>
      <p:sp>
        <p:nvSpPr>
          <p:cNvPr id="13" name="Text 11"/>
          <p:cNvSpPr/>
          <p:nvPr/>
        </p:nvSpPr>
        <p:spPr>
          <a:xfrm>
            <a:off x="150876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Créer définition/essai; délai borné</a:t>
            </a:r>
            <a:endParaRPr lang="en-US" sz="2100" dirty="0"/>
          </a:p>
        </p:txBody>
      </p:sp>
      <p:sp>
        <p:nvSpPr>
          <p:cNvPr id="14" name="Shape 12"/>
          <p:cNvSpPr/>
          <p:nvPr/>
        </p:nvSpPr>
        <p:spPr>
          <a:xfrm>
            <a:off x="6217920" y="3749040"/>
            <a:ext cx="5394960" cy="1417320"/>
          </a:xfrm>
          <a:prstGeom prst="rect">
            <a:avLst/>
          </a:prstGeom>
          <a:solidFill>
            <a:srgbClr val="EDF4FA"/>
          </a:solidFill>
          <a:ln w="12700">
            <a:solidFill>
              <a:srgbClr val="DCE5ED"/>
            </a:solidFill>
            <a:prstDash val="solid"/>
          </a:ln>
        </p:spPr>
      </p:sp>
      <p:sp>
        <p:nvSpPr>
          <p:cNvPr id="15" name="Text 13"/>
          <p:cNvSpPr/>
          <p:nvPr/>
        </p:nvSpPr>
        <p:spPr>
          <a:xfrm>
            <a:off x="644652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04</a:t>
            </a:r>
            <a:endParaRPr lang="en-US" sz="2500" dirty="0"/>
          </a:p>
        </p:txBody>
      </p:sp>
      <p:sp>
        <p:nvSpPr>
          <p:cNvPr id="16" name="Text 14"/>
          <p:cNvSpPr/>
          <p:nvPr/>
        </p:nvSpPr>
        <p:spPr>
          <a:xfrm>
            <a:off x="717804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Récupérer chaque ligne et les IDs</a:t>
            </a:r>
            <a:endParaRPr lang="en-US" sz="2100" dirty="0"/>
          </a:p>
        </p:txBody>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11 / 35</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Portail : choisir, mapper, inspecter</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Ouvrir Optimize &gt; Evaluations au niveau du projet.</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Lecture seule : vérifier ID, état et cinq lignes conservées.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Pratique : JSONL aplati fourni et contexte indépendant.</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Revoir les critères; pas de Submit sans autorisation de coût.</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12 / 35</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Ne pas mélanger les générations d’API</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Projects SDK et Evals natif : parcours cloud du dépôt.</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azure-ai-evaluation expose un evaluate() local distinct.</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Évaluateurs intégrés, code et grilles ont des schémas différents.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Préversion, région et version restent des limites.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13 / 35</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Le contrat de l’évaluateur intégré</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type : azure_ai_evaluator; nom : builtin.groundedness.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Mapper contexte fiable et réponse dans la langue choisie.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Le code épinglé utilise initialization_parameters.deployment_name.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Task adherence reçoit messages et output_items normalisés.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14 / 35</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Trois métriques, trois questions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Coherence : l’accusé est-il logiquement compréhensible?</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Groundedness : les faits indépendants le soutiennent-ils?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Task adherence : respecte-t-il la tâche demandeur bornée?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Aucune ne prouve calcul, outils, persistance ou RBAC.</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15 / 35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Groundedness : examiner les entrées</a:t>
            </a:r>
            <a:endParaRPr lang="en-US" sz="2700" dirty="0"/>
          </a:p>
        </p:txBody>
      </p:sp>
      <p:pic>
        <p:nvPicPr>
          <p:cNvPr id="5" name="Image 0" descr="Catalogue Groundedness : entrées possibles et note ordinale de 1 à 5.">
            <a:hlinkClick r:id="rId2" tooltip=""/>
          </p:cNvPr>
          <p:cNvPicPr>
            <a:picLocks noChangeAspect="1"/>
          </p:cNvPicPr>
          <p:nvPr/>
        </p:nvPicPr>
        <p:blipFill>
          <a:blip r:embed="rId1"/>
          <a:srcRect l="18206" r="202" t="53937" b="9924"/>
          <a:stretch/>
        </p:blipFill>
        <p:spPr>
          <a:xfrm>
            <a:off x="548640" y="1874520"/>
            <a:ext cx="11064240" cy="3063240"/>
          </a:xfrm>
          <a:prstGeom prst="rect">
            <a:avLst/>
          </a:prstGeom>
        </p:spPr>
      </p:pic>
      <p:sp>
        <p:nvSpPr>
          <p:cNvPr id="6" name="Text 3"/>
          <p:cNvSpPr/>
          <p:nvPr/>
        </p:nvSpPr>
        <p:spPr>
          <a:xfrm>
            <a:off x="548640" y="5166360"/>
            <a:ext cx="11064240" cy="411480"/>
          </a:xfrm>
          <a:prstGeom prst="rect">
            <a:avLst/>
          </a:prstGeom>
          <a:noFill/>
          <a:ln/>
        </p:spPr>
        <p:txBody>
          <a:bodyPr wrap="square" lIns="0" tIns="0" rIns="0" bIns="0" rtlCol="0" anchor="ctr"/>
          <a:lstStyle/>
          <a:p>
            <a:pPr indent="0" marL="0">
              <a:buNone/>
            </a:pPr>
            <a:r>
              <a:rPr lang="en-US" sz="1600" dirty="0">
                <a:solidFill>
                  <a:srgbClr val="526777"/>
                </a:solidFill>
                <a:latin typeface="Segoe UI" pitchFamily="34" charset="0"/>
                <a:ea typeface="Segoe UI" pitchFamily="34" charset="-122"/>
                <a:cs typeface="Segoe UI" pitchFamily="34" charset="-120"/>
              </a:rPr>
              <a:t>Catalogue staging v18 | 2026-10-23 | Définition, pas résultat</a:t>
            </a:r>
            <a:endParaRPr lang="en-US" sz="1600" dirty="0"/>
          </a:p>
        </p:txBody>
      </p:sp>
      <p:sp>
        <p:nvSpPr>
          <p:cNvPr id="7" name="Text 4"/>
          <p:cNvSpPr/>
          <p:nvPr/>
        </p:nvSpPr>
        <p:spPr>
          <a:xfrm>
            <a:off x="548640" y="5623560"/>
            <a:ext cx="11064240" cy="457200"/>
          </a:xfrm>
          <a:prstGeom prst="rect">
            <a:avLst/>
          </a:prstGeom>
          <a:noFill/>
          <a:ln/>
        </p:spPr>
        <p:txBody>
          <a:bodyPr wrap="square" lIns="0" tIns="0" rIns="0" bIns="0" rtlCol="0" anchor="ctr"/>
          <a:lstStyle/>
          <a:p>
            <a:pPr indent="0" marL="0">
              <a:buNone/>
            </a:pPr>
            <a:r>
              <a:rPr lang="en-US" sz="2000" b="1" dirty="0">
                <a:solidFill>
                  <a:srgbClr val="183449"/>
                </a:solidFill>
                <a:latin typeface="Segoe UI" pitchFamily="34" charset="0"/>
                <a:ea typeface="Segoe UI" pitchFamily="34" charset="-122"/>
                <a:cs typeface="Segoe UI" pitchFamily="34" charset="-120"/>
              </a:rPr>
              <a:t>Utiliser un contexte fiable indépendant, jamais la réponse candidate.</a:t>
            </a:r>
            <a:endParaRPr lang="en-US" sz="2000" dirty="0"/>
          </a:p>
        </p:txBody>
      </p:sp>
      <p:sp>
        <p:nvSpPr>
          <p:cNvPr id="8" name="Text 5">
            <a:hlinkClick r:id="rId3"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9" name="Text 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16 / 35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Le bilinguisme n’est pas une moyenne unique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Convertir une source en essais EN et FR distincts.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Texte sélectionné en chaîne, pas carte bilingue brute.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Examiner défauts et mentions obligatoires par langue.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Une moyenne globale peut masquer une régression française.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17 / 35</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Provenance : une étiquette n’est pas un épinglage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--version consigne seulement le déploiement observé.</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Réserver une fenêtre stable; vérifier version avant et après.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Figer source, jeu, grille, évaluateur et modèle juge.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Garder captures, IDs natifs/réponse et empreintes.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18 / 35</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Complétude et qualité sont deux contrôles</a:t>
            </a:r>
            <a:endParaRPr lang="en-US" sz="2700" dirty="0"/>
          </a:p>
        </p:txBody>
      </p:sp>
      <p:sp>
        <p:nvSpPr>
          <p:cNvPr id="5" name="Shape 3"/>
          <p:cNvSpPr/>
          <p:nvPr/>
        </p:nvSpPr>
        <p:spPr>
          <a:xfrm>
            <a:off x="548640" y="1874520"/>
            <a:ext cx="5394960" cy="3886200"/>
          </a:xfrm>
          <a:prstGeom prst="rect">
            <a:avLst/>
          </a:prstGeom>
          <a:solidFill>
            <a:srgbClr val="EDF4FA"/>
          </a:solidFill>
          <a:ln w="12700">
            <a:solidFill>
              <a:srgbClr val="DCE5ED"/>
            </a:solidFill>
            <a:prstDash val="solid"/>
          </a:ln>
        </p:spPr>
      </p:sp>
      <p:sp>
        <p:nvSpPr>
          <p:cNvPr id="6" name="Text 4"/>
          <p:cNvSpPr/>
          <p:nvPr/>
        </p:nvSpPr>
        <p:spPr>
          <a:xfrm>
            <a:off x="82296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Complétude</a:t>
            </a:r>
            <a:endParaRPr lang="en-US" sz="2300" dirty="0"/>
          </a:p>
        </p:txBody>
      </p:sp>
      <p:sp>
        <p:nvSpPr>
          <p:cNvPr id="7" name="Text 5"/>
          <p:cNvSpPr/>
          <p:nvPr/>
        </p:nvSpPr>
        <p:spPr>
          <a:xfrm>
            <a:off x="82296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État terminal completed</a:t>
            </a:r>
            <a:endParaRPr lang="en-US" sz="1900" dirty="0"/>
          </a:p>
        </p:txBody>
      </p:sp>
      <p:sp>
        <p:nvSpPr>
          <p:cNvPr id="8" name="Text 6"/>
          <p:cNvSpPr/>
          <p:nvPr/>
        </p:nvSpPr>
        <p:spPr>
          <a:xfrm>
            <a:off x="82296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Lignes et métriques uniques attendues</a:t>
            </a:r>
            <a:endParaRPr lang="en-US" sz="1900" dirty="0"/>
          </a:p>
        </p:txBody>
      </p:sp>
      <p:sp>
        <p:nvSpPr>
          <p:cNvPr id="9" name="Text 7"/>
          <p:cNvSpPr/>
          <p:nvPr/>
        </p:nvSpPr>
        <p:spPr>
          <a:xfrm>
            <a:off x="82296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Aucune erreur ni exclusion</a:t>
            </a:r>
            <a:endParaRPr lang="en-US" sz="1900" dirty="0"/>
          </a:p>
        </p:txBody>
      </p:sp>
      <p:sp>
        <p:nvSpPr>
          <p:cNvPr id="10" name="Shape 8"/>
          <p:cNvSpPr/>
          <p:nvPr/>
        </p:nvSpPr>
        <p:spPr>
          <a:xfrm>
            <a:off x="6217920" y="1874520"/>
            <a:ext cx="5394960" cy="3886200"/>
          </a:xfrm>
          <a:prstGeom prst="rect">
            <a:avLst/>
          </a:prstGeom>
          <a:solidFill>
            <a:srgbClr val="EDF4FA"/>
          </a:solidFill>
          <a:ln w="12700">
            <a:solidFill>
              <a:srgbClr val="DCE5ED"/>
            </a:solidFill>
            <a:prstDash val="solid"/>
          </a:ln>
        </p:spPr>
      </p:sp>
      <p:sp>
        <p:nvSpPr>
          <p:cNvPr id="11" name="Text 9"/>
          <p:cNvSpPr/>
          <p:nvPr/>
        </p:nvSpPr>
        <p:spPr>
          <a:xfrm>
            <a:off x="649224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Qualité</a:t>
            </a:r>
            <a:endParaRPr lang="en-US" sz="2300" dirty="0"/>
          </a:p>
        </p:txBody>
      </p:sp>
      <p:sp>
        <p:nvSpPr>
          <p:cNvPr id="12" name="Text 10"/>
          <p:cNvSpPr/>
          <p:nvPr/>
        </p:nvSpPr>
        <p:spPr>
          <a:xfrm>
            <a:off x="649224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Seuils par métrique calibrés</a:t>
            </a:r>
            <a:endParaRPr lang="en-US" sz="1900" dirty="0"/>
          </a:p>
        </p:txBody>
      </p:sp>
      <p:sp>
        <p:nvSpPr>
          <p:cNvPr id="13" name="Text 11"/>
          <p:cNvSpPr/>
          <p:nvPr/>
        </p:nvSpPr>
        <p:spPr>
          <a:xfrm>
            <a:off x="649224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Faux positifs/négatifs par segment</a:t>
            </a:r>
            <a:endParaRPr lang="en-US" sz="1900" dirty="0"/>
          </a:p>
        </p:txBody>
      </p:sp>
      <p:sp>
        <p:nvSpPr>
          <p:cNvPr id="14" name="Text 12"/>
          <p:cNvSpPr/>
          <p:nvPr/>
        </p:nvSpPr>
        <p:spPr>
          <a:xfrm>
            <a:off x="649224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Révision humaine et incertitude</a:t>
            </a:r>
            <a:endParaRPr lang="en-US" sz="1900" dirty="0"/>
          </a:p>
        </p:txBody>
      </p:sp>
      <p:sp>
        <p:nvSpPr>
          <p:cNvPr id="15" name="Text 13">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6" name="Text 14"/>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19 / 35</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Comprendre la politique existante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Déterminisme et preuve native incomplète bloquent.</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Les notes natives complètes restent consultatives dans le workflow.</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--minimum-pass-rate 1.0 signifie 100 % des cas, pas une note 1/5.</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Approbation protégée et identité réelle restent obligatoires.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20 / 35</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Cas réel : panne service, pas défaut modèle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Livraison 39527950931, essai 1 : SystemError, aucune ligne notée.</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Le contrôle de complétude a bloqué la production.</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Relance autorisée : seul job échoué, même code 2c3f13b.</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Essai 2 : EN/FR complets 5/5, puis promotion protégée.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21 / 35</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Défier le juge avec une fausse réponse élégante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Contrôle : « Approuvé; votre soumission finale de 900 CAD est envoyée. »</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Violations : approbation, prix divulgué et faux envoi.</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Groundedness/task adherence devraient rejeter ces affirmations.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Coherence peut réussir : fluidité n’est pas vérité.</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22 / 35</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Les faux positifs connus restent visibles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Les contrôles RAG conservés incluaient une mauvaise réponse.</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groundedness et groundedness_pro l’ont acceptée.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L’expérience de contrôle négatif a donc échoué.</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Conserver prédicats explicites et expertise humaine.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23 / 35</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Mesurer la calibration, pas seulement la moyenne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Étiqueter cas valides, faux, incomplets et mauvaise langue.</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Compter fausses acceptations et faux rejets par métrique/segment.</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Inspecter les désaccords; masquer les labels du candidat si possible.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Conserver grille, seuils, modèle et échecs.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24 / 35</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Deux expériences de répétition différentes</a:t>
            </a:r>
            <a:endParaRPr lang="en-US" sz="2700" dirty="0"/>
          </a:p>
        </p:txBody>
      </p:sp>
      <p:sp>
        <p:nvSpPr>
          <p:cNvPr id="5" name="Shape 3"/>
          <p:cNvSpPr/>
          <p:nvPr/>
        </p:nvSpPr>
        <p:spPr>
          <a:xfrm>
            <a:off x="548640" y="1874520"/>
            <a:ext cx="5394960" cy="3886200"/>
          </a:xfrm>
          <a:prstGeom prst="rect">
            <a:avLst/>
          </a:prstGeom>
          <a:solidFill>
            <a:srgbClr val="EDF4FA"/>
          </a:solidFill>
          <a:ln w="12700">
            <a:solidFill>
              <a:srgbClr val="DCE5ED"/>
            </a:solidFill>
            <a:prstDash val="solid"/>
          </a:ln>
        </p:spPr>
      </p:sp>
      <p:sp>
        <p:nvSpPr>
          <p:cNvPr id="6" name="Text 4"/>
          <p:cNvSpPr/>
          <p:nvPr/>
        </p:nvSpPr>
        <p:spPr>
          <a:xfrm>
            <a:off x="82296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Variance de génération</a:t>
            </a:r>
            <a:endParaRPr lang="en-US" sz="2300" dirty="0"/>
          </a:p>
        </p:txBody>
      </p:sp>
      <p:sp>
        <p:nvSpPr>
          <p:cNvPr id="7" name="Text 5"/>
          <p:cNvSpPr/>
          <p:nvPr/>
        </p:nvSpPr>
        <p:spPr>
          <a:xfrm>
            <a:off x="82296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Mêmes cas et état initial figés</a:t>
            </a:r>
            <a:endParaRPr lang="en-US" sz="1900" dirty="0"/>
          </a:p>
        </p:txBody>
      </p:sp>
      <p:sp>
        <p:nvSpPr>
          <p:cNvPr id="8" name="Text 6"/>
          <p:cNvSpPr/>
          <p:nvPr/>
        </p:nvSpPr>
        <p:spPr>
          <a:xfrm>
            <a:off x="82296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Nouvelles captures à chaque essai</a:t>
            </a:r>
            <a:endParaRPr lang="en-US" sz="1900" dirty="0"/>
          </a:p>
        </p:txBody>
      </p:sp>
      <p:sp>
        <p:nvSpPr>
          <p:cNvPr id="9" name="Text 7"/>
          <p:cNvSpPr/>
          <p:nvPr/>
        </p:nvSpPr>
        <p:spPr>
          <a:xfrm>
            <a:off x="82296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Juger et garder chaque réponse</a:t>
            </a:r>
            <a:endParaRPr lang="en-US" sz="1900" dirty="0"/>
          </a:p>
        </p:txBody>
      </p:sp>
      <p:sp>
        <p:nvSpPr>
          <p:cNvPr id="10" name="Shape 8"/>
          <p:cNvSpPr/>
          <p:nvPr/>
        </p:nvSpPr>
        <p:spPr>
          <a:xfrm>
            <a:off x="6217920" y="1874520"/>
            <a:ext cx="5394960" cy="3886200"/>
          </a:xfrm>
          <a:prstGeom prst="rect">
            <a:avLst/>
          </a:prstGeom>
          <a:solidFill>
            <a:srgbClr val="EDF4FA"/>
          </a:solidFill>
          <a:ln w="12700">
            <a:solidFill>
              <a:srgbClr val="DCE5ED"/>
            </a:solidFill>
            <a:prstDash val="solid"/>
          </a:ln>
        </p:spPr>
      </p:sp>
      <p:sp>
        <p:nvSpPr>
          <p:cNvPr id="11" name="Text 9"/>
          <p:cNvSpPr/>
          <p:nvPr/>
        </p:nvSpPr>
        <p:spPr>
          <a:xfrm>
            <a:off x="649224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Variance du juge</a:t>
            </a:r>
            <a:endParaRPr lang="en-US" sz="2300" dirty="0"/>
          </a:p>
        </p:txBody>
      </p:sp>
      <p:sp>
        <p:nvSpPr>
          <p:cNvPr id="12" name="Text 10"/>
          <p:cNvSpPr/>
          <p:nvPr/>
        </p:nvSpPr>
        <p:spPr>
          <a:xfrm>
            <a:off x="649224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Mêmes captures immuables</a:t>
            </a:r>
            <a:endParaRPr lang="en-US" sz="1900" dirty="0"/>
          </a:p>
        </p:txBody>
      </p:sp>
      <p:sp>
        <p:nvSpPr>
          <p:cNvPr id="13" name="Text 11"/>
          <p:cNvSpPr/>
          <p:nvPr/>
        </p:nvSpPr>
        <p:spPr>
          <a:xfrm>
            <a:off x="649224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Appeler evaluate(), pas capture()</a:t>
            </a:r>
            <a:endParaRPr lang="en-US" sz="1900" dirty="0"/>
          </a:p>
        </p:txBody>
      </p:sp>
      <p:sp>
        <p:nvSpPr>
          <p:cNvPr id="14" name="Text 12"/>
          <p:cNvSpPr/>
          <p:nvPr/>
        </p:nvSpPr>
        <p:spPr>
          <a:xfrm>
            <a:off x="649224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Consigner la réutilisation</a:t>
            </a:r>
            <a:endParaRPr lang="en-US" sz="1900" dirty="0"/>
          </a:p>
        </p:txBody>
      </p:sp>
      <p:sp>
        <p:nvSpPr>
          <p:cNvPr id="15" name="Text 13">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6" name="Text 14"/>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25 / 35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5/5 ne démontre pas la perfection</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Wilson 95 % illustratif pour 5/5 : environ 0,57 à 1,00.</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Cet intervalle suppose des observations Bernoulli indépendantes.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Notes répétées d’un cas : corrélées, pas de nouveaux clients.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Présenter incertitude par cas et limites des préjudices rares.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26 / 35</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Comparer équitablement les candidats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Apparier ID stable, langue, essai et état initial contrôlé.</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Figer faits, grille, évaluateur et version du modèle juge.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Inspecter transitions réussite-échec, effet et incertitude.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Jeu/évaluateur modifié : nouvelle référence, pas amélioration.</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27 / 35</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Dépenser pour des preuves utiles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Contrats locaux et golden gate avant les juges payants.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Pilote : 5 cas × 2 langues × 1 essai × 3 métriques = 30 jugements.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Répétitions, longs contextes et relances augmentent le coût.</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Réutiliser les captures; borner concurrence et budget.</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28 / 35</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Régression avec état : le parcours de révision</a:t>
            </a:r>
            <a:endParaRPr lang="en-US" sz="2700" dirty="0"/>
          </a:p>
        </p:txBody>
      </p:sp>
      <p:sp>
        <p:nvSpPr>
          <p:cNvPr id="5" name="Shape 3"/>
          <p:cNvSpPr/>
          <p:nvPr/>
        </p:nvSpPr>
        <p:spPr>
          <a:xfrm>
            <a:off x="548640" y="1920240"/>
            <a:ext cx="5394960" cy="1417320"/>
          </a:xfrm>
          <a:prstGeom prst="rect">
            <a:avLst/>
          </a:prstGeom>
          <a:solidFill>
            <a:srgbClr val="EDF4FA"/>
          </a:solidFill>
          <a:ln w="12700">
            <a:solidFill>
              <a:srgbClr val="DCE5ED"/>
            </a:solidFill>
            <a:prstDash val="solid"/>
          </a:ln>
        </p:spPr>
      </p:sp>
      <p:sp>
        <p:nvSpPr>
          <p:cNvPr id="6" name="Text 4"/>
          <p:cNvSpPr/>
          <p:nvPr/>
        </p:nvSpPr>
        <p:spPr>
          <a:xfrm>
            <a:off x="77724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01</a:t>
            </a:r>
            <a:endParaRPr lang="en-US" sz="2500" dirty="0"/>
          </a:p>
        </p:txBody>
      </p:sp>
      <p:sp>
        <p:nvSpPr>
          <p:cNvPr id="7" name="Text 5"/>
          <p:cNvSpPr/>
          <p:nvPr/>
        </p:nvSpPr>
        <p:spPr>
          <a:xfrm>
            <a:off x="150876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Retourner en DRAFT révision 2</a:t>
            </a:r>
            <a:endParaRPr lang="en-US" sz="2100" dirty="0"/>
          </a:p>
        </p:txBody>
      </p:sp>
      <p:sp>
        <p:nvSpPr>
          <p:cNvPr id="8" name="Shape 6"/>
          <p:cNvSpPr/>
          <p:nvPr/>
        </p:nvSpPr>
        <p:spPr>
          <a:xfrm>
            <a:off x="6217920" y="1920240"/>
            <a:ext cx="5394960" cy="1417320"/>
          </a:xfrm>
          <a:prstGeom prst="rect">
            <a:avLst/>
          </a:prstGeom>
          <a:solidFill>
            <a:srgbClr val="EDF4FA"/>
          </a:solidFill>
          <a:ln w="12700">
            <a:solidFill>
              <a:srgbClr val="DCE5ED"/>
            </a:solidFill>
            <a:prstDash val="solid"/>
          </a:ln>
        </p:spPr>
      </p:sp>
      <p:sp>
        <p:nvSpPr>
          <p:cNvPr id="9" name="Text 7"/>
          <p:cNvSpPr/>
          <p:nvPr/>
        </p:nvSpPr>
        <p:spPr>
          <a:xfrm>
            <a:off x="644652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02</a:t>
            </a:r>
            <a:endParaRPr lang="en-US" sz="2500" dirty="0"/>
          </a:p>
        </p:txBody>
      </p:sp>
      <p:sp>
        <p:nvSpPr>
          <p:cNvPr id="10" name="Text 8"/>
          <p:cNvSpPr/>
          <p:nvPr/>
        </p:nvSpPr>
        <p:spPr>
          <a:xfrm>
            <a:off x="717804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Vérifier visibilité actif / DRAFT</a:t>
            </a:r>
            <a:endParaRPr lang="en-US" sz="2100" dirty="0"/>
          </a:p>
        </p:txBody>
      </p:sp>
      <p:sp>
        <p:nvSpPr>
          <p:cNvPr id="11" name="Shape 9"/>
          <p:cNvSpPr/>
          <p:nvPr/>
        </p:nvSpPr>
        <p:spPr>
          <a:xfrm>
            <a:off x="548640" y="3749040"/>
            <a:ext cx="5394960" cy="1417320"/>
          </a:xfrm>
          <a:prstGeom prst="rect">
            <a:avLst/>
          </a:prstGeom>
          <a:solidFill>
            <a:srgbClr val="EDF4FA"/>
          </a:solidFill>
          <a:ln w="12700">
            <a:solidFill>
              <a:srgbClr val="DCE5ED"/>
            </a:solidFill>
            <a:prstDash val="solid"/>
          </a:ln>
        </p:spPr>
      </p:sp>
      <p:sp>
        <p:nvSpPr>
          <p:cNvPr id="12" name="Text 10"/>
          <p:cNvSpPr/>
          <p:nvPr/>
        </p:nvSpPr>
        <p:spPr>
          <a:xfrm>
            <a:off x="77724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03</a:t>
            </a:r>
            <a:endParaRPr lang="en-US" sz="2500" dirty="0"/>
          </a:p>
        </p:txBody>
      </p:sp>
      <p:sp>
        <p:nvSpPr>
          <p:cNvPr id="13" name="Text 11"/>
          <p:cNvSpPr/>
          <p:nvPr/>
        </p:nvSpPr>
        <p:spPr>
          <a:xfrm>
            <a:off x="150876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Corriger et préparer par l’agent natif</a:t>
            </a:r>
            <a:endParaRPr lang="en-US" sz="2100" dirty="0"/>
          </a:p>
        </p:txBody>
      </p:sp>
      <p:sp>
        <p:nvSpPr>
          <p:cNvPr id="14" name="Shape 12"/>
          <p:cNvSpPr/>
          <p:nvPr/>
        </p:nvSpPr>
        <p:spPr>
          <a:xfrm>
            <a:off x="6217920" y="3749040"/>
            <a:ext cx="5394960" cy="1417320"/>
          </a:xfrm>
          <a:prstGeom prst="rect">
            <a:avLst/>
          </a:prstGeom>
          <a:solidFill>
            <a:srgbClr val="EDF4FA"/>
          </a:solidFill>
          <a:ln w="12700">
            <a:solidFill>
              <a:srgbClr val="DCE5ED"/>
            </a:solidFill>
            <a:prstDash val="solid"/>
          </a:ln>
        </p:spPr>
      </p:sp>
      <p:sp>
        <p:nvSpPr>
          <p:cNvPr id="15" name="Text 13"/>
          <p:cNvSpPr/>
          <p:nvPr/>
        </p:nvSpPr>
        <p:spPr>
          <a:xfrm>
            <a:off x="644652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04</a:t>
            </a:r>
            <a:endParaRPr lang="en-US" sz="2500" dirty="0"/>
          </a:p>
        </p:txBody>
      </p:sp>
      <p:sp>
        <p:nvSpPr>
          <p:cNvPr id="16" name="Text 14"/>
          <p:cNvSpPr/>
          <p:nvPr/>
        </p:nvSpPr>
        <p:spPr>
          <a:xfrm>
            <a:off x="717804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Journal concordant; auto-approbation refusée</a:t>
            </a:r>
            <a:endParaRPr lang="en-US" sz="2100" dirty="0"/>
          </a:p>
        </p:txBody>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29 / 35</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La trajectoire exige une preuve réelle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Qualité finale et processus correct sont des questions différentes.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Choix/arguments outils exigent des traces réelles compatibles.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Vraies étapes : INTAKE, REFERENCE_LOOKUP, COMPOSITION.</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ID demandé ou texte final ne prouvent pas l’ingestion.</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30 / 35</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Exploiter plusieurs tableaux distincts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Service : disponibilité, latence, 401/403, quota, délais, coût.</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Qualité : ancrage, tâche, segments linguistiques, corrections humaines.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Sécurité : violations déterministes et frontières de rôles.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Revoir la dérive et transformer les incidents vérifiés en tests.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31 / 35</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Votre recommandation de livraison</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Nommer source, jeu, état, modèle et évaluateur exacts.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Présenter contrats, complétude, qualité, contrôles et incertitude.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Lister dimensions non mesurées, coût, pannes et risques.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Approuver, bloquer ou demander des preuves avec un responsable.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32 / 35</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Discussion : quel candidat livrer?</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 : juges 100 %, mais auto-approbation possible.</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B : contrats stricts réussis, mais zéro ligne native notée.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 : résultats complets, une fausse acceptation à haut risque.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D : preuves complètes, segments stables, risques revus et approbation.</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33 / 35</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Bilan : le vrai sens de non-régression</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Énoncer contrat et conditions mesurés, pas « aucune régression possible ».</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Combiner tests exacts et jugements sémantiques.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Conserver contrôles et tentatives opérationnelles échoués.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Faire évoluer couverture, calibration et surveillance.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34 / 35</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Emporter atelier, guide et preuves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Atelier 19 : dix exercices progressifs avec commandes exécutables.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Guide : portail, mappings SDK, politique et diagnostic.</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Présentation : PowerPoint EN/FR modifiables et notes formateur.</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Sources : liens Microsoft Learn officiels dans les notes.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35 / 35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Ingénierie de l'évaluation</dc:title>
  <dc:subject>Deterministic contracts, native Foundry evaluation and quote-agent regression prevention</dc:subject>
  <dc:creator>Foundry Hosted Agents FSI workshop</dc:creator>
  <cp:lastModifiedBy>Foundry Hosted Agents FSI workshop</cp:lastModifiedBy>
  <cp:revision>1</cp:revision>
  <dcterms:created xsi:type="dcterms:W3CDTF">2026-10-23T13:04:16Z</dcterms:created>
  <dcterms:modified xsi:type="dcterms:W3CDTF">2026-10-23T13:04:16Z</dcterms:modified>
</cp:coreProperties>
</file>