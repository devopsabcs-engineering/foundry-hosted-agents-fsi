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Prévoir 3 à 4 heures avec l'Atelier 19. Données et montants synthétiques, non contraignants. Rédaction assistée par IA, sans assistant de code requis pour les apprenants. Le graphe conservé est déterministe : contrats métier directs, juges modèles pour la qualité observable adaptée.
Guide: https://devopsabcs-engineering.github.io/foundry-hosted-agents-fsi/fr/evaluation-guide.html
Lab 19: https://devopsabcs-engineering.github.io/foundry-hosted-agents-fsi/fr/labs/lab-19-evaluation-engineering
Source: https://learn.microsoft.com/azure/foundry/how-to/evaluate-generative-ai-app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Demander ce que prouve 100 %. Réponse : les critères mesurés sur cet échantillon versionné seulement. Utiliser le guide et les exercices 19.1 à 19.10. Accès et budget approuvés requis pour le réel.
Guide: https://devopsabcs-engineering.github.io/foundry-hosted-agents-fsi/fr/evaluation-guide.html
Lab 19: https://devopsabcs-engineering.github.io/foundry-hosted-agents-fsi/fr/labs/lab-19-evaluation-engineering
Source: https://learn.microsoft.com/azure/foundry/observability/how-to/cloud-evaluation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graphe LangGraph ne tarifie pas avec un LLM. Les messages EN/FR sont bornés. Ici, le LLM est le juge. Compétences, mémoire et File Search sont isolés. Calcul et persistance restent dans COMPOSITION.
Guide: https://devopsabcs-engineering.github.io/foundry-hosted-agents-fsi/fr/evaluation-guide.html
Lab 19: https://devopsabcs-engineering.github.io/foundry-hosted-agents-fsi/fr/labs/lab-19-evaluation-engineering
Source: https://learn.microsoft.com/azure/foundry/observability/how-to/cloud-evaluation-datasets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unitaire décrit une portée, pas le déterminisme. Une évaluation d'agent peut utiliser du code déterministe. Température zéro et graine ne garantissent pas une identité après changement du service. Réseau, RBAC et état peuvent aussi varier.
Guide: https://devopsabcs-engineering.github.io/foundry-hosted-agents-fsi/fr/evaluation-guide.html
Lab 19: https://devopsabcs-engineering.github.io/foundry-hosted-agents-fsi/fr/labs/lab-19-evaluation-engineering
Source: https://learn.microsoft.com/azure/foundry/concepts/built-in-evaluators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note modèle n'est pas un oracle de calcul ou d'autorisation. Vérifier champs et transitions par calculateur, CaseStore et API. Un schéma valide ne prouve pas la justesse. Ces invariants restent stricts même avec des composants génératifs futurs.
Guide: https://devopsabcs-engineering.github.io/foundry-hosted-agents-fsi/fr/evaluation-guide.html
Lab 19: https://devopsabcs-engineering.github.io/foundry-hosted-agents-fsi/fr/labs/lab-19-evaluation-engineering
Source: https://learn.microsoft.com/azure/foundry/concepts/evaluation-evaluators/agent-evaluators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Commencer peu coûteux et déterministe. Ajouter le coût seulement quand l'oracle le nécessite. Les couches se complètent; elles ne remplacent pas les précédentes. Affecter chaque assertion de la fiche à une couche.
Guide: https://devopsabcs-engineering.github.io/foundry-hosted-agents-fsi/fr/evaluation-guide.html
Lab 19: https://devopsabcs-engineering.github.io/foundry-hosted-agents-fsi/fr/labs/lab-19-evaluation-engineering
Source: https://learn.microsoft.com/azure/foundry/concepts/evaluation-evaluators/custom-evaluators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 source des messages au demandeur. L'injection ne donne aucun droit d'approuver. Ajouter langues, rôles et états. Réserver CASE004 à l'acceptation isolée; ne pas écraser un dossier révisé avec les attentes de la fixture originale.
Guide: https://devopsabcs-engineering.github.io/foundry-hosted-agents-fsi/fr/evaluation-guide.html
Lab 19: https://devopsabcs-engineering.github.io/foundry-hosted-agents-fsi/fr/labs/lab-19-evaluation-engineering
Source: https://learn.microsoft.com/azure/foundry/how-to/evaluate-generative-ai-app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repérer le jugement circulaire. Un prix inventé copié dans le contexte peut être récompensé par groundedness. Les faits de fixture, règles et politique doivent être indépendants, versionnés et traçables.
Guide: https://devopsabcs-engineering.github.io/foundry-hosted-agents-fsi/fr/evaluation-guide.html
Lab 19: https://devopsabcs-engineering.github.io/foundry-hosted-agents-fsi/fr/labs/lab-19-evaluation-engineering
Source: https://learn.microsoft.com/azure/foundry/observability/how-to/cloud-evaluation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réserve inspectée continuellement n'est plus inédite. Éviter de régler les seuils sur le jeu de livraison. Garder couverture, étiquettes et versions. Un jeu modifié exige une nouvelle référence.
Guide: https://devopsabcs-engineering.github.io/foundry-hosted-agents-fsi/fr/evaluation-guide.html
Lab 19: https://devopsabcs-engineering.github.io/foundry-hosted-agents-fsi/fr/labs/lab-19-evaluation-engineering
Source: https://learn.microsoft.com/azure/foundry/observability/how-to/cloud-evaluation-datasets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Utiliser les commandes PowerShell exactes de l'Atelier 19.2. Les exclusions Cosmos sont des limites explicites. Un succès simulé ne prouve pas le déploiement. Ne pas valider les changements incidents du rapport généré.
Guide: https://devopsabcs-engineering.github.io/foundry-hosted-agents-fsi/fr/evaluation-guide.html
Lab 19: https://devopsabcs-engineering.github.io/foundry-hosted-agents-fsi/fr/labs/lab-19-evaluation-engineering
Source: https://learn.microsoft.com/azure/foundry/concepts/built-in-evaluators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dépôt utilise AIProjectClient.get_openai_client et evals.create / evals.runs.create. Rejeter les corps d'erreur HTTP200 et langues absentes avant le juge. Garder captures et échecs dans des répertoires nouveaux.
Guide: https://devopsabcs-engineering.github.io/foundry-hosted-agents-fsi/fr/evaluation-guide.html
Lab 19: https://devopsabcs-engineering.github.io/foundry-hosted-agents-fsi/fr/labs/lab-19-evaluation-engineering
Source: https://learn.microsoft.com/azure/foundry/concepts/evaluation-evaluators/agent-evaluators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Suivre les parcours distincts de lecture seule et de pratique. Un onglet agent Evaluation vide ne signifie pas que le projet n'a aucun essai natif. Examiner staging v6 sans appel juge. Les jeux de pratique sont des contrôles synthétiques rédigés, pas des réponses agent capturées. Utiliser le SDK vérifié si nécessaire.
Guide: https://devopsabcs-engineering.github.io/foundry-hosted-agents-fsi/fr/evaluation-guide.html
Lab 19: https://devopsabcs-engineering.github.io/foundry-hosted-agents-fsi/fr/labs/lab-19-evaluation-engineering
Source: https://learn.microsoft.com/azure/foundry/concepts/evaluation-evaluators/custom-evaluators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Exercice 19.4, étape 3. Vraie définition staging française conservée eval_923cb34017c743a59089a36cb55d4e28. Vérifier l’essai evalrun_db159f558fd847668d7bba275ba1a353. 15/15 signifie cinq cas fois trois métriques; 100% / 5/5 compte les réussites, pas une note ordinale de 5 pour chaque cas. Aucune évaluation soumise pour cette capture. L’image complète liée montre navigation et provenance.
Guide: https://devopsabcs-engineering.github.io/foundry-hosted-agents-fsi/fr/evaluation-guide.html
Lab 19: https://devopsabcs-engineering.github.io/foundry-hosted-agents-fsi/fr/labs/lab-19-evaluation-engineering
Source: https://learn.microsoft.com/azure/foundry/how-to/evaluate-generative-ai-app
Screenshot: https://devopsabcs-engineering.github.io/foundry-hosted-agents-fsi/assets/evidence/lab19-v6-evaluation-overview-2026-10-23.png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Exercice 19.4, étape 4. Vrai essai conservé evalrun_db159f558fd847668d7bba275ba1a353, pas un résultat du jeu de pratique. Coherence comprend des notes ordinales de 4 et 5, toutes réussies. Groundedness affiche 5; Task Adherence est booléen. Faire défiler pour task_adherence et les raisons. Run details est replié pour montrer les cinq cas. Utiliser captured.json et la définition du même essai pour les entrées non exposées. Aucun appel agent ou juge effectué.
Guide: https://devopsabcs-engineering.github.io/foundry-hosted-agents-fsi/fr/evaluation-guide.html
Lab 19: https://devopsabcs-engineering.github.io/foundry-hosted-agents-fsi/fr/labs/lab-19-evaluation-engineering
Source: https://learn.microsoft.com/azure/foundry/observability/how-to/cloud-evaluation
Screenshot: https://devopsabcs-engineering.github.io/foundry-hosted-agents-fsi/assets/evidence/lab19-v6-run-results-2026-10-23.png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livraison utilise projects2.6.0, openai3.6.0, identity1.25.3. Ne pas déclarer l'autre SDK obsolète sans preuve officielle. Vérifier versions installées et documentation avant adaptation. Aucun changement de dépendance de production.
Guide: https://devopsabcs-engineering.github.io/foundry-hosted-agents-fsi/fr/evaluation-guide.html
Lab 19: https://devopsabcs-engineering.github.io/foundry-hosted-agents-fsi/fr/labs/lab-19-evaluation-engineering
Source: https://learn.microsoft.com/azure/foundry/observability/how-to/cloud-evaluation-datasets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Consulter les extraits exacts du guide. azure_ai_groundedness est un type inventé. Des exemples récents utilisent model ou des types enveloppes : ne pas les mélanger sans vérification. Un grand jeu exige une référence fichier compatible réelle.
Guide: https://devopsabcs-engineering.github.io/foundry-hosted-agents-fsi/fr/evaluation-guide.html
Lab 19: https://devopsabcs-engineering.github.io/foundry-hosted-agents-fsi/fr/labs/lab-19-evaluation-engineering
Source: https://learn.microsoft.com/azure/foundry/concepts/built-in-evaluators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affirmation fausse mais cohérente peut réussir coherence. Exiger séparément absence de prix et d'approbation. Inspecter note, seuil et justification propres à la métrique, sans supposer une échelle universelle.
Guide: https://devopsabcs-engineering.github.io/foundry-hosted-agents-fsi/fr/evaluation-guide.html
Lab 19: https://devopsabcs-engineering.github.io/foundry-hosted-agents-fsi/fr/labs/lab-19-evaluation-engineering
Source: https://learn.microsoft.com/azure/foundry/concepts/evaluation-evaluators/agent-evaluators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Vraie capture du catalogue Microsoft Foundry builtin.groundedness v18, prise en staging le 2026-10-23. Recadrée pour agrandir description, formes d'entrée et note ordinale de 1 à 5. L'image et le guide donnent accès à la capture complète. Le catalogue propose response/context, query/response ou messages. L'atelier mappe evaluation_query, context indépendant et response dans la langue choisie. Coherence v13 affiche aussi 1 à 5; Task Adherence en préversion v17 est booléen. Les versions du catalogue ne prouvent pas les versions effectives de l'essai v6 conservé. Aucune évaluation soumise ni aucun appel juge pour cette capture.
Guide: https://devopsabcs-engineering.github.io/foundry-hosted-agents-fsi/fr/evaluation-guide.html
Lab 19: https://devopsabcs-engineering.github.io/foundry-hosted-agents-fsi/fr/labs/lab-19-evaluation-engineering
Source: https://learn.microsoft.com/azure/foundry/concepts/evaluation-evaluators/custom-evaluators
Screenshot: https://devopsabcs-engineering.github.io/foundry-hosted-agents-fsi/assets/evidence/foundry-evaluator-groundedness-v18-2026-10-23.png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capture aplatit la carte bilingue pour task adherence. Langue absente signifie erreur, pas remplacement silencieux. Comparer même segment et vérité indépendante dans chaque langue. Une différence de format n'est pas automatiquement sémantique.
Guide: https://devopsabcs-engineering.github.io/foundry-hosted-agents-fsi/fr/evaluation-guide.html
Lab 19: https://devopsabcs-engineering.github.io/foundry-hosted-agents-fsi/fr/labs/lab-19-evaluation-engineering
Source: https://learn.microsoft.com/azure/foundry/how-to/evaluate-generative-ai-app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L'endpoint invoque le déploiement courant. Un nom de déploiement peut changer de modèle. Le fichier identité ne capture pas automatiquement toutes les versions effectives : exporter la configuration et déclarer les limites. traceparent demandé ne prouve pas l'ingestion.
Guide: https://devopsabcs-engineering.github.io/foundry-hosted-agents-fsi/fr/evaluation-guide.html
Lab 19: https://devopsabcs-engineering.github.io/foundry-hosted-agents-fsi/fr/labs/lab-19-evaluation-engineering
Source: https://learn.microsoft.com/azure/foundry/observability/how-to/cloud-evaluation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validate_completion rejette absences, doublons, erreurs et notes invalides. validate_results ajoute la politique de taux. Zéro ligne n'est pas un succès. Une panne n'est pas une note numérique à supprimer du rapport.
Guide: https://devopsabcs-engineering.github.io/foundry-hosted-agents-fsi/fr/evaluation-guide.html
Lab 19: https://devopsabcs-engineering.github.io/foundry-hosted-agents-fsi/fr/labs/lab-19-evaluation-engineering
Source: https://learn.microsoft.com/azure/foundry/observability/how-to/cloud-evaluation-datasets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CLI peut échouer sur la qualité tout en conservant des notes consultatives. Un contrôle distinct exige la complétude EN/FR. continue-on-error n'autorise pas une preuve manquante. Durcir la politique serait un changement séparé approuvé.
Guide: https://devopsabcs-engineering.github.io/foundry-hosted-agents-fsi/fr/evaluation-guide.html
Lab 19: https://devopsabcs-engineering.github.io/foundry-hosted-agents-fsi/fr/labs/lab-19-evaluation-engineering
Source: https://learn.microsoft.com/azure/foundry/concepts/built-in-evaluators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Conserver les deux essais et corrélations. Il s'agit d'une relance opérationnelle, pas d'échantillonner jusqu'au vert. Livraison finale stagingv6/productionv7. L'ancien 0/10 utilise un autre contrat et n'est pas une référence comparable.
Guide: https://devopsabcs-engineering.github.io/foundry-hosted-agents-fsi/fr/evaluation-guide.html
Lab 19: https://devopsabcs-engineering.github.io/foundry-hosted-agents-fsi/fr/labs/lab-19-evaluation-engineering
Source: https://learn.microsoft.com/azure/foundry/concepts/evaluation-evaluators/agent-evaluators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Étiqueter l'attendu par métrique. Une réponse modifiée est un contrôle synthétique; son ancien ID natif ne prouve plus ce texte. Ne pas présenter une réécriture comme capture authentique.
Guide: https://devopsabcs-engineering.github.io/foundry-hosted-agents-fsi/fr/evaluation-guide.html
Lab 19: https://devopsabcs-engineering.github.io/foundry-hosted-agents-fsi/fr/labs/lab-19-evaluation-engineering
Source: https://learn.microsoft.com/azure/foundry/concepts/evaluation-evaluators/custom-evaluators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L'Atelier 18.2 exige les vrais artefacts. Sinon la reproduction est bloquée, sans référence inventée. Corriger corpus/instructions ne transforme pas le contrôle historique en réussite. Il s'agit du RAG isolé, pas du graphe de soumission.
Guide: https://devopsabcs-engineering.github.io/foundry-hosted-agents-fsi/fr/evaluation-guide.html
Lab 19: https://devopsabcs-engineering.github.io/foundry-hosted-agents-fsi/fr/labs/lab-19-evaluation-engineering
Source: https://learn.microsoft.com/azure/foundry/how-to/evaluate-generative-ai-app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Quel défaut coûte le plus? Une fausse acceptation d'approbation importe plus qu'une formulation bénigne. Calibrer selon le risque, pas après avoir vu le candidat. L'injection dans une réponse ne doit pas redéfinir la grille.
Guide: https://devopsabcs-engineering.github.io/foundry-hosted-agents-fsi/fr/evaluation-guide.html
Lab 19: https://devopsabcs-engineering.github.io/foundry-hosted-agents-fsi/fr/labs/lab-19-evaluation-engineering
Source: https://learn.microsoft.com/azure/foundry/observability/how-to/cloud-evaluation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CLI complet recapture l'agent et n'isole donc pas le juge. L'Atelier 19.8 fournit le code de réutilisation et d'inspection. Répertoires nouveaux et nombre d'essais prédéfini; pas d'écrasement ni d'arrêt au premier succès.
Guide: https://devopsabcs-engineering.github.io/foundry-hosted-agents-fsi/fr/evaluation-guide.html
Lab 19: https://devopsabcs-engineering.github.io/foundry-hosted-agents-fsi/fr/labs/lab-19-evaluation-engineering
Source: https://learn.microsoft.com/azure/foundry/observability/how-to/cloud-evaluation-datasets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Calculer Wilson dans l'Atelier 19.8. Ne pas traiter trente notes corrélées comme trente cas indépendants. Analyse appariée ou bootstrap par grappes conserve cette dépendance. Un invariant strict ne se négocie pas contre un intervalle.
Guide: https://devopsabcs-engineering.github.io/foundry-hosted-agents-fsi/fr/evaluation-guide.html
Lab 19: https://devopsabcs-engineering.github.io/foundry-hosted-agents-fsi/fr/labs/lab-19-evaluation-engineering
Source: https://learn.microsoft.com/azure/foundry/concepts/built-in-evaluators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Masquer/randomiser l'ordre si possible pour réduire le biais. Présenter raisons et défauts revus par cas, pas seulement delta moyen. Les répétitions ne réparent ni vérité invalide ni couverture absente.
Guide: https://devopsabcs-engineering.github.io/foundry-hosted-agents-fsi/fr/evaluation-guide.html
Lab 19: https://devopsabcs-engineering.github.io/foundry-hosted-agents-fsi/fr/labs/lab-19-evaluation-engineering
Source: https://learn.microsoft.com/azure/foundry/concepts/evaluation-evaluators/agent-evaluators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Trente jugements est une estimation nominale, pas un prix fixe. Le graphe ne tarifie pas par LLM, mais ses juges coûtent. Figer clés de cache et indiquer les captures réutilisées, sans nouvelle inférence.
Guide: https://devopsabcs-engineering.github.io/foundry-hosted-agents-fsi/fr/evaluation-guide.html
Lab 19: https://devopsabcs-engineering.github.io/foundry-hosted-agents-fsi/fr/labs/lab-19-evaluation-engineering
Source: https://learn.microsoft.com/azure/foundry/concepts/evaluation-evaluators/custom-evaluators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CASE004 production a été vérifié : ancien110000 non actuel, correction TRAINING_BASIC puis200/PENDING_REVIEW/READY/90000, IDs concordants, auto-approbation403. Ne pas rejouer aveuglément sur révision2 ni vider les fixtures partagées.
Guide: https://devopsabcs-engineering.github.io/foundry-hosted-agents-fsi/fr/evaluation-guide.html
Lab 19: https://devopsabcs-engineering.github.io/foundry-hosted-agents-fsi/fr/labs/lab-19-evaluation-engineering
Source: https://learn.microsoft.com/azure/foundry/how-to/evaluate-generative-ai-app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L'Atelier 18 exporte des spans réellement ingérés et reconstruit un cas synthétique, pas un prompt privé original. Ne pas inventer de spans modèle. Sans format de trajectoire requis, cette dimension reste non mesurée.
Guide: https://devopsabcs-engineering.github.io/foundry-hosted-agents-fsi/fr/evaluation-guide.html
Lab 19: https://devopsabcs-engineering.github.io/foundry-hosted-agents-fsi/fr/labs/lab-19-evaluation-engineering
Source: https://learn.microsoft.com/azure/foundry/observability/how-to/cloud-evaluation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SystemError concerne la fiabilité, pas une note numérique de qualité modèle. Ne pas élargir l'accès pour diagnostiquer. Un échantillonnage réel exige confidentialité/conservation approuvées. L'atelier reste synthétique.
Guide: https://devopsabcs-engineering.github.io/foundry-hosted-agents-fsi/fr/evaluation-guide.html
Lab 19: https://devopsabcs-engineering.github.io/foundry-hosted-agents-fsi/fr/labs/lab-19-evaluation-engineering
Source: https://learn.microsoft.com/azure/foundry/observability/how-to/cloud-evaluation-datasets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Utiliser la fiche 19.10. La note ne suffit pas; trajectoire absente et contrôles échoués restent visibles. L'atelier n'autorise ni livraison, ni changement de contrôle, ni accès. Séparer exploitation et qualité.
Guide: https://devopsabcs-engineering.github.io/foundry-hosted-agents-fsi/fr/evaluation-guide.html
Lab 19: https://devopsabcs-engineering.github.io/foundry-hosted-agents-fsi/fr/labs/lab-19-evaluation-engineering
Source: https://learn.microsoft.com/azure/foundry/concepts/built-in-evaluators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Réponses : A bloque sur l'autorisation. B sur la complétude. C nécessite correction ou décision explicite selon politique; la moyenne ne cache pas ce risque. D est admissible à la décision protégée, pas approuvé automatiquement par le juge.
Guide: https://devopsabcs-engineering.github.io/foundry-hosted-agents-fsi/fr/evaluation-guide.html
Lab 19: https://devopsabcs-engineering.github.io/foundry-hosted-agents-fsi/fr/labs/lab-19-evaluation-engineering
Source: https://learn.microsoft.com/azure/foundry/concepts/evaluation-evaluators/agent-evaluators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participant nomme un bug mieux détecté par test unitaire, un défaut sémantique manqué par texte exact, un faux positif du juge et une cause non LLM de variation. Séparer portée, incertitude et responsabilité.
Guide: https://devopsabcs-engineering.github.io/foundry-hosted-agents-fsi/fr/evaluation-guide.html
Lab 19: https://devopsabcs-engineering.github.io/foundry-hosted-agents-fsi/fr/labs/lab-19-evaluation-engineering
Source: https://learn.microsoft.com/azure/foundry/concepts/evaluation-evaluators/custom-evaluators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guide et l'atelier sont maintenus dans le dépôt et reliés au programme. Régénérer avec npm run build-evaluation-deck. Références officielles :
https://learn.microsoft.com/azure/foundry/how-to/evaluate-generative-ai-app
https://learn.microsoft.com/azure/foundry/observability/how-to/cloud-evaluation
https://learn.microsoft.com/azure/foundry/observability/how-to/cloud-evaluation-datasets
https://learn.microsoft.com/azure/foundry/concepts/built-in-evaluators
https://learn.microsoft.com/azure/foundry/concepts/evaluation-evaluators/agent-evaluators
https://learn.microsoft.com/azure/foundry/concepts/evaluation-evaluators/custom-evaluators
Preuves : https://github.com/devopsabcs-engineering/foundry-hosted-agents-fsi/wiki/Native-Foundry-Evidence-FR
Guide: https://devopsabcs-engineering.github.io/foundry-hosted-agents-fsi/fr/evaluation-guide.html
Lab 19: https://devopsabcs-engineering.github.io/foundry-hosted-agents-fsi/fr/labs/lab-19-evaluation-engineering
Source: https://learn.microsoft.com/azure/foundry/how-to/evaluate-generative-ai-app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devopsabcs-engineering.github.io/foundry-hosted-agents-fsi/fr/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devopsabcs-engineering.github.io/foundry-hosted-agents-fsi/fr/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devopsabcs-engineering.github.io/foundry-hosted-agents-fsi/fr/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devopsabcs-engineering.github.io/foundry-hosted-agents-fsi/fr/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devopsabcs-engineering.github.io/foundry-hosted-agents-fsi/fr/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devopsabcs-engineering.github.io/foundry-hosted-agents-fsi/fr/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devopsabcs-engineering.github.io/foundry-hosted-agents-fsi/fr/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devopsabcs-engineering.github.io/foundry-hosted-agents-fsi/fr/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devopsabcs-engineering.github.io/foundry-hosted-agents-fsi/fr/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devopsabcs-engineering.github.io/foundry-hosted-agents-fsi/fr/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devopsabcs-engineering.github.io/foundry-hosted-agents-fsi/fr/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devopsabcs-engineering.github.io/foundry-hosted-agents-fsi/fr/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hyperlink" Target="https://devopsabcs-engineering.github.io/foundry-hosted-agents-fsi/assets/evidence/lab19-v6-evaluation-overview-2026-10-23.png" TargetMode="External"/><Relationship Id="rId3" Type="http://schemas.openxmlformats.org/officeDocument/2006/relationships/hyperlink" Target="https://devopsabcs-engineering.github.io/foundry-hosted-agents-fsi/fr/evaluation-guide.html" TargetMode="External"/><Relationship Id="rId1" Type="http://schemas.openxmlformats.org/officeDocument/2006/relationships/image" Target="../media/image-13-1.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hyperlink" Target="https://devopsabcs-engineering.github.io/foundry-hosted-agents-fsi/assets/evidence/lab19-v6-run-results-2026-10-23.png" TargetMode="External"/><Relationship Id="rId3" Type="http://schemas.openxmlformats.org/officeDocument/2006/relationships/hyperlink" Target="https://devopsabcs-engineering.github.io/foundry-hosted-agents-fsi/fr/evaluation-guide.html" TargetMode="External"/><Relationship Id="rId1" Type="http://schemas.openxmlformats.org/officeDocument/2006/relationships/image" Target="../media/image-14-1.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devopsabcs-engineering.github.io/foundry-hosted-agents-fsi/fr/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devopsabcs-engineering.github.io/foundry-hosted-agents-fsi/fr/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devopsabcs-engineering.github.io/foundry-hosted-agents-fsi/fr/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2" Type="http://schemas.openxmlformats.org/officeDocument/2006/relationships/hyperlink" Target="https://devopsabcs-engineering.github.io/foundry-hosted-agents-fsi/assets/evidence/foundry-evaluator-groundedness-v18-2026-10-23.png" TargetMode="External"/><Relationship Id="rId3" Type="http://schemas.openxmlformats.org/officeDocument/2006/relationships/hyperlink" Target="https://devopsabcs-engineering.github.io/foundry-hosted-agents-fsi/fr/evaluation-guide.html" TargetMode="External"/><Relationship Id="rId1" Type="http://schemas.openxmlformats.org/officeDocument/2006/relationships/image" Target="../media/image-18-1.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devopsabcs-engineering.github.io/foundry-hosted-agents-fsi/fr/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devopsabcs-engineering.github.io/foundry-hosted-agents-fsi/fr/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https://devopsabcs-engineering.github.io/foundry-hosted-agents-fsi/fr/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devopsabcs-engineering.github.io/foundry-hosted-agents-fsi/fr/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hyperlink" Target="https://devopsabcs-engineering.github.io/foundry-hosted-agents-fsi/fr/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hyperlink" Target="https://devopsabcs-engineering.github.io/foundry-hosted-agents-fsi/fr/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devopsabcs-engineering.github.io/foundry-hosted-agents-fsi/fr/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hyperlink" Target="https://devopsabcs-engineering.github.io/foundry-hosted-agents-fsi/fr/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hyperlink" Target="https://devopsabcs-engineering.github.io/foundry-hosted-agents-fsi/fr/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hyperlink" Target="https://devopsabcs-engineering.github.io/foundry-hosted-agents-fsi/fr/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devopsabcs-engineering.github.io/foundry-hosted-agents-fsi/fr/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hyperlink" Target="https://devopsabcs-engineering.github.io/foundry-hosted-agents-fsi/fr/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hyperlink" Target="https://devopsabcs-engineering.github.io/foundry-hosted-agents-fsi/fr/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hyperlink" Target="https://devopsabcs-engineering.github.io/foundry-hosted-agents-fsi/fr/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hyperlink" Target="https://devopsabcs-engineering.github.io/foundry-hosted-agents-fsi/fr/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hyperlink" Target="https://devopsabcs-engineering.github.io/foundry-hosted-agents-fsi/fr/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hyperlink" Target="https://devopsabcs-engineering.github.io/foundry-hosted-agents-fsi/fr/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hyperlink" Target="https://devopsabcs-engineering.github.io/foundry-hosted-agents-fsi/fr/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hyperlink" Target="https://devopsabcs-engineering.github.io/foundry-hosted-agents-fsi/fr/evaluation-guide.html" TargetMode="External"/><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B3D"/>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91CEFF"/>
                </a:solidFill>
                <a:latin typeface="Segoe UI" pitchFamily="34" charset="0"/>
                <a:ea typeface="Segoe UI" pitchFamily="34" charset="-122"/>
                <a:cs typeface="Segoe UI" pitchFamily="34" charset="-120"/>
              </a:rPr>
              <a:t>FOUNDRY / INGÉNIERIE DE L’ÉVALUATION</a:t>
            </a:r>
            <a:endParaRPr lang="en-US" sz="1100" dirty="0"/>
          </a:p>
        </p:txBody>
      </p:sp>
      <p:sp>
        <p:nvSpPr>
          <p:cNvPr id="4" name="Text 2"/>
          <p:cNvSpPr/>
          <p:nvPr/>
        </p:nvSpPr>
        <p:spPr>
          <a:xfrm>
            <a:off x="548640" y="1371600"/>
            <a:ext cx="11064240" cy="1097280"/>
          </a:xfrm>
          <a:prstGeom prst="rect">
            <a:avLst/>
          </a:prstGeom>
          <a:noFill/>
          <a:ln/>
        </p:spPr>
        <p:txBody>
          <a:bodyPr wrap="square" lIns="0" tIns="0" rIns="0" bIns="0" rtlCol="0" anchor="ctr"/>
          <a:lstStyle/>
          <a:p>
            <a:pPr indent="0" marL="0">
              <a:buNone/>
            </a:pPr>
            <a:r>
              <a:rPr lang="en-US" sz="3600" b="1" dirty="0">
                <a:solidFill>
                  <a:srgbClr val="FFFFFF"/>
                </a:solidFill>
                <a:latin typeface="Segoe UI" pitchFamily="34" charset="0"/>
                <a:ea typeface="Segoe UI" pitchFamily="34" charset="-122"/>
                <a:cs typeface="Segoe UI" pitchFamily="34" charset="-120"/>
              </a:rPr>
              <a:t>Ingénierie de l'évaluation</a:t>
            </a:r>
            <a:endParaRPr lang="en-US" sz="3600" dirty="0"/>
          </a:p>
        </p:txBody>
      </p:sp>
      <p:sp>
        <p:nvSpPr>
          <p:cNvPr id="5" name="Text 3"/>
          <p:cNvSpPr/>
          <p:nvPr/>
        </p:nvSpPr>
        <p:spPr>
          <a:xfrm>
            <a:off x="594360" y="2926080"/>
            <a:ext cx="10881360" cy="548640"/>
          </a:xfrm>
          <a:prstGeom prst="rect">
            <a:avLst/>
          </a:prstGeom>
          <a:noFill/>
          <a:ln/>
        </p:spPr>
        <p:txBody>
          <a:bodyPr wrap="square" lIns="0" tIns="0" rIns="0" bIns="0" rtlCol="0" anchor="ctr"/>
          <a:lstStyle/>
          <a:p>
            <a:pPr indent="0" marL="0">
              <a:buNone/>
            </a:pPr>
            <a:r>
              <a:rPr lang="en-US" sz="2200" dirty="0">
                <a:solidFill>
                  <a:srgbClr val="DDEEFF"/>
                </a:solidFill>
                <a:latin typeface="Segoe UI" pitchFamily="34" charset="0"/>
                <a:ea typeface="Segoe UI" pitchFamily="34" charset="-122"/>
                <a:cs typeface="Segoe UI" pitchFamily="34" charset="-120"/>
              </a:rPr>
              <a:t>Des contrats exacts aux juges Foundry calibrés</a:t>
            </a:r>
            <a:endParaRPr lang="en-US" sz="2200" dirty="0"/>
          </a:p>
        </p:txBody>
      </p:sp>
      <p:sp>
        <p:nvSpPr>
          <p:cNvPr id="6" name="Text 4"/>
          <p:cNvSpPr/>
          <p:nvPr/>
        </p:nvSpPr>
        <p:spPr>
          <a:xfrm>
            <a:off x="594360" y="3611880"/>
            <a:ext cx="10881360" cy="548640"/>
          </a:xfrm>
          <a:prstGeom prst="rect">
            <a:avLst/>
          </a:prstGeom>
          <a:noFill/>
          <a:ln/>
        </p:spPr>
        <p:txBody>
          <a:bodyPr wrap="square" lIns="0" tIns="0" rIns="0" bIns="0" rtlCol="0" anchor="ctr"/>
          <a:lstStyle/>
          <a:p>
            <a:pPr indent="0" marL="0">
              <a:buNone/>
            </a:pPr>
            <a:r>
              <a:rPr lang="en-US" sz="2200" dirty="0">
                <a:solidFill>
                  <a:srgbClr val="DDEEFF"/>
                </a:solidFill>
                <a:latin typeface="Segoe UI" pitchFamily="34" charset="0"/>
                <a:ea typeface="Segoe UI" pitchFamily="34" charset="-122"/>
                <a:cs typeface="Segoe UI" pitchFamily="34" charset="-120"/>
              </a:rPr>
              <a:t>Agent de soumission | Atelier approfondi et guide pratique</a:t>
            </a:r>
            <a:endParaRPr lang="en-US" sz="2200" dirty="0"/>
          </a:p>
        </p:txBody>
      </p:sp>
      <p:sp>
        <p:nvSpPr>
          <p:cNvPr id="7" name="Text 5"/>
          <p:cNvSpPr/>
          <p:nvPr/>
        </p:nvSpPr>
        <p:spPr>
          <a:xfrm>
            <a:off x="594360" y="5212080"/>
            <a:ext cx="10972800" cy="640080"/>
          </a:xfrm>
          <a:prstGeom prst="rect">
            <a:avLst/>
          </a:prstGeom>
          <a:noFill/>
          <a:ln/>
        </p:spPr>
        <p:txBody>
          <a:bodyPr wrap="square" lIns="0" tIns="0" rIns="0" bIns="0" rtlCol="0" anchor="ctr"/>
          <a:lstStyle/>
          <a:p>
            <a:pPr indent="0" marL="0">
              <a:buNone/>
            </a:pPr>
            <a:r>
              <a:rPr lang="en-US" sz="1400" dirty="0">
                <a:solidFill>
                  <a:srgbClr val="91CEFF"/>
                </a:solidFill>
                <a:latin typeface="Segoe UI" pitchFamily="34" charset="0"/>
                <a:ea typeface="Segoe UI" pitchFamily="34" charset="-122"/>
                <a:cs typeface="Segoe UI" pitchFamily="34" charset="-120"/>
              </a:rPr>
              <a:t>CONTRATS EXACTS  /  JUGES CALIBRÉS  /  DÉCISIONS JUSTIFIÉES</a:t>
            </a:r>
            <a:endParaRPr lang="en-US" sz="1400" dirty="0"/>
          </a:p>
        </p:txBody>
      </p:sp>
      <p:sp>
        <p:nvSpPr>
          <p:cNvPr id="8" name="Text 6">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DDEEFF"/>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Formation synthétique | Guide et Atelier 19</a:t>
            </a:r>
            <a:endParaRPr lang="en-US" sz="1000" dirty="0"/>
          </a:p>
        </p:txBody>
      </p:sp>
      <p:sp>
        <p:nvSpPr>
          <p:cNvPr id="9" name="Text 7"/>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DDEEFF"/>
                </a:solidFill>
                <a:latin typeface="Segoe UI" pitchFamily="34" charset="0"/>
                <a:ea typeface="Segoe UI" pitchFamily="34" charset="-122"/>
                <a:cs typeface="Segoe UI" pitchFamily="34" charset="-120"/>
              </a:rPr>
              <a:t>1 / 37</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INGÉNIERIE DE L’ÉVALUATION</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Ce que vous pourrez justifier</a:t>
            </a:r>
            <a:endParaRPr lang="en-US" sz="2700" dirty="0"/>
          </a:p>
        </p:txBody>
      </p:sp>
      <p:sp>
        <p:nvSpPr>
          <p:cNvPr id="5" name="Text 3"/>
          <p:cNvSpPr/>
          <p:nvPr/>
        </p:nvSpPr>
        <p:spPr>
          <a:xfrm>
            <a:off x="594360" y="1828800"/>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01</a:t>
            </a:r>
            <a:endParaRPr lang="en-US" sz="1700" dirty="0"/>
          </a:p>
        </p:txBody>
      </p:sp>
      <p:sp>
        <p:nvSpPr>
          <p:cNvPr id="6" name="Text 4"/>
          <p:cNvSpPr/>
          <p:nvPr/>
        </p:nvSpPr>
        <p:spPr>
          <a:xfrm>
            <a:off x="1325880" y="1828800"/>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Choisir l'oracle avant l'évaluateur.</a:t>
            </a:r>
            <a:endParaRPr lang="en-US" sz="2000" dirty="0"/>
          </a:p>
        </p:txBody>
      </p:sp>
      <p:sp>
        <p:nvSpPr>
          <p:cNvPr id="7" name="Shape 5"/>
          <p:cNvSpPr/>
          <p:nvPr/>
        </p:nvSpPr>
        <p:spPr>
          <a:xfrm>
            <a:off x="1325880" y="2660904"/>
            <a:ext cx="10149840" cy="0"/>
          </a:xfrm>
          <a:prstGeom prst="line">
            <a:avLst/>
          </a:prstGeom>
          <a:noFill/>
          <a:ln w="6350">
            <a:solidFill>
              <a:srgbClr val="DCE5ED"/>
            </a:solidFill>
            <a:prstDash val="solid"/>
          </a:ln>
        </p:spPr>
      </p:sp>
      <p:sp>
        <p:nvSpPr>
          <p:cNvPr id="8" name="Text 6"/>
          <p:cNvSpPr/>
          <p:nvPr/>
        </p:nvSpPr>
        <p:spPr>
          <a:xfrm>
            <a:off x="594360" y="2770632"/>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02</a:t>
            </a:r>
            <a:endParaRPr lang="en-US" sz="1700" dirty="0"/>
          </a:p>
        </p:txBody>
      </p:sp>
      <p:sp>
        <p:nvSpPr>
          <p:cNvPr id="9" name="Text 7"/>
          <p:cNvSpPr/>
          <p:nvPr/>
        </p:nvSpPr>
        <p:spPr>
          <a:xfrm>
            <a:off x="1325880" y="2770632"/>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Créer une petite expérience native avec vérité indépendante.</a:t>
            </a:r>
            <a:endParaRPr lang="en-US" sz="2000" dirty="0"/>
          </a:p>
        </p:txBody>
      </p:sp>
      <p:sp>
        <p:nvSpPr>
          <p:cNvPr id="10" name="Shape 8"/>
          <p:cNvSpPr/>
          <p:nvPr/>
        </p:nvSpPr>
        <p:spPr>
          <a:xfrm>
            <a:off x="1325880" y="3602736"/>
            <a:ext cx="10149840" cy="0"/>
          </a:xfrm>
          <a:prstGeom prst="line">
            <a:avLst/>
          </a:prstGeom>
          <a:noFill/>
          <a:ln w="6350">
            <a:solidFill>
              <a:srgbClr val="DCE5ED"/>
            </a:solidFill>
            <a:prstDash val="solid"/>
          </a:ln>
        </p:spPr>
      </p:sp>
      <p:sp>
        <p:nvSpPr>
          <p:cNvPr id="11" name="Text 9"/>
          <p:cNvSpPr/>
          <p:nvPr/>
        </p:nvSpPr>
        <p:spPr>
          <a:xfrm>
            <a:off x="594360" y="3712464"/>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03</a:t>
            </a:r>
            <a:endParaRPr lang="en-US" sz="1700" dirty="0"/>
          </a:p>
        </p:txBody>
      </p:sp>
      <p:sp>
        <p:nvSpPr>
          <p:cNvPr id="12" name="Text 10"/>
          <p:cNvSpPr/>
          <p:nvPr/>
        </p:nvSpPr>
        <p:spPr>
          <a:xfrm>
            <a:off x="1325880" y="3712464"/>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Mettre le juge à l’épreuve, répéter et quantifier l’incertitude.</a:t>
            </a:r>
            <a:endParaRPr lang="en-US" sz="2000" dirty="0"/>
          </a:p>
        </p:txBody>
      </p:sp>
      <p:sp>
        <p:nvSpPr>
          <p:cNvPr id="13" name="Shape 11"/>
          <p:cNvSpPr/>
          <p:nvPr/>
        </p:nvSpPr>
        <p:spPr>
          <a:xfrm>
            <a:off x="1325880" y="4544568"/>
            <a:ext cx="10149840" cy="0"/>
          </a:xfrm>
          <a:prstGeom prst="line">
            <a:avLst/>
          </a:prstGeom>
          <a:noFill/>
          <a:ln w="6350">
            <a:solidFill>
              <a:srgbClr val="DCE5ED"/>
            </a:solidFill>
            <a:prstDash val="solid"/>
          </a:ln>
        </p:spPr>
      </p:sp>
      <p:sp>
        <p:nvSpPr>
          <p:cNvPr id="14" name="Text 12"/>
          <p:cNvSpPr/>
          <p:nvPr/>
        </p:nvSpPr>
        <p:spPr>
          <a:xfrm>
            <a:off x="594360" y="4654296"/>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04</a:t>
            </a:r>
            <a:endParaRPr lang="en-US" sz="1700" dirty="0"/>
          </a:p>
        </p:txBody>
      </p:sp>
      <p:sp>
        <p:nvSpPr>
          <p:cNvPr id="15" name="Text 13"/>
          <p:cNvSpPr/>
          <p:nvPr/>
        </p:nvSpPr>
        <p:spPr>
          <a:xfrm>
            <a:off x="1325880" y="4654296"/>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Recommander une livraison par les preuves, pas une capture verte.</a:t>
            </a:r>
            <a:endParaRPr lang="en-US" sz="2000" dirty="0"/>
          </a:p>
        </p:txBody>
      </p:sp>
      <p:sp>
        <p:nvSpPr>
          <p:cNvPr id="16" name="Shape 14"/>
          <p:cNvSpPr/>
          <p:nvPr/>
        </p:nvSpPr>
        <p:spPr>
          <a:xfrm>
            <a:off x="1325880" y="5486400"/>
            <a:ext cx="10149840" cy="0"/>
          </a:xfrm>
          <a:prstGeom prst="line">
            <a:avLst/>
          </a:prstGeom>
          <a:noFill/>
          <a:ln w="6350">
            <a:solidFill>
              <a:srgbClr val="DCE5ED"/>
            </a:solidFill>
            <a:prstDash val="solid"/>
          </a:ln>
        </p:spPr>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Formation synthétique | Guide et Atelier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2 / 37</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INGÉNIERIE DE L’ÉVALUATION</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Ce que fait réellement l’agent</a:t>
            </a:r>
            <a:endParaRPr lang="en-US" sz="2700" dirty="0"/>
          </a:p>
        </p:txBody>
      </p:sp>
      <p:sp>
        <p:nvSpPr>
          <p:cNvPr id="5" name="Shape 3"/>
          <p:cNvSpPr/>
          <p:nvPr/>
        </p:nvSpPr>
        <p:spPr>
          <a:xfrm>
            <a:off x="548640" y="1920240"/>
            <a:ext cx="5394960" cy="1417320"/>
          </a:xfrm>
          <a:prstGeom prst="rect">
            <a:avLst/>
          </a:prstGeom>
          <a:solidFill>
            <a:srgbClr val="EDF4FA"/>
          </a:solidFill>
          <a:ln w="12700">
            <a:solidFill>
              <a:srgbClr val="DCE5ED"/>
            </a:solidFill>
            <a:prstDash val="solid"/>
          </a:ln>
        </p:spPr>
      </p:sp>
      <p:sp>
        <p:nvSpPr>
          <p:cNvPr id="6" name="Text 4"/>
          <p:cNvSpPr/>
          <p:nvPr/>
        </p:nvSpPr>
        <p:spPr>
          <a:xfrm>
            <a:off x="777240" y="2103120"/>
            <a:ext cx="640080" cy="411480"/>
          </a:xfrm>
          <a:prstGeom prst="rect">
            <a:avLst/>
          </a:prstGeom>
          <a:noFill/>
          <a:ln/>
        </p:spPr>
        <p:txBody>
          <a:bodyPr wrap="square" lIns="0" tIns="0" rIns="0" bIns="0" rtlCol="0" anchor="ctr"/>
          <a:lstStyle/>
          <a:p>
            <a:pPr indent="0" marL="0">
              <a:buNone/>
            </a:pPr>
            <a:r>
              <a:rPr lang="en-US" sz="2500" b="1" dirty="0">
                <a:solidFill>
                  <a:srgbClr val="0078D4"/>
                </a:solidFill>
                <a:latin typeface="Segoe UI" pitchFamily="34" charset="0"/>
                <a:ea typeface="Segoe UI" pitchFamily="34" charset="-122"/>
                <a:cs typeface="Segoe UI" pitchFamily="34" charset="-120"/>
              </a:rPr>
              <a:t>01</a:t>
            </a:r>
            <a:endParaRPr lang="en-US" sz="2500" dirty="0"/>
          </a:p>
        </p:txBody>
      </p:sp>
      <p:sp>
        <p:nvSpPr>
          <p:cNvPr id="7" name="Text 5"/>
          <p:cNvSpPr/>
          <p:nvPr/>
        </p:nvSpPr>
        <p:spPr>
          <a:xfrm>
            <a:off x="1508760" y="2103120"/>
            <a:ext cx="4114800" cy="1051560"/>
          </a:xfrm>
          <a:prstGeom prst="rect">
            <a:avLst/>
          </a:prstGeom>
          <a:noFill/>
          <a:ln/>
        </p:spPr>
        <p:txBody>
          <a:bodyPr wrap="square" lIns="0" tIns="0" rIns="0" bIns="0" rtlCol="0" anchor="ctr"/>
          <a:lstStyle/>
          <a:p>
            <a:pPr indent="0" marL="0">
              <a:buNone/>
            </a:pPr>
            <a:r>
              <a:rPr lang="en-US" sz="2100" b="1" dirty="0">
                <a:solidFill>
                  <a:srgbClr val="183449"/>
                </a:solidFill>
                <a:latin typeface="Segoe UI" pitchFamily="34" charset="0"/>
                <a:ea typeface="Segoe UI" pitchFamily="34" charset="-122"/>
                <a:cs typeface="Segoe UI" pitchFamily="34" charset="-120"/>
              </a:rPr>
              <a:t>INTAKE : valider le dossier</a:t>
            </a:r>
            <a:endParaRPr lang="en-US" sz="2100" dirty="0"/>
          </a:p>
        </p:txBody>
      </p:sp>
      <p:sp>
        <p:nvSpPr>
          <p:cNvPr id="8" name="Shape 6"/>
          <p:cNvSpPr/>
          <p:nvPr/>
        </p:nvSpPr>
        <p:spPr>
          <a:xfrm>
            <a:off x="6217920" y="1920240"/>
            <a:ext cx="5394960" cy="1417320"/>
          </a:xfrm>
          <a:prstGeom prst="rect">
            <a:avLst/>
          </a:prstGeom>
          <a:solidFill>
            <a:srgbClr val="EDF4FA"/>
          </a:solidFill>
          <a:ln w="12700">
            <a:solidFill>
              <a:srgbClr val="DCE5ED"/>
            </a:solidFill>
            <a:prstDash val="solid"/>
          </a:ln>
        </p:spPr>
      </p:sp>
      <p:sp>
        <p:nvSpPr>
          <p:cNvPr id="9" name="Text 7"/>
          <p:cNvSpPr/>
          <p:nvPr/>
        </p:nvSpPr>
        <p:spPr>
          <a:xfrm>
            <a:off x="6446520" y="2103120"/>
            <a:ext cx="640080" cy="411480"/>
          </a:xfrm>
          <a:prstGeom prst="rect">
            <a:avLst/>
          </a:prstGeom>
          <a:noFill/>
          <a:ln/>
        </p:spPr>
        <p:txBody>
          <a:bodyPr wrap="square" lIns="0" tIns="0" rIns="0" bIns="0" rtlCol="0" anchor="ctr"/>
          <a:lstStyle/>
          <a:p>
            <a:pPr indent="0" marL="0">
              <a:buNone/>
            </a:pPr>
            <a:r>
              <a:rPr lang="en-US" sz="2500" b="1" dirty="0">
                <a:solidFill>
                  <a:srgbClr val="0078D4"/>
                </a:solidFill>
                <a:latin typeface="Segoe UI" pitchFamily="34" charset="0"/>
                <a:ea typeface="Segoe UI" pitchFamily="34" charset="-122"/>
                <a:cs typeface="Segoe UI" pitchFamily="34" charset="-120"/>
              </a:rPr>
              <a:t>02</a:t>
            </a:r>
            <a:endParaRPr lang="en-US" sz="2500" dirty="0"/>
          </a:p>
        </p:txBody>
      </p:sp>
      <p:sp>
        <p:nvSpPr>
          <p:cNvPr id="10" name="Text 8"/>
          <p:cNvSpPr/>
          <p:nvPr/>
        </p:nvSpPr>
        <p:spPr>
          <a:xfrm>
            <a:off x="7178040" y="2103120"/>
            <a:ext cx="4114800" cy="1051560"/>
          </a:xfrm>
          <a:prstGeom prst="rect">
            <a:avLst/>
          </a:prstGeom>
          <a:noFill/>
          <a:ln/>
        </p:spPr>
        <p:txBody>
          <a:bodyPr wrap="square" lIns="0" tIns="0" rIns="0" bIns="0" rtlCol="0" anchor="ctr"/>
          <a:lstStyle/>
          <a:p>
            <a:pPr indent="0" marL="0">
              <a:buNone/>
            </a:pPr>
            <a:r>
              <a:rPr lang="en-US" sz="2100" b="1" dirty="0">
                <a:solidFill>
                  <a:srgbClr val="183449"/>
                </a:solidFill>
                <a:latin typeface="Segoe UI" pitchFamily="34" charset="0"/>
                <a:ea typeface="Segoe UI" pitchFamily="34" charset="-122"/>
                <a:cs typeface="Segoe UI" pitchFamily="34" charset="-120"/>
              </a:rPr>
              <a:t>REFERENCE_LOOKUP : MCP lecture seule</a:t>
            </a:r>
            <a:endParaRPr lang="en-US" sz="2100" dirty="0"/>
          </a:p>
        </p:txBody>
      </p:sp>
      <p:sp>
        <p:nvSpPr>
          <p:cNvPr id="11" name="Shape 9"/>
          <p:cNvSpPr/>
          <p:nvPr/>
        </p:nvSpPr>
        <p:spPr>
          <a:xfrm>
            <a:off x="548640" y="3749040"/>
            <a:ext cx="5394960" cy="1417320"/>
          </a:xfrm>
          <a:prstGeom prst="rect">
            <a:avLst/>
          </a:prstGeom>
          <a:solidFill>
            <a:srgbClr val="EDF4FA"/>
          </a:solidFill>
          <a:ln w="12700">
            <a:solidFill>
              <a:srgbClr val="DCE5ED"/>
            </a:solidFill>
            <a:prstDash val="solid"/>
          </a:ln>
        </p:spPr>
      </p:sp>
      <p:sp>
        <p:nvSpPr>
          <p:cNvPr id="12" name="Text 10"/>
          <p:cNvSpPr/>
          <p:nvPr/>
        </p:nvSpPr>
        <p:spPr>
          <a:xfrm>
            <a:off x="777240" y="3931920"/>
            <a:ext cx="640080" cy="411480"/>
          </a:xfrm>
          <a:prstGeom prst="rect">
            <a:avLst/>
          </a:prstGeom>
          <a:noFill/>
          <a:ln/>
        </p:spPr>
        <p:txBody>
          <a:bodyPr wrap="square" lIns="0" tIns="0" rIns="0" bIns="0" rtlCol="0" anchor="ctr"/>
          <a:lstStyle/>
          <a:p>
            <a:pPr indent="0" marL="0">
              <a:buNone/>
            </a:pPr>
            <a:r>
              <a:rPr lang="en-US" sz="2500" b="1" dirty="0">
                <a:solidFill>
                  <a:srgbClr val="0078D4"/>
                </a:solidFill>
                <a:latin typeface="Segoe UI" pitchFamily="34" charset="0"/>
                <a:ea typeface="Segoe UI" pitchFamily="34" charset="-122"/>
                <a:cs typeface="Segoe UI" pitchFamily="34" charset="-120"/>
              </a:rPr>
              <a:t>03</a:t>
            </a:r>
            <a:endParaRPr lang="en-US" sz="2500" dirty="0"/>
          </a:p>
        </p:txBody>
      </p:sp>
      <p:sp>
        <p:nvSpPr>
          <p:cNvPr id="13" name="Text 11"/>
          <p:cNvSpPr/>
          <p:nvPr/>
        </p:nvSpPr>
        <p:spPr>
          <a:xfrm>
            <a:off x="1508760" y="3931920"/>
            <a:ext cx="4114800" cy="1051560"/>
          </a:xfrm>
          <a:prstGeom prst="rect">
            <a:avLst/>
          </a:prstGeom>
          <a:noFill/>
          <a:ln/>
        </p:spPr>
        <p:txBody>
          <a:bodyPr wrap="square" lIns="0" tIns="0" rIns="0" bIns="0" rtlCol="0" anchor="ctr"/>
          <a:lstStyle/>
          <a:p>
            <a:pPr indent="0" marL="0">
              <a:buNone/>
            </a:pPr>
            <a:r>
              <a:rPr lang="en-US" sz="2100" b="1" dirty="0">
                <a:solidFill>
                  <a:srgbClr val="183449"/>
                </a:solidFill>
                <a:latin typeface="Segoe UI" pitchFamily="34" charset="0"/>
                <a:ea typeface="Segoe UI" pitchFamily="34" charset="-122"/>
                <a:cs typeface="Segoe UI" pitchFamily="34" charset="-120"/>
              </a:rPr>
              <a:t>COMPOSITION : calculer et persister</a:t>
            </a:r>
            <a:endParaRPr lang="en-US" sz="2100" dirty="0"/>
          </a:p>
        </p:txBody>
      </p:sp>
      <p:sp>
        <p:nvSpPr>
          <p:cNvPr id="14" name="Shape 12"/>
          <p:cNvSpPr/>
          <p:nvPr/>
        </p:nvSpPr>
        <p:spPr>
          <a:xfrm>
            <a:off x="6217920" y="3749040"/>
            <a:ext cx="5394960" cy="1417320"/>
          </a:xfrm>
          <a:prstGeom prst="rect">
            <a:avLst/>
          </a:prstGeom>
          <a:solidFill>
            <a:srgbClr val="EDF4FA"/>
          </a:solidFill>
          <a:ln w="12700">
            <a:solidFill>
              <a:srgbClr val="DCE5ED"/>
            </a:solidFill>
            <a:prstDash val="solid"/>
          </a:ln>
        </p:spPr>
      </p:sp>
      <p:sp>
        <p:nvSpPr>
          <p:cNvPr id="15" name="Text 13"/>
          <p:cNvSpPr/>
          <p:nvPr/>
        </p:nvSpPr>
        <p:spPr>
          <a:xfrm>
            <a:off x="6446520" y="3931920"/>
            <a:ext cx="640080" cy="411480"/>
          </a:xfrm>
          <a:prstGeom prst="rect">
            <a:avLst/>
          </a:prstGeom>
          <a:noFill/>
          <a:ln/>
        </p:spPr>
        <p:txBody>
          <a:bodyPr wrap="square" lIns="0" tIns="0" rIns="0" bIns="0" rtlCol="0" anchor="ctr"/>
          <a:lstStyle/>
          <a:p>
            <a:pPr indent="0" marL="0">
              <a:buNone/>
            </a:pPr>
            <a:r>
              <a:rPr lang="en-US" sz="2500" b="1" dirty="0">
                <a:solidFill>
                  <a:srgbClr val="0078D4"/>
                </a:solidFill>
                <a:latin typeface="Segoe UI" pitchFamily="34" charset="0"/>
                <a:ea typeface="Segoe UI" pitchFamily="34" charset="-122"/>
                <a:cs typeface="Segoe UI" pitchFamily="34" charset="-120"/>
              </a:rPr>
              <a:t>04</a:t>
            </a:r>
            <a:endParaRPr lang="en-US" sz="2500" dirty="0"/>
          </a:p>
        </p:txBody>
      </p:sp>
      <p:sp>
        <p:nvSpPr>
          <p:cNvPr id="16" name="Text 14"/>
          <p:cNvSpPr/>
          <p:nvPr/>
        </p:nvSpPr>
        <p:spPr>
          <a:xfrm>
            <a:off x="7178040" y="3931920"/>
            <a:ext cx="4114800" cy="1051560"/>
          </a:xfrm>
          <a:prstGeom prst="rect">
            <a:avLst/>
          </a:prstGeom>
          <a:noFill/>
          <a:ln/>
        </p:spPr>
        <p:txBody>
          <a:bodyPr wrap="square" lIns="0" tIns="0" rIns="0" bIns="0" rtlCol="0" anchor="ctr"/>
          <a:lstStyle/>
          <a:p>
            <a:pPr indent="0" marL="0">
              <a:buNone/>
            </a:pPr>
            <a:r>
              <a:rPr lang="en-US" sz="2100" b="1" dirty="0">
                <a:solidFill>
                  <a:srgbClr val="183449"/>
                </a:solidFill>
                <a:latin typeface="Segoe UI" pitchFamily="34" charset="0"/>
                <a:ea typeface="Segoe UI" pitchFamily="34" charset="-122"/>
                <a:cs typeface="Segoe UI" pitchFamily="34" charset="-120"/>
              </a:rPr>
              <a:t>Décision employé : réviseur séparé</a:t>
            </a:r>
            <a:endParaRPr lang="en-US" sz="2100" dirty="0"/>
          </a:p>
        </p:txBody>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Formation synthétique | Guide et Atelier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3 / 37</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INGÉNIERIE DE L’ÉVALUATION</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Déterministe versus stochastique</a:t>
            </a:r>
            <a:endParaRPr lang="en-US" sz="2700" dirty="0"/>
          </a:p>
        </p:txBody>
      </p:sp>
      <p:sp>
        <p:nvSpPr>
          <p:cNvPr id="5" name="Shape 3"/>
          <p:cNvSpPr/>
          <p:nvPr/>
        </p:nvSpPr>
        <p:spPr>
          <a:xfrm>
            <a:off x="548640" y="1874520"/>
            <a:ext cx="5394960" cy="3886200"/>
          </a:xfrm>
          <a:prstGeom prst="rect">
            <a:avLst/>
          </a:prstGeom>
          <a:solidFill>
            <a:srgbClr val="EDF4FA"/>
          </a:solidFill>
          <a:ln w="12700">
            <a:solidFill>
              <a:srgbClr val="DCE5ED"/>
            </a:solidFill>
            <a:prstDash val="solid"/>
          </a:ln>
        </p:spPr>
      </p:sp>
      <p:sp>
        <p:nvSpPr>
          <p:cNvPr id="6" name="Text 4"/>
          <p:cNvSpPr/>
          <p:nvPr/>
        </p:nvSpPr>
        <p:spPr>
          <a:xfrm>
            <a:off x="822960" y="2148840"/>
            <a:ext cx="4846320" cy="640080"/>
          </a:xfrm>
          <a:prstGeom prst="rect">
            <a:avLst/>
          </a:prstGeom>
          <a:noFill/>
          <a:ln/>
        </p:spPr>
        <p:txBody>
          <a:bodyPr wrap="square" lIns="0" tIns="0" rIns="0" bIns="0" rtlCol="0" anchor="ctr"/>
          <a:lstStyle/>
          <a:p>
            <a:pPr indent="0" marL="0">
              <a:buNone/>
            </a:pPr>
            <a:r>
              <a:rPr lang="en-US" sz="2300" b="1" dirty="0">
                <a:solidFill>
                  <a:srgbClr val="0078D4"/>
                </a:solidFill>
                <a:latin typeface="Segoe UI" pitchFamily="34" charset="0"/>
                <a:ea typeface="Segoe UI" pitchFamily="34" charset="-122"/>
                <a:cs typeface="Segoe UI" pitchFamily="34" charset="-120"/>
              </a:rPr>
              <a:t>Contrat exact</a:t>
            </a:r>
            <a:endParaRPr lang="en-US" sz="2300" dirty="0"/>
          </a:p>
        </p:txBody>
      </p:sp>
      <p:sp>
        <p:nvSpPr>
          <p:cNvPr id="7" name="Text 5"/>
          <p:cNvSpPr/>
          <p:nvPr/>
        </p:nvSpPr>
        <p:spPr>
          <a:xfrm>
            <a:off x="822960" y="3017520"/>
            <a:ext cx="4846320" cy="594360"/>
          </a:xfrm>
          <a:prstGeom prst="rect">
            <a:avLst/>
          </a:prstGeom>
          <a:noFill/>
          <a:ln/>
        </p:spPr>
        <p:txBody>
          <a:bodyPr wrap="square" lIns="0" tIns="0" rIns="0" bIns="0" rtlCol="0" anchor="ctr"/>
          <a:lstStyle/>
          <a:p>
            <a:pPr indent="0" marL="0">
              <a:buNone/>
            </a:pPr>
            <a:r>
              <a:rPr lang="en-US" sz="1900" dirty="0">
                <a:solidFill>
                  <a:srgbClr val="183449"/>
                </a:solidFill>
                <a:latin typeface="Segoe UI" pitchFamily="34" charset="0"/>
                <a:ea typeface="Segoe UI" pitchFamily="34" charset="-122"/>
                <a:cs typeface="Segoe UI" pitchFamily="34" charset="-120"/>
              </a:rPr>
              <a:t>Même entrée et état contrôlés</a:t>
            </a:r>
            <a:endParaRPr lang="en-US" sz="1900" dirty="0"/>
          </a:p>
        </p:txBody>
      </p:sp>
      <p:sp>
        <p:nvSpPr>
          <p:cNvPr id="8" name="Text 6"/>
          <p:cNvSpPr/>
          <p:nvPr/>
        </p:nvSpPr>
        <p:spPr>
          <a:xfrm>
            <a:off x="822960" y="3794760"/>
            <a:ext cx="4846320" cy="594360"/>
          </a:xfrm>
          <a:prstGeom prst="rect">
            <a:avLst/>
          </a:prstGeom>
          <a:noFill/>
          <a:ln/>
        </p:spPr>
        <p:txBody>
          <a:bodyPr wrap="square" lIns="0" tIns="0" rIns="0" bIns="0" rtlCol="0" anchor="ctr"/>
          <a:lstStyle/>
          <a:p>
            <a:pPr indent="0" marL="0">
              <a:buNone/>
            </a:pPr>
            <a:r>
              <a:rPr lang="en-US" sz="1900" dirty="0">
                <a:solidFill>
                  <a:srgbClr val="183449"/>
                </a:solidFill>
                <a:latin typeface="Segoe UI" pitchFamily="34" charset="0"/>
                <a:ea typeface="Segoe UI" pitchFamily="34" charset="-122"/>
                <a:cs typeface="Segoe UI" pitchFamily="34" charset="-120"/>
              </a:rPr>
              <a:t>Schéma, montant, transition, rôle</a:t>
            </a:r>
            <a:endParaRPr lang="en-US" sz="1900" dirty="0"/>
          </a:p>
        </p:txBody>
      </p:sp>
      <p:sp>
        <p:nvSpPr>
          <p:cNvPr id="9" name="Text 7"/>
          <p:cNvSpPr/>
          <p:nvPr/>
        </p:nvSpPr>
        <p:spPr>
          <a:xfrm>
            <a:off x="822960" y="4572000"/>
            <a:ext cx="4846320" cy="594360"/>
          </a:xfrm>
          <a:prstGeom prst="rect">
            <a:avLst/>
          </a:prstGeom>
          <a:noFill/>
          <a:ln/>
        </p:spPr>
        <p:txBody>
          <a:bodyPr wrap="square" lIns="0" tIns="0" rIns="0" bIns="0" rtlCol="0" anchor="ctr"/>
          <a:lstStyle/>
          <a:p>
            <a:pPr indent="0" marL="0">
              <a:buNone/>
            </a:pPr>
            <a:r>
              <a:rPr lang="en-US" sz="1900" dirty="0">
                <a:solidFill>
                  <a:srgbClr val="183449"/>
                </a:solidFill>
                <a:latin typeface="Segoe UI" pitchFamily="34" charset="0"/>
                <a:ea typeface="Segoe UI" pitchFamily="34" charset="-122"/>
                <a:cs typeface="Segoe UI" pitchFamily="34" charset="-120"/>
              </a:rPr>
              <a:t>Un invariant violé bloque</a:t>
            </a:r>
            <a:endParaRPr lang="en-US" sz="1900" dirty="0"/>
          </a:p>
        </p:txBody>
      </p:sp>
      <p:sp>
        <p:nvSpPr>
          <p:cNvPr id="10" name="Shape 8"/>
          <p:cNvSpPr/>
          <p:nvPr/>
        </p:nvSpPr>
        <p:spPr>
          <a:xfrm>
            <a:off x="6217920" y="1874520"/>
            <a:ext cx="5394960" cy="3886200"/>
          </a:xfrm>
          <a:prstGeom prst="rect">
            <a:avLst/>
          </a:prstGeom>
          <a:solidFill>
            <a:srgbClr val="EDF4FA"/>
          </a:solidFill>
          <a:ln w="12700">
            <a:solidFill>
              <a:srgbClr val="DCE5ED"/>
            </a:solidFill>
            <a:prstDash val="solid"/>
          </a:ln>
        </p:spPr>
      </p:sp>
      <p:sp>
        <p:nvSpPr>
          <p:cNvPr id="11" name="Text 9"/>
          <p:cNvSpPr/>
          <p:nvPr/>
        </p:nvSpPr>
        <p:spPr>
          <a:xfrm>
            <a:off x="6492240" y="2148840"/>
            <a:ext cx="4846320" cy="640080"/>
          </a:xfrm>
          <a:prstGeom prst="rect">
            <a:avLst/>
          </a:prstGeom>
          <a:noFill/>
          <a:ln/>
        </p:spPr>
        <p:txBody>
          <a:bodyPr wrap="square" lIns="0" tIns="0" rIns="0" bIns="0" rtlCol="0" anchor="ctr"/>
          <a:lstStyle/>
          <a:p>
            <a:pPr indent="0" marL="0">
              <a:buNone/>
            </a:pPr>
            <a:r>
              <a:rPr lang="en-US" sz="2300" b="1" dirty="0">
                <a:solidFill>
                  <a:srgbClr val="0078D4"/>
                </a:solidFill>
                <a:latin typeface="Segoe UI" pitchFamily="34" charset="0"/>
                <a:ea typeface="Segoe UI" pitchFamily="34" charset="-122"/>
                <a:cs typeface="Segoe UI" pitchFamily="34" charset="-120"/>
              </a:rPr>
              <a:t>Jugement échantillonné</a:t>
            </a:r>
            <a:endParaRPr lang="en-US" sz="2300" dirty="0"/>
          </a:p>
        </p:txBody>
      </p:sp>
      <p:sp>
        <p:nvSpPr>
          <p:cNvPr id="12" name="Text 10"/>
          <p:cNvSpPr/>
          <p:nvPr/>
        </p:nvSpPr>
        <p:spPr>
          <a:xfrm>
            <a:off x="6492240" y="3017520"/>
            <a:ext cx="4846320" cy="594360"/>
          </a:xfrm>
          <a:prstGeom prst="rect">
            <a:avLst/>
          </a:prstGeom>
          <a:noFill/>
          <a:ln/>
        </p:spPr>
        <p:txBody>
          <a:bodyPr wrap="square" lIns="0" tIns="0" rIns="0" bIns="0" rtlCol="0" anchor="ctr"/>
          <a:lstStyle/>
          <a:p>
            <a:pPr indent="0" marL="0">
              <a:buNone/>
            </a:pPr>
            <a:r>
              <a:rPr lang="en-US" sz="1900" dirty="0">
                <a:solidFill>
                  <a:srgbClr val="183449"/>
                </a:solidFill>
                <a:latin typeface="Segoe UI" pitchFamily="34" charset="0"/>
                <a:ea typeface="Segoe UI" pitchFamily="34" charset="-122"/>
                <a:cs typeface="Segoe UI" pitchFamily="34" charset="-120"/>
              </a:rPr>
              <a:t>Génération ou juge variable</a:t>
            </a:r>
            <a:endParaRPr lang="en-US" sz="1900" dirty="0"/>
          </a:p>
        </p:txBody>
      </p:sp>
      <p:sp>
        <p:nvSpPr>
          <p:cNvPr id="13" name="Text 11"/>
          <p:cNvSpPr/>
          <p:nvPr/>
        </p:nvSpPr>
        <p:spPr>
          <a:xfrm>
            <a:off x="6492240" y="3794760"/>
            <a:ext cx="4846320" cy="594360"/>
          </a:xfrm>
          <a:prstGeom prst="rect">
            <a:avLst/>
          </a:prstGeom>
          <a:noFill/>
          <a:ln/>
        </p:spPr>
        <p:txBody>
          <a:bodyPr wrap="square" lIns="0" tIns="0" rIns="0" bIns="0" rtlCol="0" anchor="ctr"/>
          <a:lstStyle/>
          <a:p>
            <a:pPr indent="0" marL="0">
              <a:buNone/>
            </a:pPr>
            <a:r>
              <a:rPr lang="en-US" sz="1900" dirty="0">
                <a:solidFill>
                  <a:srgbClr val="183449"/>
                </a:solidFill>
                <a:latin typeface="Segoe UI" pitchFamily="34" charset="0"/>
                <a:ea typeface="Segoe UI" pitchFamily="34" charset="-122"/>
                <a:cs typeface="Segoe UI" pitchFamily="34" charset="-120"/>
              </a:rPr>
              <a:t>Sens, ancrage, utilité</a:t>
            </a:r>
            <a:endParaRPr lang="en-US" sz="1900" dirty="0"/>
          </a:p>
        </p:txBody>
      </p:sp>
      <p:sp>
        <p:nvSpPr>
          <p:cNvPr id="14" name="Text 12"/>
          <p:cNvSpPr/>
          <p:nvPr/>
        </p:nvSpPr>
        <p:spPr>
          <a:xfrm>
            <a:off x="6492240" y="4572000"/>
            <a:ext cx="4846320" cy="594360"/>
          </a:xfrm>
          <a:prstGeom prst="rect">
            <a:avLst/>
          </a:prstGeom>
          <a:noFill/>
          <a:ln/>
        </p:spPr>
        <p:txBody>
          <a:bodyPr wrap="square" lIns="0" tIns="0" rIns="0" bIns="0" rtlCol="0" anchor="ctr"/>
          <a:lstStyle/>
          <a:p>
            <a:pPr indent="0" marL="0">
              <a:buNone/>
            </a:pPr>
            <a:r>
              <a:rPr lang="en-US" sz="1900" dirty="0">
                <a:solidFill>
                  <a:srgbClr val="183449"/>
                </a:solidFill>
                <a:latin typeface="Segoe UI" pitchFamily="34" charset="0"/>
                <a:ea typeface="Segoe UI" pitchFamily="34" charset="-122"/>
                <a:cs typeface="Segoe UI" pitchFamily="34" charset="-120"/>
              </a:rPr>
              <a:t>Calibration et incertitude</a:t>
            </a:r>
            <a:endParaRPr lang="en-US" sz="1900" dirty="0"/>
          </a:p>
        </p:txBody>
      </p:sp>
      <p:sp>
        <p:nvSpPr>
          <p:cNvPr id="15" name="Text 13">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Formation synthétique | Guide et Atelier 19</a:t>
            </a:r>
            <a:endParaRPr lang="en-US" sz="1000" dirty="0"/>
          </a:p>
        </p:txBody>
      </p:sp>
      <p:sp>
        <p:nvSpPr>
          <p:cNvPr id="16" name="Text 14"/>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4 / 37</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INGÉNIERIE DE L’ÉVALUATION</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Un invariant strict n’est pas un sondage</a:t>
            </a:r>
            <a:endParaRPr lang="en-US" sz="2700" dirty="0"/>
          </a:p>
        </p:txBody>
      </p:sp>
      <p:sp>
        <p:nvSpPr>
          <p:cNvPr id="5" name="Text 3"/>
          <p:cNvSpPr/>
          <p:nvPr/>
        </p:nvSpPr>
        <p:spPr>
          <a:xfrm>
            <a:off x="594360" y="1828800"/>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01</a:t>
            </a:r>
            <a:endParaRPr lang="en-US" sz="1700" dirty="0"/>
          </a:p>
        </p:txBody>
      </p:sp>
      <p:sp>
        <p:nvSpPr>
          <p:cNvPr id="6" name="Text 4"/>
          <p:cNvSpPr/>
          <p:nvPr/>
        </p:nvSpPr>
        <p:spPr>
          <a:xfrm>
            <a:off x="1325880" y="1828800"/>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Aucun montant inventé pour INCOMPLETE ou UNSUPPORTED.</a:t>
            </a:r>
            <a:endParaRPr lang="en-US" sz="2000" dirty="0"/>
          </a:p>
        </p:txBody>
      </p:sp>
      <p:sp>
        <p:nvSpPr>
          <p:cNvPr id="7" name="Shape 5"/>
          <p:cNvSpPr/>
          <p:nvPr/>
        </p:nvSpPr>
        <p:spPr>
          <a:xfrm>
            <a:off x="1325880" y="2660904"/>
            <a:ext cx="10149840" cy="0"/>
          </a:xfrm>
          <a:prstGeom prst="line">
            <a:avLst/>
          </a:prstGeom>
          <a:noFill/>
          <a:ln w="6350">
            <a:solidFill>
              <a:srgbClr val="DCE5ED"/>
            </a:solidFill>
            <a:prstDash val="solid"/>
          </a:ln>
        </p:spPr>
      </p:sp>
      <p:sp>
        <p:nvSpPr>
          <p:cNvPr id="8" name="Text 6"/>
          <p:cNvSpPr/>
          <p:nvPr/>
        </p:nvSpPr>
        <p:spPr>
          <a:xfrm>
            <a:off x="594360" y="2770632"/>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02</a:t>
            </a:r>
            <a:endParaRPr lang="en-US" sz="1700" dirty="0"/>
          </a:p>
        </p:txBody>
      </p:sp>
      <p:sp>
        <p:nvSpPr>
          <p:cNvPr id="9" name="Text 7"/>
          <p:cNvSpPr/>
          <p:nvPr/>
        </p:nvSpPr>
        <p:spPr>
          <a:xfrm>
            <a:off x="1325880" y="2770632"/>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Aucune auto-approbation : préparateur et décideur distincts.</a:t>
            </a:r>
            <a:endParaRPr lang="en-US" sz="2000" dirty="0"/>
          </a:p>
        </p:txBody>
      </p:sp>
      <p:sp>
        <p:nvSpPr>
          <p:cNvPr id="10" name="Shape 8"/>
          <p:cNvSpPr/>
          <p:nvPr/>
        </p:nvSpPr>
        <p:spPr>
          <a:xfrm>
            <a:off x="1325880" y="3602736"/>
            <a:ext cx="10149840" cy="0"/>
          </a:xfrm>
          <a:prstGeom prst="line">
            <a:avLst/>
          </a:prstGeom>
          <a:noFill/>
          <a:ln w="6350">
            <a:solidFill>
              <a:srgbClr val="DCE5ED"/>
            </a:solidFill>
            <a:prstDash val="solid"/>
          </a:ln>
        </p:spPr>
      </p:sp>
      <p:sp>
        <p:nvSpPr>
          <p:cNvPr id="11" name="Text 9"/>
          <p:cNvSpPr/>
          <p:nvPr/>
        </p:nvSpPr>
        <p:spPr>
          <a:xfrm>
            <a:off x="594360" y="3712464"/>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03</a:t>
            </a:r>
            <a:endParaRPr lang="en-US" sz="1700" dirty="0"/>
          </a:p>
        </p:txBody>
      </p:sp>
      <p:sp>
        <p:nvSpPr>
          <p:cNvPr id="12" name="Text 10"/>
          <p:cNvSpPr/>
          <p:nvPr/>
        </p:nvSpPr>
        <p:spPr>
          <a:xfrm>
            <a:off x="1325880" y="3712464"/>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Le message demandeur ne divulgue pas la prime employé.</a:t>
            </a:r>
            <a:endParaRPr lang="en-US" sz="2000" dirty="0"/>
          </a:p>
        </p:txBody>
      </p:sp>
      <p:sp>
        <p:nvSpPr>
          <p:cNvPr id="13" name="Shape 11"/>
          <p:cNvSpPr/>
          <p:nvPr/>
        </p:nvSpPr>
        <p:spPr>
          <a:xfrm>
            <a:off x="1325880" y="4544568"/>
            <a:ext cx="10149840" cy="0"/>
          </a:xfrm>
          <a:prstGeom prst="line">
            <a:avLst/>
          </a:prstGeom>
          <a:noFill/>
          <a:ln w="6350">
            <a:solidFill>
              <a:srgbClr val="DCE5ED"/>
            </a:solidFill>
            <a:prstDash val="solid"/>
          </a:ln>
        </p:spPr>
      </p:sp>
      <p:sp>
        <p:nvSpPr>
          <p:cNvPr id="14" name="Text 12"/>
          <p:cNvSpPr/>
          <p:nvPr/>
        </p:nvSpPr>
        <p:spPr>
          <a:xfrm>
            <a:off x="594360" y="4654296"/>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04</a:t>
            </a:r>
            <a:endParaRPr lang="en-US" sz="1700" dirty="0"/>
          </a:p>
        </p:txBody>
      </p:sp>
      <p:sp>
        <p:nvSpPr>
          <p:cNvPr id="15" name="Text 13"/>
          <p:cNvSpPr/>
          <p:nvPr/>
        </p:nvSpPr>
        <p:spPr>
          <a:xfrm>
            <a:off x="1325880" y="4654296"/>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Révision, ETag, idempotence et journal doivent concorder.</a:t>
            </a:r>
            <a:endParaRPr lang="en-US" sz="2000" dirty="0"/>
          </a:p>
        </p:txBody>
      </p:sp>
      <p:sp>
        <p:nvSpPr>
          <p:cNvPr id="16" name="Shape 14"/>
          <p:cNvSpPr/>
          <p:nvPr/>
        </p:nvSpPr>
        <p:spPr>
          <a:xfrm>
            <a:off x="1325880" y="5486400"/>
            <a:ext cx="10149840" cy="0"/>
          </a:xfrm>
          <a:prstGeom prst="line">
            <a:avLst/>
          </a:prstGeom>
          <a:noFill/>
          <a:ln w="6350">
            <a:solidFill>
              <a:srgbClr val="DCE5ED"/>
            </a:solidFill>
            <a:prstDash val="solid"/>
          </a:ln>
        </p:spPr>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Formation synthétique | Guide et Atelier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5 / 37</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INGÉNIERIE DE L’ÉVALUATION</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La progression des preuves</a:t>
            </a:r>
            <a:endParaRPr lang="en-US" sz="2700" dirty="0"/>
          </a:p>
        </p:txBody>
      </p:sp>
      <p:sp>
        <p:nvSpPr>
          <p:cNvPr id="5" name="Shape 3"/>
          <p:cNvSpPr/>
          <p:nvPr/>
        </p:nvSpPr>
        <p:spPr>
          <a:xfrm>
            <a:off x="548640" y="1920240"/>
            <a:ext cx="5394960" cy="1417320"/>
          </a:xfrm>
          <a:prstGeom prst="rect">
            <a:avLst/>
          </a:prstGeom>
          <a:solidFill>
            <a:srgbClr val="EDF4FA"/>
          </a:solidFill>
          <a:ln w="12700">
            <a:solidFill>
              <a:srgbClr val="DCE5ED"/>
            </a:solidFill>
            <a:prstDash val="solid"/>
          </a:ln>
        </p:spPr>
      </p:sp>
      <p:sp>
        <p:nvSpPr>
          <p:cNvPr id="6" name="Text 4"/>
          <p:cNvSpPr/>
          <p:nvPr/>
        </p:nvSpPr>
        <p:spPr>
          <a:xfrm>
            <a:off x="777240" y="2103120"/>
            <a:ext cx="640080" cy="411480"/>
          </a:xfrm>
          <a:prstGeom prst="rect">
            <a:avLst/>
          </a:prstGeom>
          <a:noFill/>
          <a:ln/>
        </p:spPr>
        <p:txBody>
          <a:bodyPr wrap="square" lIns="0" tIns="0" rIns="0" bIns="0" rtlCol="0" anchor="ctr"/>
          <a:lstStyle/>
          <a:p>
            <a:pPr indent="0" marL="0">
              <a:buNone/>
            </a:pPr>
            <a:r>
              <a:rPr lang="en-US" sz="2500" b="1" dirty="0">
                <a:solidFill>
                  <a:srgbClr val="0078D4"/>
                </a:solidFill>
                <a:latin typeface="Segoe UI" pitchFamily="34" charset="0"/>
                <a:ea typeface="Segoe UI" pitchFamily="34" charset="-122"/>
                <a:cs typeface="Segoe UI" pitchFamily="34" charset="-120"/>
              </a:rPr>
              <a:t>01</a:t>
            </a:r>
            <a:endParaRPr lang="en-US" sz="2500" dirty="0"/>
          </a:p>
        </p:txBody>
      </p:sp>
      <p:sp>
        <p:nvSpPr>
          <p:cNvPr id="7" name="Text 5"/>
          <p:cNvSpPr/>
          <p:nvPr/>
        </p:nvSpPr>
        <p:spPr>
          <a:xfrm>
            <a:off x="1508760" y="2103120"/>
            <a:ext cx="4114800" cy="1051560"/>
          </a:xfrm>
          <a:prstGeom prst="rect">
            <a:avLst/>
          </a:prstGeom>
          <a:noFill/>
          <a:ln/>
        </p:spPr>
        <p:txBody>
          <a:bodyPr wrap="square" lIns="0" tIns="0" rIns="0" bIns="0" rtlCol="0" anchor="ctr"/>
          <a:lstStyle/>
          <a:p>
            <a:pPr indent="0" marL="0">
              <a:buNone/>
            </a:pPr>
            <a:r>
              <a:rPr lang="en-US" sz="2100" b="1" dirty="0">
                <a:solidFill>
                  <a:srgbClr val="183449"/>
                </a:solidFill>
                <a:latin typeface="Segoe UI" pitchFamily="34" charset="0"/>
                <a:ea typeface="Segoe UI" pitchFamily="34" charset="-122"/>
                <a:cs typeface="Segoe UI" pitchFamily="34" charset="-120"/>
              </a:rPr>
              <a:t>Contrats locaux et golden gate</a:t>
            </a:r>
            <a:endParaRPr lang="en-US" sz="2100" dirty="0"/>
          </a:p>
        </p:txBody>
      </p:sp>
      <p:sp>
        <p:nvSpPr>
          <p:cNvPr id="8" name="Shape 6"/>
          <p:cNvSpPr/>
          <p:nvPr/>
        </p:nvSpPr>
        <p:spPr>
          <a:xfrm>
            <a:off x="6217920" y="1920240"/>
            <a:ext cx="5394960" cy="1417320"/>
          </a:xfrm>
          <a:prstGeom prst="rect">
            <a:avLst/>
          </a:prstGeom>
          <a:solidFill>
            <a:srgbClr val="EDF4FA"/>
          </a:solidFill>
          <a:ln w="12700">
            <a:solidFill>
              <a:srgbClr val="DCE5ED"/>
            </a:solidFill>
            <a:prstDash val="solid"/>
          </a:ln>
        </p:spPr>
      </p:sp>
      <p:sp>
        <p:nvSpPr>
          <p:cNvPr id="9" name="Text 7"/>
          <p:cNvSpPr/>
          <p:nvPr/>
        </p:nvSpPr>
        <p:spPr>
          <a:xfrm>
            <a:off x="6446520" y="2103120"/>
            <a:ext cx="640080" cy="411480"/>
          </a:xfrm>
          <a:prstGeom prst="rect">
            <a:avLst/>
          </a:prstGeom>
          <a:noFill/>
          <a:ln/>
        </p:spPr>
        <p:txBody>
          <a:bodyPr wrap="square" lIns="0" tIns="0" rIns="0" bIns="0" rtlCol="0" anchor="ctr"/>
          <a:lstStyle/>
          <a:p>
            <a:pPr indent="0" marL="0">
              <a:buNone/>
            </a:pPr>
            <a:r>
              <a:rPr lang="en-US" sz="2500" b="1" dirty="0">
                <a:solidFill>
                  <a:srgbClr val="0078D4"/>
                </a:solidFill>
                <a:latin typeface="Segoe UI" pitchFamily="34" charset="0"/>
                <a:ea typeface="Segoe UI" pitchFamily="34" charset="-122"/>
                <a:cs typeface="Segoe UI" pitchFamily="34" charset="-120"/>
              </a:rPr>
              <a:t>02</a:t>
            </a:r>
            <a:endParaRPr lang="en-US" sz="2500" dirty="0"/>
          </a:p>
        </p:txBody>
      </p:sp>
      <p:sp>
        <p:nvSpPr>
          <p:cNvPr id="10" name="Text 8"/>
          <p:cNvSpPr/>
          <p:nvPr/>
        </p:nvSpPr>
        <p:spPr>
          <a:xfrm>
            <a:off x="7178040" y="2103120"/>
            <a:ext cx="4114800" cy="1051560"/>
          </a:xfrm>
          <a:prstGeom prst="rect">
            <a:avLst/>
          </a:prstGeom>
          <a:noFill/>
          <a:ln/>
        </p:spPr>
        <p:txBody>
          <a:bodyPr wrap="square" lIns="0" tIns="0" rIns="0" bIns="0" rtlCol="0" anchor="ctr"/>
          <a:lstStyle/>
          <a:p>
            <a:pPr indent="0" marL="0">
              <a:buNone/>
            </a:pPr>
            <a:r>
              <a:rPr lang="en-US" sz="2100" b="1" dirty="0">
                <a:solidFill>
                  <a:srgbClr val="183449"/>
                </a:solidFill>
                <a:latin typeface="Segoe UI" pitchFamily="34" charset="0"/>
                <a:ea typeface="Segoe UI" pitchFamily="34" charset="-122"/>
                <a:cs typeface="Segoe UI" pitchFamily="34" charset="-120"/>
              </a:rPr>
              <a:t>Réponse réelle et juges natifs</a:t>
            </a:r>
            <a:endParaRPr lang="en-US" sz="2100" dirty="0"/>
          </a:p>
        </p:txBody>
      </p:sp>
      <p:sp>
        <p:nvSpPr>
          <p:cNvPr id="11" name="Shape 9"/>
          <p:cNvSpPr/>
          <p:nvPr/>
        </p:nvSpPr>
        <p:spPr>
          <a:xfrm>
            <a:off x="548640" y="3749040"/>
            <a:ext cx="5394960" cy="1417320"/>
          </a:xfrm>
          <a:prstGeom prst="rect">
            <a:avLst/>
          </a:prstGeom>
          <a:solidFill>
            <a:srgbClr val="EDF4FA"/>
          </a:solidFill>
          <a:ln w="12700">
            <a:solidFill>
              <a:srgbClr val="DCE5ED"/>
            </a:solidFill>
            <a:prstDash val="solid"/>
          </a:ln>
        </p:spPr>
      </p:sp>
      <p:sp>
        <p:nvSpPr>
          <p:cNvPr id="12" name="Text 10"/>
          <p:cNvSpPr/>
          <p:nvPr/>
        </p:nvSpPr>
        <p:spPr>
          <a:xfrm>
            <a:off x="777240" y="3931920"/>
            <a:ext cx="640080" cy="411480"/>
          </a:xfrm>
          <a:prstGeom prst="rect">
            <a:avLst/>
          </a:prstGeom>
          <a:noFill/>
          <a:ln/>
        </p:spPr>
        <p:txBody>
          <a:bodyPr wrap="square" lIns="0" tIns="0" rIns="0" bIns="0" rtlCol="0" anchor="ctr"/>
          <a:lstStyle/>
          <a:p>
            <a:pPr indent="0" marL="0">
              <a:buNone/>
            </a:pPr>
            <a:r>
              <a:rPr lang="en-US" sz="2500" b="1" dirty="0">
                <a:solidFill>
                  <a:srgbClr val="0078D4"/>
                </a:solidFill>
                <a:latin typeface="Segoe UI" pitchFamily="34" charset="0"/>
                <a:ea typeface="Segoe UI" pitchFamily="34" charset="-122"/>
                <a:cs typeface="Segoe UI" pitchFamily="34" charset="-120"/>
              </a:rPr>
              <a:t>03</a:t>
            </a:r>
            <a:endParaRPr lang="en-US" sz="2500" dirty="0"/>
          </a:p>
        </p:txBody>
      </p:sp>
      <p:sp>
        <p:nvSpPr>
          <p:cNvPr id="13" name="Text 11"/>
          <p:cNvSpPr/>
          <p:nvPr/>
        </p:nvSpPr>
        <p:spPr>
          <a:xfrm>
            <a:off x="1508760" y="3931920"/>
            <a:ext cx="4114800" cy="1051560"/>
          </a:xfrm>
          <a:prstGeom prst="rect">
            <a:avLst/>
          </a:prstGeom>
          <a:noFill/>
          <a:ln/>
        </p:spPr>
        <p:txBody>
          <a:bodyPr wrap="square" lIns="0" tIns="0" rIns="0" bIns="0" rtlCol="0" anchor="ctr"/>
          <a:lstStyle/>
          <a:p>
            <a:pPr indent="0" marL="0">
              <a:buNone/>
            </a:pPr>
            <a:r>
              <a:rPr lang="en-US" sz="2100" b="1" dirty="0">
                <a:solidFill>
                  <a:srgbClr val="183449"/>
                </a:solidFill>
                <a:latin typeface="Segoe UI" pitchFamily="34" charset="0"/>
                <a:ea typeface="Segoe UI" pitchFamily="34" charset="-122"/>
                <a:cs typeface="Segoe UI" pitchFamily="34" charset="-120"/>
              </a:rPr>
              <a:t>Calibration et réserve répétée</a:t>
            </a:r>
            <a:endParaRPr lang="en-US" sz="2100" dirty="0"/>
          </a:p>
        </p:txBody>
      </p:sp>
      <p:sp>
        <p:nvSpPr>
          <p:cNvPr id="14" name="Shape 12"/>
          <p:cNvSpPr/>
          <p:nvPr/>
        </p:nvSpPr>
        <p:spPr>
          <a:xfrm>
            <a:off x="6217920" y="3749040"/>
            <a:ext cx="5394960" cy="1417320"/>
          </a:xfrm>
          <a:prstGeom prst="rect">
            <a:avLst/>
          </a:prstGeom>
          <a:solidFill>
            <a:srgbClr val="EDF4FA"/>
          </a:solidFill>
          <a:ln w="12700">
            <a:solidFill>
              <a:srgbClr val="DCE5ED"/>
            </a:solidFill>
            <a:prstDash val="solid"/>
          </a:ln>
        </p:spPr>
      </p:sp>
      <p:sp>
        <p:nvSpPr>
          <p:cNvPr id="15" name="Text 13"/>
          <p:cNvSpPr/>
          <p:nvPr/>
        </p:nvSpPr>
        <p:spPr>
          <a:xfrm>
            <a:off x="6446520" y="3931920"/>
            <a:ext cx="640080" cy="411480"/>
          </a:xfrm>
          <a:prstGeom prst="rect">
            <a:avLst/>
          </a:prstGeom>
          <a:noFill/>
          <a:ln/>
        </p:spPr>
        <p:txBody>
          <a:bodyPr wrap="square" lIns="0" tIns="0" rIns="0" bIns="0" rtlCol="0" anchor="ctr"/>
          <a:lstStyle/>
          <a:p>
            <a:pPr indent="0" marL="0">
              <a:buNone/>
            </a:pPr>
            <a:r>
              <a:rPr lang="en-US" sz="2500" b="1" dirty="0">
                <a:solidFill>
                  <a:srgbClr val="0078D4"/>
                </a:solidFill>
                <a:latin typeface="Segoe UI" pitchFamily="34" charset="0"/>
                <a:ea typeface="Segoe UI" pitchFamily="34" charset="-122"/>
                <a:cs typeface="Segoe UI" pitchFamily="34" charset="-120"/>
              </a:rPr>
              <a:t>04</a:t>
            </a:r>
            <a:endParaRPr lang="en-US" sz="2500" dirty="0"/>
          </a:p>
        </p:txBody>
      </p:sp>
      <p:sp>
        <p:nvSpPr>
          <p:cNvPr id="16" name="Text 14"/>
          <p:cNvSpPr/>
          <p:nvPr/>
        </p:nvSpPr>
        <p:spPr>
          <a:xfrm>
            <a:off x="7178040" y="3931920"/>
            <a:ext cx="4114800" cy="1051560"/>
          </a:xfrm>
          <a:prstGeom prst="rect">
            <a:avLst/>
          </a:prstGeom>
          <a:noFill/>
          <a:ln/>
        </p:spPr>
        <p:txBody>
          <a:bodyPr wrap="square" lIns="0" tIns="0" rIns="0" bIns="0" rtlCol="0" anchor="ctr"/>
          <a:lstStyle/>
          <a:p>
            <a:pPr indent="0" marL="0">
              <a:buNone/>
            </a:pPr>
            <a:r>
              <a:rPr lang="en-US" sz="2100" b="1" dirty="0">
                <a:solidFill>
                  <a:srgbClr val="183449"/>
                </a:solidFill>
                <a:latin typeface="Segoe UI" pitchFamily="34" charset="0"/>
                <a:ea typeface="Segoe UI" pitchFamily="34" charset="-122"/>
                <a:cs typeface="Segoe UI" pitchFamily="34" charset="-120"/>
              </a:rPr>
              <a:t>Acceptation avec état et suivi</a:t>
            </a:r>
            <a:endParaRPr lang="en-US" sz="2100" dirty="0"/>
          </a:p>
        </p:txBody>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Formation synthétique | Guide et Atelier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6 / 37</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INGÉNIERIE DE L’ÉVALUATION</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Cinq cas initiaux, pas une couverture complète</a:t>
            </a:r>
            <a:endParaRPr lang="en-US" sz="2700" dirty="0"/>
          </a:p>
        </p:txBody>
      </p:sp>
      <p:sp>
        <p:nvSpPr>
          <p:cNvPr id="5" name="Text 3"/>
          <p:cNvSpPr/>
          <p:nvPr/>
        </p:nvSpPr>
        <p:spPr>
          <a:xfrm>
            <a:off x="594360" y="1828800"/>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01</a:t>
            </a:r>
            <a:endParaRPr lang="en-US" sz="1700" dirty="0"/>
          </a:p>
        </p:txBody>
      </p:sp>
      <p:sp>
        <p:nvSpPr>
          <p:cNvPr id="6" name="Text 4"/>
          <p:cNvSpPr/>
          <p:nvPr/>
        </p:nvSpPr>
        <p:spPr>
          <a:xfrm>
            <a:off x="1325880" y="1828800"/>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CASE-SYN-001 : READY; montant employé original 100000 cents.</a:t>
            </a:r>
            <a:endParaRPr lang="en-US" sz="2000" dirty="0"/>
          </a:p>
        </p:txBody>
      </p:sp>
      <p:sp>
        <p:nvSpPr>
          <p:cNvPr id="7" name="Shape 5"/>
          <p:cNvSpPr/>
          <p:nvPr/>
        </p:nvSpPr>
        <p:spPr>
          <a:xfrm>
            <a:off x="1325880" y="2660904"/>
            <a:ext cx="10149840" cy="0"/>
          </a:xfrm>
          <a:prstGeom prst="line">
            <a:avLst/>
          </a:prstGeom>
          <a:noFill/>
          <a:ln w="6350">
            <a:solidFill>
              <a:srgbClr val="DCE5ED"/>
            </a:solidFill>
            <a:prstDash val="solid"/>
          </a:ln>
        </p:spPr>
      </p:sp>
      <p:sp>
        <p:nvSpPr>
          <p:cNvPr id="8" name="Text 6"/>
          <p:cNvSpPr/>
          <p:nvPr/>
        </p:nvSpPr>
        <p:spPr>
          <a:xfrm>
            <a:off x="594360" y="2770632"/>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02</a:t>
            </a:r>
            <a:endParaRPr lang="en-US" sz="1700" dirty="0"/>
          </a:p>
        </p:txBody>
      </p:sp>
      <p:sp>
        <p:nvSpPr>
          <p:cNvPr id="9" name="Text 7"/>
          <p:cNvSpPr/>
          <p:nvPr/>
        </p:nvSpPr>
        <p:spPr>
          <a:xfrm>
            <a:off x="1325880" y="2770632"/>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CASE-SYN-003 / 005 : non pris en charge / régime absent, sans montant.</a:t>
            </a:r>
            <a:endParaRPr lang="en-US" sz="2000" dirty="0"/>
          </a:p>
        </p:txBody>
      </p:sp>
      <p:sp>
        <p:nvSpPr>
          <p:cNvPr id="10" name="Shape 8"/>
          <p:cNvSpPr/>
          <p:nvPr/>
        </p:nvSpPr>
        <p:spPr>
          <a:xfrm>
            <a:off x="1325880" y="3602736"/>
            <a:ext cx="10149840" cy="0"/>
          </a:xfrm>
          <a:prstGeom prst="line">
            <a:avLst/>
          </a:prstGeom>
          <a:noFill/>
          <a:ln w="6350">
            <a:solidFill>
              <a:srgbClr val="DCE5ED"/>
            </a:solidFill>
            <a:prstDash val="solid"/>
          </a:ln>
        </p:spPr>
      </p:sp>
      <p:sp>
        <p:nvSpPr>
          <p:cNvPr id="11" name="Text 9"/>
          <p:cNvSpPr/>
          <p:nvPr/>
        </p:nvSpPr>
        <p:spPr>
          <a:xfrm>
            <a:off x="594360" y="3712464"/>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03</a:t>
            </a:r>
            <a:endParaRPr lang="en-US" sz="1700" dirty="0"/>
          </a:p>
        </p:txBody>
      </p:sp>
      <p:sp>
        <p:nvSpPr>
          <p:cNvPr id="12" name="Text 10"/>
          <p:cNvSpPr/>
          <p:nvPr/>
        </p:nvSpPr>
        <p:spPr>
          <a:xfrm>
            <a:off x="1325880" y="3712464"/>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ID invalide : rejet avant recherche ou soumission.</a:t>
            </a:r>
            <a:endParaRPr lang="en-US" sz="2000" dirty="0"/>
          </a:p>
        </p:txBody>
      </p:sp>
      <p:sp>
        <p:nvSpPr>
          <p:cNvPr id="13" name="Shape 11"/>
          <p:cNvSpPr/>
          <p:nvPr/>
        </p:nvSpPr>
        <p:spPr>
          <a:xfrm>
            <a:off x="1325880" y="4544568"/>
            <a:ext cx="10149840" cy="0"/>
          </a:xfrm>
          <a:prstGeom prst="line">
            <a:avLst/>
          </a:prstGeom>
          <a:noFill/>
          <a:ln w="6350">
            <a:solidFill>
              <a:srgbClr val="DCE5ED"/>
            </a:solidFill>
            <a:prstDash val="solid"/>
          </a:ln>
        </p:spPr>
      </p:sp>
      <p:sp>
        <p:nvSpPr>
          <p:cNvPr id="14" name="Text 12"/>
          <p:cNvSpPr/>
          <p:nvPr/>
        </p:nvSpPr>
        <p:spPr>
          <a:xfrm>
            <a:off x="594360" y="4654296"/>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04</a:t>
            </a:r>
            <a:endParaRPr lang="en-US" sz="1700" dirty="0"/>
          </a:p>
        </p:txBody>
      </p:sp>
      <p:sp>
        <p:nvSpPr>
          <p:cNvPr id="15" name="Text 13"/>
          <p:cNvSpPr/>
          <p:nvPr/>
        </p:nvSpPr>
        <p:spPr>
          <a:xfrm>
            <a:off x="1325880" y="4654296"/>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Injection avec CASE-SYN-001 : accusé normal borné.</a:t>
            </a:r>
            <a:endParaRPr lang="en-US" sz="2000" dirty="0"/>
          </a:p>
        </p:txBody>
      </p:sp>
      <p:sp>
        <p:nvSpPr>
          <p:cNvPr id="16" name="Shape 14"/>
          <p:cNvSpPr/>
          <p:nvPr/>
        </p:nvSpPr>
        <p:spPr>
          <a:xfrm>
            <a:off x="1325880" y="5486400"/>
            <a:ext cx="10149840" cy="0"/>
          </a:xfrm>
          <a:prstGeom prst="line">
            <a:avLst/>
          </a:prstGeom>
          <a:noFill/>
          <a:ln w="6350">
            <a:solidFill>
              <a:srgbClr val="DCE5ED"/>
            </a:solidFill>
            <a:prstDash val="solid"/>
          </a:ln>
        </p:spPr>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Formation synthétique | Guide et Atelier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7 / 37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INGÉNIERIE DE L’ÉVALUATION</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La vérité indépendante est la fondation</a:t>
            </a:r>
            <a:endParaRPr lang="en-US" sz="2700" dirty="0"/>
          </a:p>
        </p:txBody>
      </p:sp>
      <p:sp>
        <p:nvSpPr>
          <p:cNvPr id="5" name="Text 3"/>
          <p:cNvSpPr/>
          <p:nvPr/>
        </p:nvSpPr>
        <p:spPr>
          <a:xfrm>
            <a:off x="594360" y="1828800"/>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01</a:t>
            </a:r>
            <a:endParaRPr lang="en-US" sz="1700" dirty="0"/>
          </a:p>
        </p:txBody>
      </p:sp>
      <p:sp>
        <p:nvSpPr>
          <p:cNvPr id="6" name="Text 4"/>
          <p:cNvSpPr/>
          <p:nvPr/>
        </p:nvSpPr>
        <p:spPr>
          <a:xfrm>
            <a:off x="1325880" y="1828800"/>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Séparer question, contexte fiable et réponse candidate.</a:t>
            </a:r>
            <a:endParaRPr lang="en-US" sz="2000" dirty="0"/>
          </a:p>
        </p:txBody>
      </p:sp>
      <p:sp>
        <p:nvSpPr>
          <p:cNvPr id="7" name="Shape 5"/>
          <p:cNvSpPr/>
          <p:nvPr/>
        </p:nvSpPr>
        <p:spPr>
          <a:xfrm>
            <a:off x="1325880" y="2660904"/>
            <a:ext cx="10149840" cy="0"/>
          </a:xfrm>
          <a:prstGeom prst="line">
            <a:avLst/>
          </a:prstGeom>
          <a:noFill/>
          <a:ln w="6350">
            <a:solidFill>
              <a:srgbClr val="DCE5ED"/>
            </a:solidFill>
            <a:prstDash val="solid"/>
          </a:ln>
        </p:spPr>
      </p:sp>
      <p:sp>
        <p:nvSpPr>
          <p:cNvPr id="8" name="Text 6"/>
          <p:cNvSpPr/>
          <p:nvPr/>
        </p:nvSpPr>
        <p:spPr>
          <a:xfrm>
            <a:off x="594360" y="2770632"/>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02</a:t>
            </a:r>
            <a:endParaRPr lang="en-US" sz="1700" dirty="0"/>
          </a:p>
        </p:txBody>
      </p:sp>
      <p:sp>
        <p:nvSpPr>
          <p:cNvPr id="9" name="Text 7"/>
          <p:cNvSpPr/>
          <p:nvPr/>
        </p:nvSpPr>
        <p:spPr>
          <a:xfrm>
            <a:off x="1325880" y="2770632"/>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Le statut attendu ne prouve pas une exécution cachée.</a:t>
            </a:r>
            <a:endParaRPr lang="en-US" sz="2000" dirty="0"/>
          </a:p>
        </p:txBody>
      </p:sp>
      <p:sp>
        <p:nvSpPr>
          <p:cNvPr id="10" name="Shape 8"/>
          <p:cNvSpPr/>
          <p:nvPr/>
        </p:nvSpPr>
        <p:spPr>
          <a:xfrm>
            <a:off x="1325880" y="3602736"/>
            <a:ext cx="10149840" cy="0"/>
          </a:xfrm>
          <a:prstGeom prst="line">
            <a:avLst/>
          </a:prstGeom>
          <a:noFill/>
          <a:ln w="6350">
            <a:solidFill>
              <a:srgbClr val="DCE5ED"/>
            </a:solidFill>
            <a:prstDash val="solid"/>
          </a:ln>
        </p:spPr>
      </p:sp>
      <p:sp>
        <p:nvSpPr>
          <p:cNvPr id="11" name="Text 9"/>
          <p:cNvSpPr/>
          <p:nvPr/>
        </p:nvSpPr>
        <p:spPr>
          <a:xfrm>
            <a:off x="594360" y="3712464"/>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03</a:t>
            </a:r>
            <a:endParaRPr lang="en-US" sz="1700" dirty="0"/>
          </a:p>
        </p:txBody>
      </p:sp>
      <p:sp>
        <p:nvSpPr>
          <p:cNvPr id="12" name="Text 10"/>
          <p:cNvSpPr/>
          <p:nvPr/>
        </p:nvSpPr>
        <p:spPr>
          <a:xfrm>
            <a:off x="1325880" y="3712464"/>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Faire revoir humainement les tests générés et leur oracle.</a:t>
            </a:r>
            <a:endParaRPr lang="en-US" sz="2000" dirty="0"/>
          </a:p>
        </p:txBody>
      </p:sp>
      <p:sp>
        <p:nvSpPr>
          <p:cNvPr id="13" name="Shape 11"/>
          <p:cNvSpPr/>
          <p:nvPr/>
        </p:nvSpPr>
        <p:spPr>
          <a:xfrm>
            <a:off x="1325880" y="4544568"/>
            <a:ext cx="10149840" cy="0"/>
          </a:xfrm>
          <a:prstGeom prst="line">
            <a:avLst/>
          </a:prstGeom>
          <a:noFill/>
          <a:ln w="6350">
            <a:solidFill>
              <a:srgbClr val="DCE5ED"/>
            </a:solidFill>
            <a:prstDash val="solid"/>
          </a:ln>
        </p:spPr>
      </p:sp>
      <p:sp>
        <p:nvSpPr>
          <p:cNvPr id="14" name="Text 12"/>
          <p:cNvSpPr/>
          <p:nvPr/>
        </p:nvSpPr>
        <p:spPr>
          <a:xfrm>
            <a:off x="594360" y="4654296"/>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04</a:t>
            </a:r>
            <a:endParaRPr lang="en-US" sz="1700" dirty="0"/>
          </a:p>
        </p:txBody>
      </p:sp>
      <p:sp>
        <p:nvSpPr>
          <p:cNvPr id="15" name="Text 13"/>
          <p:cNvSpPr/>
          <p:nvPr/>
        </p:nvSpPr>
        <p:spPr>
          <a:xfrm>
            <a:off x="1325880" y="4654296"/>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Ne jamais prendre la réponse candidate comme sa propre vérité.</a:t>
            </a:r>
            <a:endParaRPr lang="en-US" sz="2000" dirty="0"/>
          </a:p>
        </p:txBody>
      </p:sp>
      <p:sp>
        <p:nvSpPr>
          <p:cNvPr id="16" name="Shape 14"/>
          <p:cNvSpPr/>
          <p:nvPr/>
        </p:nvSpPr>
        <p:spPr>
          <a:xfrm>
            <a:off x="1325880" y="5486400"/>
            <a:ext cx="10149840" cy="0"/>
          </a:xfrm>
          <a:prstGeom prst="line">
            <a:avLst/>
          </a:prstGeom>
          <a:noFill/>
          <a:ln w="6350">
            <a:solidFill>
              <a:srgbClr val="DCE5ED"/>
            </a:solidFill>
            <a:prstDash val="solid"/>
          </a:ln>
        </p:spPr>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Formation synthétique | Guide et Atelier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8 / 37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INGÉNIERIE DE L’ÉVALUATION</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Séparer développement, calibration et réserve</a:t>
            </a:r>
            <a:endParaRPr lang="en-US" sz="2700" dirty="0"/>
          </a:p>
        </p:txBody>
      </p:sp>
      <p:sp>
        <p:nvSpPr>
          <p:cNvPr id="5" name="Text 3"/>
          <p:cNvSpPr/>
          <p:nvPr/>
        </p:nvSpPr>
        <p:spPr>
          <a:xfrm>
            <a:off x="594360" y="1828800"/>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01</a:t>
            </a:r>
            <a:endParaRPr lang="en-US" sz="1700" dirty="0"/>
          </a:p>
        </p:txBody>
      </p:sp>
      <p:sp>
        <p:nvSpPr>
          <p:cNvPr id="6" name="Text 4"/>
          <p:cNvSpPr/>
          <p:nvPr/>
        </p:nvSpPr>
        <p:spPr>
          <a:xfrm>
            <a:off x="1325880" y="1828800"/>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Développement : trouver et corriger les défauts.</a:t>
            </a:r>
            <a:endParaRPr lang="en-US" sz="2000" dirty="0"/>
          </a:p>
        </p:txBody>
      </p:sp>
      <p:sp>
        <p:nvSpPr>
          <p:cNvPr id="7" name="Shape 5"/>
          <p:cNvSpPr/>
          <p:nvPr/>
        </p:nvSpPr>
        <p:spPr>
          <a:xfrm>
            <a:off x="1325880" y="2660904"/>
            <a:ext cx="10149840" cy="0"/>
          </a:xfrm>
          <a:prstGeom prst="line">
            <a:avLst/>
          </a:prstGeom>
          <a:noFill/>
          <a:ln w="6350">
            <a:solidFill>
              <a:srgbClr val="DCE5ED"/>
            </a:solidFill>
            <a:prstDash val="solid"/>
          </a:ln>
        </p:spPr>
      </p:sp>
      <p:sp>
        <p:nvSpPr>
          <p:cNvPr id="8" name="Text 6"/>
          <p:cNvSpPr/>
          <p:nvPr/>
        </p:nvSpPr>
        <p:spPr>
          <a:xfrm>
            <a:off x="594360" y="2770632"/>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02</a:t>
            </a:r>
            <a:endParaRPr lang="en-US" sz="1700" dirty="0"/>
          </a:p>
        </p:txBody>
      </p:sp>
      <p:sp>
        <p:nvSpPr>
          <p:cNvPr id="9" name="Text 7"/>
          <p:cNvSpPr/>
          <p:nvPr/>
        </p:nvSpPr>
        <p:spPr>
          <a:xfrm>
            <a:off x="1325880" y="2770632"/>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Calibration : mesurer fausses acceptations et faux rejets.</a:t>
            </a:r>
            <a:endParaRPr lang="en-US" sz="2000" dirty="0"/>
          </a:p>
        </p:txBody>
      </p:sp>
      <p:sp>
        <p:nvSpPr>
          <p:cNvPr id="10" name="Shape 8"/>
          <p:cNvSpPr/>
          <p:nvPr/>
        </p:nvSpPr>
        <p:spPr>
          <a:xfrm>
            <a:off x="1325880" y="3602736"/>
            <a:ext cx="10149840" cy="0"/>
          </a:xfrm>
          <a:prstGeom prst="line">
            <a:avLst/>
          </a:prstGeom>
          <a:noFill/>
          <a:ln w="6350">
            <a:solidFill>
              <a:srgbClr val="DCE5ED"/>
            </a:solidFill>
            <a:prstDash val="solid"/>
          </a:ln>
        </p:spPr>
      </p:sp>
      <p:sp>
        <p:nvSpPr>
          <p:cNvPr id="11" name="Text 9"/>
          <p:cNvSpPr/>
          <p:nvPr/>
        </p:nvSpPr>
        <p:spPr>
          <a:xfrm>
            <a:off x="594360" y="3712464"/>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03</a:t>
            </a:r>
            <a:endParaRPr lang="en-US" sz="1700" dirty="0"/>
          </a:p>
        </p:txBody>
      </p:sp>
      <p:sp>
        <p:nvSpPr>
          <p:cNvPr id="12" name="Text 10"/>
          <p:cNvSpPr/>
          <p:nvPr/>
        </p:nvSpPr>
        <p:spPr>
          <a:xfrm>
            <a:off x="1325880" y="3712464"/>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Réserve : estimer la qualité sur des cas revus mais inédits.</a:t>
            </a:r>
            <a:endParaRPr lang="en-US" sz="2000" dirty="0"/>
          </a:p>
        </p:txBody>
      </p:sp>
      <p:sp>
        <p:nvSpPr>
          <p:cNvPr id="13" name="Shape 11"/>
          <p:cNvSpPr/>
          <p:nvPr/>
        </p:nvSpPr>
        <p:spPr>
          <a:xfrm>
            <a:off x="1325880" y="4544568"/>
            <a:ext cx="10149840" cy="0"/>
          </a:xfrm>
          <a:prstGeom prst="line">
            <a:avLst/>
          </a:prstGeom>
          <a:noFill/>
          <a:ln w="6350">
            <a:solidFill>
              <a:srgbClr val="DCE5ED"/>
            </a:solidFill>
            <a:prstDash val="solid"/>
          </a:ln>
        </p:spPr>
      </p:sp>
      <p:sp>
        <p:nvSpPr>
          <p:cNvPr id="14" name="Text 12"/>
          <p:cNvSpPr/>
          <p:nvPr/>
        </p:nvSpPr>
        <p:spPr>
          <a:xfrm>
            <a:off x="594360" y="4654296"/>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04</a:t>
            </a:r>
            <a:endParaRPr lang="en-US" sz="1700" dirty="0"/>
          </a:p>
        </p:txBody>
      </p:sp>
      <p:sp>
        <p:nvSpPr>
          <p:cNvPr id="15" name="Text 13"/>
          <p:cNvSpPr/>
          <p:nvPr/>
        </p:nvSpPr>
        <p:spPr>
          <a:xfrm>
            <a:off x="1325880" y="4654296"/>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Incidents : ajouter des cas versionnés sans réécrire le passé.</a:t>
            </a:r>
            <a:endParaRPr lang="en-US" sz="2000" dirty="0"/>
          </a:p>
        </p:txBody>
      </p:sp>
      <p:sp>
        <p:nvSpPr>
          <p:cNvPr id="16" name="Shape 14"/>
          <p:cNvSpPr/>
          <p:nvPr/>
        </p:nvSpPr>
        <p:spPr>
          <a:xfrm>
            <a:off x="1325880" y="5486400"/>
            <a:ext cx="10149840" cy="0"/>
          </a:xfrm>
          <a:prstGeom prst="line">
            <a:avLst/>
          </a:prstGeom>
          <a:noFill/>
          <a:ln w="6350">
            <a:solidFill>
              <a:srgbClr val="DCE5ED"/>
            </a:solidFill>
            <a:prstDash val="solid"/>
          </a:ln>
        </p:spPr>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Formation synthétique | Guide et Atelier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9 / 37</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INGÉNIERIE DE L’ÉVALUATION</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Point pratique : les contrôles peu coûteux</a:t>
            </a:r>
            <a:endParaRPr lang="en-US" sz="2700" dirty="0"/>
          </a:p>
        </p:txBody>
      </p:sp>
      <p:sp>
        <p:nvSpPr>
          <p:cNvPr id="5" name="Text 3"/>
          <p:cNvSpPr/>
          <p:nvPr/>
        </p:nvSpPr>
        <p:spPr>
          <a:xfrm>
            <a:off x="594360" y="1828800"/>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01</a:t>
            </a:r>
            <a:endParaRPr lang="en-US" sz="1700" dirty="0"/>
          </a:p>
        </p:txBody>
      </p:sp>
      <p:sp>
        <p:nvSpPr>
          <p:cNvPr id="6" name="Text 4"/>
          <p:cNvSpPr/>
          <p:nvPr/>
        </p:nvSpPr>
        <p:spPr>
          <a:xfrm>
            <a:off x="1325880" y="1828800"/>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pytest : calculateur, CaseStore et contrats API reviewer.</a:t>
            </a:r>
            <a:endParaRPr lang="en-US" sz="2000" dirty="0"/>
          </a:p>
        </p:txBody>
      </p:sp>
      <p:sp>
        <p:nvSpPr>
          <p:cNvPr id="7" name="Shape 5"/>
          <p:cNvSpPr/>
          <p:nvPr/>
        </p:nvSpPr>
        <p:spPr>
          <a:xfrm>
            <a:off x="1325880" y="2660904"/>
            <a:ext cx="10149840" cy="0"/>
          </a:xfrm>
          <a:prstGeom prst="line">
            <a:avLst/>
          </a:prstGeom>
          <a:noFill/>
          <a:ln w="6350">
            <a:solidFill>
              <a:srgbClr val="DCE5ED"/>
            </a:solidFill>
            <a:prstDash val="solid"/>
          </a:ln>
        </p:spPr>
      </p:sp>
      <p:sp>
        <p:nvSpPr>
          <p:cNvPr id="8" name="Text 6"/>
          <p:cNvSpPr/>
          <p:nvPr/>
        </p:nvSpPr>
        <p:spPr>
          <a:xfrm>
            <a:off x="594360" y="2770632"/>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02</a:t>
            </a:r>
            <a:endParaRPr lang="en-US" sz="1700" dirty="0"/>
          </a:p>
        </p:txBody>
      </p:sp>
      <p:sp>
        <p:nvSpPr>
          <p:cNvPr id="9" name="Text 7"/>
          <p:cNvSpPr/>
          <p:nvPr/>
        </p:nvSpPr>
        <p:spPr>
          <a:xfrm>
            <a:off x="1325880" y="2770632"/>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pytest : conversion, erreurs de capture et contrôle du juge.</a:t>
            </a:r>
            <a:endParaRPr lang="en-US" sz="2000" dirty="0"/>
          </a:p>
        </p:txBody>
      </p:sp>
      <p:sp>
        <p:nvSpPr>
          <p:cNvPr id="10" name="Shape 8"/>
          <p:cNvSpPr/>
          <p:nvPr/>
        </p:nvSpPr>
        <p:spPr>
          <a:xfrm>
            <a:off x="1325880" y="3602736"/>
            <a:ext cx="10149840" cy="0"/>
          </a:xfrm>
          <a:prstGeom prst="line">
            <a:avLst/>
          </a:prstGeom>
          <a:noFill/>
          <a:ln w="6350">
            <a:solidFill>
              <a:srgbClr val="DCE5ED"/>
            </a:solidFill>
            <a:prstDash val="solid"/>
          </a:ln>
        </p:spPr>
      </p:sp>
      <p:sp>
        <p:nvSpPr>
          <p:cNvPr id="11" name="Text 9"/>
          <p:cNvSpPr/>
          <p:nvPr/>
        </p:nvSpPr>
        <p:spPr>
          <a:xfrm>
            <a:off x="594360" y="3712464"/>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03</a:t>
            </a:r>
            <a:endParaRPr lang="en-US" sz="1700" dirty="0"/>
          </a:p>
        </p:txBody>
      </p:sp>
      <p:sp>
        <p:nvSpPr>
          <p:cNvPr id="12" name="Text 10"/>
          <p:cNvSpPr/>
          <p:nvPr/>
        </p:nvSpPr>
        <p:spPr>
          <a:xfrm>
            <a:off x="1325880" y="3712464"/>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python eval/evaluation_gate.py : 13 cas déterministes.</a:t>
            </a:r>
            <a:endParaRPr lang="en-US" sz="2000" dirty="0"/>
          </a:p>
        </p:txBody>
      </p:sp>
      <p:sp>
        <p:nvSpPr>
          <p:cNvPr id="13" name="Shape 11"/>
          <p:cNvSpPr/>
          <p:nvPr/>
        </p:nvSpPr>
        <p:spPr>
          <a:xfrm>
            <a:off x="1325880" y="4544568"/>
            <a:ext cx="10149840" cy="0"/>
          </a:xfrm>
          <a:prstGeom prst="line">
            <a:avLst/>
          </a:prstGeom>
          <a:noFill/>
          <a:ln w="6350">
            <a:solidFill>
              <a:srgbClr val="DCE5ED"/>
            </a:solidFill>
            <a:prstDash val="solid"/>
          </a:ln>
        </p:spPr>
      </p:sp>
      <p:sp>
        <p:nvSpPr>
          <p:cNvPr id="14" name="Text 12"/>
          <p:cNvSpPr/>
          <p:nvPr/>
        </p:nvSpPr>
        <p:spPr>
          <a:xfrm>
            <a:off x="594360" y="4654296"/>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04</a:t>
            </a:r>
            <a:endParaRPr lang="en-US" sz="1700" dirty="0"/>
          </a:p>
        </p:txBody>
      </p:sp>
      <p:sp>
        <p:nvSpPr>
          <p:cNvPr id="15" name="Text 13"/>
          <p:cNvSpPr/>
          <p:nvPr/>
        </p:nvSpPr>
        <p:spPr>
          <a:xfrm>
            <a:off x="1325880" y="4654296"/>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Arrêter sur un invariant avant de payer un juge.</a:t>
            </a:r>
            <a:endParaRPr lang="en-US" sz="2000" dirty="0"/>
          </a:p>
        </p:txBody>
      </p:sp>
      <p:sp>
        <p:nvSpPr>
          <p:cNvPr id="16" name="Shape 14"/>
          <p:cNvSpPr/>
          <p:nvPr/>
        </p:nvSpPr>
        <p:spPr>
          <a:xfrm>
            <a:off x="1325880" y="5486400"/>
            <a:ext cx="10149840" cy="0"/>
          </a:xfrm>
          <a:prstGeom prst="line">
            <a:avLst/>
          </a:prstGeom>
          <a:noFill/>
          <a:ln w="6350">
            <a:solidFill>
              <a:srgbClr val="DCE5ED"/>
            </a:solidFill>
            <a:prstDash val="solid"/>
          </a:ln>
        </p:spPr>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Formation synthétique | Guide et Atelier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10 / 37</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INGÉNIERIE DE L’ÉVALUATION</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Évaluation cloud native de bout en bout</a:t>
            </a:r>
            <a:endParaRPr lang="en-US" sz="2700" dirty="0"/>
          </a:p>
        </p:txBody>
      </p:sp>
      <p:sp>
        <p:nvSpPr>
          <p:cNvPr id="5" name="Shape 3"/>
          <p:cNvSpPr/>
          <p:nvPr/>
        </p:nvSpPr>
        <p:spPr>
          <a:xfrm>
            <a:off x="548640" y="1920240"/>
            <a:ext cx="5394960" cy="1417320"/>
          </a:xfrm>
          <a:prstGeom prst="rect">
            <a:avLst/>
          </a:prstGeom>
          <a:solidFill>
            <a:srgbClr val="EDF4FA"/>
          </a:solidFill>
          <a:ln w="12700">
            <a:solidFill>
              <a:srgbClr val="DCE5ED"/>
            </a:solidFill>
            <a:prstDash val="solid"/>
          </a:ln>
        </p:spPr>
      </p:sp>
      <p:sp>
        <p:nvSpPr>
          <p:cNvPr id="6" name="Text 4"/>
          <p:cNvSpPr/>
          <p:nvPr/>
        </p:nvSpPr>
        <p:spPr>
          <a:xfrm>
            <a:off x="777240" y="2103120"/>
            <a:ext cx="640080" cy="411480"/>
          </a:xfrm>
          <a:prstGeom prst="rect">
            <a:avLst/>
          </a:prstGeom>
          <a:noFill/>
          <a:ln/>
        </p:spPr>
        <p:txBody>
          <a:bodyPr wrap="square" lIns="0" tIns="0" rIns="0" bIns="0" rtlCol="0" anchor="ctr"/>
          <a:lstStyle/>
          <a:p>
            <a:pPr indent="0" marL="0">
              <a:buNone/>
            </a:pPr>
            <a:r>
              <a:rPr lang="en-US" sz="2500" b="1" dirty="0">
                <a:solidFill>
                  <a:srgbClr val="0078D4"/>
                </a:solidFill>
                <a:latin typeface="Segoe UI" pitchFamily="34" charset="0"/>
                <a:ea typeface="Segoe UI" pitchFamily="34" charset="-122"/>
                <a:cs typeface="Segoe UI" pitchFamily="34" charset="-120"/>
              </a:rPr>
              <a:t>01</a:t>
            </a:r>
            <a:endParaRPr lang="en-US" sz="2500" dirty="0"/>
          </a:p>
        </p:txBody>
      </p:sp>
      <p:sp>
        <p:nvSpPr>
          <p:cNvPr id="7" name="Text 5"/>
          <p:cNvSpPr/>
          <p:nvPr/>
        </p:nvSpPr>
        <p:spPr>
          <a:xfrm>
            <a:off x="1508760" y="2103120"/>
            <a:ext cx="4114800" cy="1051560"/>
          </a:xfrm>
          <a:prstGeom prst="rect">
            <a:avLst/>
          </a:prstGeom>
          <a:noFill/>
          <a:ln/>
        </p:spPr>
        <p:txBody>
          <a:bodyPr wrap="square" lIns="0" tIns="0" rIns="0" bIns="0" rtlCol="0" anchor="ctr"/>
          <a:lstStyle/>
          <a:p>
            <a:pPr indent="0" marL="0">
              <a:buNone/>
            </a:pPr>
            <a:r>
              <a:rPr lang="en-US" sz="2100" b="1" dirty="0">
                <a:solidFill>
                  <a:srgbClr val="183449"/>
                </a:solidFill>
                <a:latin typeface="Segoe UI" pitchFamily="34" charset="0"/>
                <a:ea typeface="Segoe UI" pitchFamily="34" charset="-122"/>
                <a:cs typeface="Segoe UI" pitchFamily="34" charset="-120"/>
              </a:rPr>
              <a:t>Convertir source EN / FR</a:t>
            </a:r>
            <a:endParaRPr lang="en-US" sz="2100" dirty="0"/>
          </a:p>
        </p:txBody>
      </p:sp>
      <p:sp>
        <p:nvSpPr>
          <p:cNvPr id="8" name="Shape 6"/>
          <p:cNvSpPr/>
          <p:nvPr/>
        </p:nvSpPr>
        <p:spPr>
          <a:xfrm>
            <a:off x="6217920" y="1920240"/>
            <a:ext cx="5394960" cy="1417320"/>
          </a:xfrm>
          <a:prstGeom prst="rect">
            <a:avLst/>
          </a:prstGeom>
          <a:solidFill>
            <a:srgbClr val="EDF4FA"/>
          </a:solidFill>
          <a:ln w="12700">
            <a:solidFill>
              <a:srgbClr val="DCE5ED"/>
            </a:solidFill>
            <a:prstDash val="solid"/>
          </a:ln>
        </p:spPr>
      </p:sp>
      <p:sp>
        <p:nvSpPr>
          <p:cNvPr id="9" name="Text 7"/>
          <p:cNvSpPr/>
          <p:nvPr/>
        </p:nvSpPr>
        <p:spPr>
          <a:xfrm>
            <a:off x="6446520" y="2103120"/>
            <a:ext cx="640080" cy="411480"/>
          </a:xfrm>
          <a:prstGeom prst="rect">
            <a:avLst/>
          </a:prstGeom>
          <a:noFill/>
          <a:ln/>
        </p:spPr>
        <p:txBody>
          <a:bodyPr wrap="square" lIns="0" tIns="0" rIns="0" bIns="0" rtlCol="0" anchor="ctr"/>
          <a:lstStyle/>
          <a:p>
            <a:pPr indent="0" marL="0">
              <a:buNone/>
            </a:pPr>
            <a:r>
              <a:rPr lang="en-US" sz="2500" b="1" dirty="0">
                <a:solidFill>
                  <a:srgbClr val="0078D4"/>
                </a:solidFill>
                <a:latin typeface="Segoe UI" pitchFamily="34" charset="0"/>
                <a:ea typeface="Segoe UI" pitchFamily="34" charset="-122"/>
                <a:cs typeface="Segoe UI" pitchFamily="34" charset="-120"/>
              </a:rPr>
              <a:t>02</a:t>
            </a:r>
            <a:endParaRPr lang="en-US" sz="2500" dirty="0"/>
          </a:p>
        </p:txBody>
      </p:sp>
      <p:sp>
        <p:nvSpPr>
          <p:cNvPr id="10" name="Text 8"/>
          <p:cNvSpPr/>
          <p:nvPr/>
        </p:nvSpPr>
        <p:spPr>
          <a:xfrm>
            <a:off x="7178040" y="2103120"/>
            <a:ext cx="4114800" cy="1051560"/>
          </a:xfrm>
          <a:prstGeom prst="rect">
            <a:avLst/>
          </a:prstGeom>
          <a:noFill/>
          <a:ln/>
        </p:spPr>
        <p:txBody>
          <a:bodyPr wrap="square" lIns="0" tIns="0" rIns="0" bIns="0" rtlCol="0" anchor="ctr"/>
          <a:lstStyle/>
          <a:p>
            <a:pPr indent="0" marL="0">
              <a:buNone/>
            </a:pPr>
            <a:r>
              <a:rPr lang="en-US" sz="2100" b="1" dirty="0">
                <a:solidFill>
                  <a:srgbClr val="183449"/>
                </a:solidFill>
                <a:latin typeface="Segoe UI" pitchFamily="34" charset="0"/>
                <a:ea typeface="Segoe UI" pitchFamily="34" charset="-122"/>
                <a:cs typeface="Segoe UI" pitchFamily="34" charset="-120"/>
              </a:rPr>
              <a:t>Capturer les vraies réponses</a:t>
            </a:r>
            <a:endParaRPr lang="en-US" sz="2100" dirty="0"/>
          </a:p>
        </p:txBody>
      </p:sp>
      <p:sp>
        <p:nvSpPr>
          <p:cNvPr id="11" name="Shape 9"/>
          <p:cNvSpPr/>
          <p:nvPr/>
        </p:nvSpPr>
        <p:spPr>
          <a:xfrm>
            <a:off x="548640" y="3749040"/>
            <a:ext cx="5394960" cy="1417320"/>
          </a:xfrm>
          <a:prstGeom prst="rect">
            <a:avLst/>
          </a:prstGeom>
          <a:solidFill>
            <a:srgbClr val="EDF4FA"/>
          </a:solidFill>
          <a:ln w="12700">
            <a:solidFill>
              <a:srgbClr val="DCE5ED"/>
            </a:solidFill>
            <a:prstDash val="solid"/>
          </a:ln>
        </p:spPr>
      </p:sp>
      <p:sp>
        <p:nvSpPr>
          <p:cNvPr id="12" name="Text 10"/>
          <p:cNvSpPr/>
          <p:nvPr/>
        </p:nvSpPr>
        <p:spPr>
          <a:xfrm>
            <a:off x="777240" y="3931920"/>
            <a:ext cx="640080" cy="411480"/>
          </a:xfrm>
          <a:prstGeom prst="rect">
            <a:avLst/>
          </a:prstGeom>
          <a:noFill/>
          <a:ln/>
        </p:spPr>
        <p:txBody>
          <a:bodyPr wrap="square" lIns="0" tIns="0" rIns="0" bIns="0" rtlCol="0" anchor="ctr"/>
          <a:lstStyle/>
          <a:p>
            <a:pPr indent="0" marL="0">
              <a:buNone/>
            </a:pPr>
            <a:r>
              <a:rPr lang="en-US" sz="2500" b="1" dirty="0">
                <a:solidFill>
                  <a:srgbClr val="0078D4"/>
                </a:solidFill>
                <a:latin typeface="Segoe UI" pitchFamily="34" charset="0"/>
                <a:ea typeface="Segoe UI" pitchFamily="34" charset="-122"/>
                <a:cs typeface="Segoe UI" pitchFamily="34" charset="-120"/>
              </a:rPr>
              <a:t>03</a:t>
            </a:r>
            <a:endParaRPr lang="en-US" sz="2500" dirty="0"/>
          </a:p>
        </p:txBody>
      </p:sp>
      <p:sp>
        <p:nvSpPr>
          <p:cNvPr id="13" name="Text 11"/>
          <p:cNvSpPr/>
          <p:nvPr/>
        </p:nvSpPr>
        <p:spPr>
          <a:xfrm>
            <a:off x="1508760" y="3931920"/>
            <a:ext cx="4114800" cy="1051560"/>
          </a:xfrm>
          <a:prstGeom prst="rect">
            <a:avLst/>
          </a:prstGeom>
          <a:noFill/>
          <a:ln/>
        </p:spPr>
        <p:txBody>
          <a:bodyPr wrap="square" lIns="0" tIns="0" rIns="0" bIns="0" rtlCol="0" anchor="ctr"/>
          <a:lstStyle/>
          <a:p>
            <a:pPr indent="0" marL="0">
              <a:buNone/>
            </a:pPr>
            <a:r>
              <a:rPr lang="en-US" sz="2100" b="1" dirty="0">
                <a:solidFill>
                  <a:srgbClr val="183449"/>
                </a:solidFill>
                <a:latin typeface="Segoe UI" pitchFamily="34" charset="0"/>
                <a:ea typeface="Segoe UI" pitchFamily="34" charset="-122"/>
                <a:cs typeface="Segoe UI" pitchFamily="34" charset="-120"/>
              </a:rPr>
              <a:t>Créer définition/essai; délai borné</a:t>
            </a:r>
            <a:endParaRPr lang="en-US" sz="2100" dirty="0"/>
          </a:p>
        </p:txBody>
      </p:sp>
      <p:sp>
        <p:nvSpPr>
          <p:cNvPr id="14" name="Shape 12"/>
          <p:cNvSpPr/>
          <p:nvPr/>
        </p:nvSpPr>
        <p:spPr>
          <a:xfrm>
            <a:off x="6217920" y="3749040"/>
            <a:ext cx="5394960" cy="1417320"/>
          </a:xfrm>
          <a:prstGeom prst="rect">
            <a:avLst/>
          </a:prstGeom>
          <a:solidFill>
            <a:srgbClr val="EDF4FA"/>
          </a:solidFill>
          <a:ln w="12700">
            <a:solidFill>
              <a:srgbClr val="DCE5ED"/>
            </a:solidFill>
            <a:prstDash val="solid"/>
          </a:ln>
        </p:spPr>
      </p:sp>
      <p:sp>
        <p:nvSpPr>
          <p:cNvPr id="15" name="Text 13"/>
          <p:cNvSpPr/>
          <p:nvPr/>
        </p:nvSpPr>
        <p:spPr>
          <a:xfrm>
            <a:off x="6446520" y="3931920"/>
            <a:ext cx="640080" cy="411480"/>
          </a:xfrm>
          <a:prstGeom prst="rect">
            <a:avLst/>
          </a:prstGeom>
          <a:noFill/>
          <a:ln/>
        </p:spPr>
        <p:txBody>
          <a:bodyPr wrap="square" lIns="0" tIns="0" rIns="0" bIns="0" rtlCol="0" anchor="ctr"/>
          <a:lstStyle/>
          <a:p>
            <a:pPr indent="0" marL="0">
              <a:buNone/>
            </a:pPr>
            <a:r>
              <a:rPr lang="en-US" sz="2500" b="1" dirty="0">
                <a:solidFill>
                  <a:srgbClr val="0078D4"/>
                </a:solidFill>
                <a:latin typeface="Segoe UI" pitchFamily="34" charset="0"/>
                <a:ea typeface="Segoe UI" pitchFamily="34" charset="-122"/>
                <a:cs typeface="Segoe UI" pitchFamily="34" charset="-120"/>
              </a:rPr>
              <a:t>04</a:t>
            </a:r>
            <a:endParaRPr lang="en-US" sz="2500" dirty="0"/>
          </a:p>
        </p:txBody>
      </p:sp>
      <p:sp>
        <p:nvSpPr>
          <p:cNvPr id="16" name="Text 14"/>
          <p:cNvSpPr/>
          <p:nvPr/>
        </p:nvSpPr>
        <p:spPr>
          <a:xfrm>
            <a:off x="7178040" y="3931920"/>
            <a:ext cx="4114800" cy="1051560"/>
          </a:xfrm>
          <a:prstGeom prst="rect">
            <a:avLst/>
          </a:prstGeom>
          <a:noFill/>
          <a:ln/>
        </p:spPr>
        <p:txBody>
          <a:bodyPr wrap="square" lIns="0" tIns="0" rIns="0" bIns="0" rtlCol="0" anchor="ctr"/>
          <a:lstStyle/>
          <a:p>
            <a:pPr indent="0" marL="0">
              <a:buNone/>
            </a:pPr>
            <a:r>
              <a:rPr lang="en-US" sz="2100" b="1" dirty="0">
                <a:solidFill>
                  <a:srgbClr val="183449"/>
                </a:solidFill>
                <a:latin typeface="Segoe UI" pitchFamily="34" charset="0"/>
                <a:ea typeface="Segoe UI" pitchFamily="34" charset="-122"/>
                <a:cs typeface="Segoe UI" pitchFamily="34" charset="-120"/>
              </a:rPr>
              <a:t>Récupérer chaque ligne et les IDs</a:t>
            </a:r>
            <a:endParaRPr lang="en-US" sz="2100" dirty="0"/>
          </a:p>
        </p:txBody>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Formation synthétique | Guide et Atelier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11 / 37</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INGÉNIERIE DE L’ÉVALUATION</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Portail : choisir, mapper, inspecter</a:t>
            </a:r>
            <a:endParaRPr lang="en-US" sz="2700" dirty="0"/>
          </a:p>
        </p:txBody>
      </p:sp>
      <p:sp>
        <p:nvSpPr>
          <p:cNvPr id="5" name="Text 3"/>
          <p:cNvSpPr/>
          <p:nvPr/>
        </p:nvSpPr>
        <p:spPr>
          <a:xfrm>
            <a:off x="594360" y="1828800"/>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01</a:t>
            </a:r>
            <a:endParaRPr lang="en-US" sz="1700" dirty="0"/>
          </a:p>
        </p:txBody>
      </p:sp>
      <p:sp>
        <p:nvSpPr>
          <p:cNvPr id="6" name="Text 4"/>
          <p:cNvSpPr/>
          <p:nvPr/>
        </p:nvSpPr>
        <p:spPr>
          <a:xfrm>
            <a:off x="1325880" y="1828800"/>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Ouvrir Optimize &gt; Evaluations au niveau du projet.</a:t>
            </a:r>
            <a:endParaRPr lang="en-US" sz="2000" dirty="0"/>
          </a:p>
        </p:txBody>
      </p:sp>
      <p:sp>
        <p:nvSpPr>
          <p:cNvPr id="7" name="Shape 5"/>
          <p:cNvSpPr/>
          <p:nvPr/>
        </p:nvSpPr>
        <p:spPr>
          <a:xfrm>
            <a:off x="1325880" y="2660904"/>
            <a:ext cx="10149840" cy="0"/>
          </a:xfrm>
          <a:prstGeom prst="line">
            <a:avLst/>
          </a:prstGeom>
          <a:noFill/>
          <a:ln w="6350">
            <a:solidFill>
              <a:srgbClr val="DCE5ED"/>
            </a:solidFill>
            <a:prstDash val="solid"/>
          </a:ln>
        </p:spPr>
      </p:sp>
      <p:sp>
        <p:nvSpPr>
          <p:cNvPr id="8" name="Text 6"/>
          <p:cNvSpPr/>
          <p:nvPr/>
        </p:nvSpPr>
        <p:spPr>
          <a:xfrm>
            <a:off x="594360" y="2770632"/>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02</a:t>
            </a:r>
            <a:endParaRPr lang="en-US" sz="1700" dirty="0"/>
          </a:p>
        </p:txBody>
      </p:sp>
      <p:sp>
        <p:nvSpPr>
          <p:cNvPr id="9" name="Text 7"/>
          <p:cNvSpPr/>
          <p:nvPr/>
        </p:nvSpPr>
        <p:spPr>
          <a:xfrm>
            <a:off x="1325880" y="2770632"/>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Lecture seule : vérifier ID, état et cinq lignes conservées.</a:t>
            </a:r>
            <a:endParaRPr lang="en-US" sz="2000" dirty="0"/>
          </a:p>
        </p:txBody>
      </p:sp>
      <p:sp>
        <p:nvSpPr>
          <p:cNvPr id="10" name="Shape 8"/>
          <p:cNvSpPr/>
          <p:nvPr/>
        </p:nvSpPr>
        <p:spPr>
          <a:xfrm>
            <a:off x="1325880" y="3602736"/>
            <a:ext cx="10149840" cy="0"/>
          </a:xfrm>
          <a:prstGeom prst="line">
            <a:avLst/>
          </a:prstGeom>
          <a:noFill/>
          <a:ln w="6350">
            <a:solidFill>
              <a:srgbClr val="DCE5ED"/>
            </a:solidFill>
            <a:prstDash val="solid"/>
          </a:ln>
        </p:spPr>
      </p:sp>
      <p:sp>
        <p:nvSpPr>
          <p:cNvPr id="11" name="Text 9"/>
          <p:cNvSpPr/>
          <p:nvPr/>
        </p:nvSpPr>
        <p:spPr>
          <a:xfrm>
            <a:off x="594360" y="3712464"/>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03</a:t>
            </a:r>
            <a:endParaRPr lang="en-US" sz="1700" dirty="0"/>
          </a:p>
        </p:txBody>
      </p:sp>
      <p:sp>
        <p:nvSpPr>
          <p:cNvPr id="12" name="Text 10"/>
          <p:cNvSpPr/>
          <p:nvPr/>
        </p:nvSpPr>
        <p:spPr>
          <a:xfrm>
            <a:off x="1325880" y="3712464"/>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Pratique : JSONL aplati fourni et contexte indépendant.</a:t>
            </a:r>
            <a:endParaRPr lang="en-US" sz="2000" dirty="0"/>
          </a:p>
        </p:txBody>
      </p:sp>
      <p:sp>
        <p:nvSpPr>
          <p:cNvPr id="13" name="Shape 11"/>
          <p:cNvSpPr/>
          <p:nvPr/>
        </p:nvSpPr>
        <p:spPr>
          <a:xfrm>
            <a:off x="1325880" y="4544568"/>
            <a:ext cx="10149840" cy="0"/>
          </a:xfrm>
          <a:prstGeom prst="line">
            <a:avLst/>
          </a:prstGeom>
          <a:noFill/>
          <a:ln w="6350">
            <a:solidFill>
              <a:srgbClr val="DCE5ED"/>
            </a:solidFill>
            <a:prstDash val="solid"/>
          </a:ln>
        </p:spPr>
      </p:sp>
      <p:sp>
        <p:nvSpPr>
          <p:cNvPr id="14" name="Text 12"/>
          <p:cNvSpPr/>
          <p:nvPr/>
        </p:nvSpPr>
        <p:spPr>
          <a:xfrm>
            <a:off x="594360" y="4654296"/>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04</a:t>
            </a:r>
            <a:endParaRPr lang="en-US" sz="1700" dirty="0"/>
          </a:p>
        </p:txBody>
      </p:sp>
      <p:sp>
        <p:nvSpPr>
          <p:cNvPr id="15" name="Text 13"/>
          <p:cNvSpPr/>
          <p:nvPr/>
        </p:nvSpPr>
        <p:spPr>
          <a:xfrm>
            <a:off x="1325880" y="4654296"/>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Revoir les critères; pas de Submit sans autorisation de coût.</a:t>
            </a:r>
            <a:endParaRPr lang="en-US" sz="2000" dirty="0"/>
          </a:p>
        </p:txBody>
      </p:sp>
      <p:sp>
        <p:nvSpPr>
          <p:cNvPr id="16" name="Shape 14"/>
          <p:cNvSpPr/>
          <p:nvPr/>
        </p:nvSpPr>
        <p:spPr>
          <a:xfrm>
            <a:off x="1325880" y="5486400"/>
            <a:ext cx="10149840" cy="0"/>
          </a:xfrm>
          <a:prstGeom prst="line">
            <a:avLst/>
          </a:prstGeom>
          <a:noFill/>
          <a:ln w="6350">
            <a:solidFill>
              <a:srgbClr val="DCE5ED"/>
            </a:solidFill>
            <a:prstDash val="solid"/>
          </a:ln>
        </p:spPr>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Formation synthétique | Guide et Atelier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12 / 37</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INGÉNIERIE DE L’ÉVALUATION</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Point portail : ouvrir l’essai terminé</a:t>
            </a:r>
            <a:endParaRPr lang="en-US" sz="2700" dirty="0"/>
          </a:p>
        </p:txBody>
      </p:sp>
      <p:pic>
        <p:nvPicPr>
          <p:cNvPr id="5" name="Image 0" descr="Essai conservé terminé : 15/15 contrôles globaux et 5/5 par métrique.">
            <a:hlinkClick r:id="rId2" tooltip=""/>
          </p:cNvPr>
          <p:cNvPicPr>
            <a:picLocks noChangeAspect="1"/>
          </p:cNvPicPr>
          <p:nvPr/>
        </p:nvPicPr>
        <p:blipFill>
          <a:blip r:embed="rId1"/>
          <a:srcRect l="15914" r="1483" t="25351" b="47681"/>
          <a:stretch/>
        </p:blipFill>
        <p:spPr>
          <a:xfrm>
            <a:off x="548640" y="1874520"/>
            <a:ext cx="11064240" cy="2258008"/>
          </a:xfrm>
          <a:prstGeom prst="rect">
            <a:avLst/>
          </a:prstGeom>
        </p:spPr>
      </p:pic>
      <p:sp>
        <p:nvSpPr>
          <p:cNvPr id="6" name="Text 3"/>
          <p:cNvSpPr/>
          <p:nvPr/>
        </p:nvSpPr>
        <p:spPr>
          <a:xfrm>
            <a:off x="548640" y="5166360"/>
            <a:ext cx="11064240" cy="411480"/>
          </a:xfrm>
          <a:prstGeom prst="rect">
            <a:avLst/>
          </a:prstGeom>
          <a:noFill/>
          <a:ln/>
        </p:spPr>
        <p:txBody>
          <a:bodyPr wrap="square" lIns="0" tIns="0" rIns="0" bIns="0" rtlCol="0" anchor="ctr"/>
          <a:lstStyle/>
          <a:p>
            <a:pPr indent="0" marL="0">
              <a:buNone/>
            </a:pPr>
            <a:r>
              <a:rPr lang="en-US" sz="1600" dirty="0">
                <a:solidFill>
                  <a:srgbClr val="526777"/>
                </a:solidFill>
                <a:latin typeface="Segoe UI" pitchFamily="34" charset="0"/>
                <a:ea typeface="Segoe UI" pitchFamily="34" charset="-122"/>
                <a:cs typeface="Segoe UI" pitchFamily="34" charset="-120"/>
              </a:rPr>
              <a:t>Staging français v6 | 2026-10-23 | Preuve conservée en lecture seule</a:t>
            </a:r>
            <a:endParaRPr lang="en-US" sz="1600" dirty="0"/>
          </a:p>
        </p:txBody>
      </p:sp>
      <p:sp>
        <p:nvSpPr>
          <p:cNvPr id="7" name="Text 4"/>
          <p:cNvSpPr/>
          <p:nvPr/>
        </p:nvSpPr>
        <p:spPr>
          <a:xfrm>
            <a:off x="548640" y="5623560"/>
            <a:ext cx="11064240" cy="457200"/>
          </a:xfrm>
          <a:prstGeom prst="rect">
            <a:avLst/>
          </a:prstGeom>
          <a:noFill/>
          <a:ln/>
        </p:spPr>
        <p:txBody>
          <a:bodyPr wrap="square" lIns="0" tIns="0" rIns="0" bIns="0" rtlCol="0" anchor="ctr"/>
          <a:lstStyle/>
          <a:p>
            <a:pPr indent="0" marL="0">
              <a:buNone/>
            </a:pPr>
            <a:r>
              <a:rPr lang="en-US" sz="2000" b="1" dirty="0">
                <a:solidFill>
                  <a:srgbClr val="183449"/>
                </a:solidFill>
                <a:latin typeface="Segoe UI" pitchFamily="34" charset="0"/>
                <a:ea typeface="Segoe UI" pitchFamily="34" charset="-122"/>
                <a:cs typeface="Segoe UI" pitchFamily="34" charset="-120"/>
              </a:rPr>
              <a:t>Sélectionner le nom, pas la case ni Add run.</a:t>
            </a:r>
            <a:endParaRPr lang="en-US" sz="2000" dirty="0"/>
          </a:p>
        </p:txBody>
      </p:sp>
      <p:sp>
        <p:nvSpPr>
          <p:cNvPr id="8" name="Text 5">
            <a:hlinkClick r:id="rId3"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Formation synthétique | Guide et Atelier 19</a:t>
            </a:r>
            <a:endParaRPr lang="en-US" sz="1000" dirty="0"/>
          </a:p>
        </p:txBody>
      </p:sp>
      <p:sp>
        <p:nvSpPr>
          <p:cNvPr id="9" name="Text 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13 / 37</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INGÉNIERIE DE L’ÉVALUATION</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Point portail : examiner notes et raisons</a:t>
            </a:r>
            <a:endParaRPr lang="en-US" sz="2700" dirty="0"/>
          </a:p>
        </p:txBody>
      </p:sp>
      <p:pic>
        <p:nvPicPr>
          <p:cNvPr id="5" name="Image 0" descr="Les cinq lignes conservées incluent Coherence Pass: 4 et Pass: 5.">
            <a:hlinkClick r:id="rId2" tooltip=""/>
          </p:cNvPr>
          <p:cNvPicPr>
            <a:picLocks noChangeAspect="1"/>
          </p:cNvPicPr>
          <p:nvPr/>
        </p:nvPicPr>
        <p:blipFill>
          <a:blip r:embed="rId1"/>
          <a:srcRect l="18435" r="1529" t="46763" b="16547"/>
          <a:stretch/>
        </p:blipFill>
        <p:spPr>
          <a:xfrm>
            <a:off x="548640" y="1874520"/>
            <a:ext cx="11064240" cy="3170091"/>
          </a:xfrm>
          <a:prstGeom prst="rect">
            <a:avLst/>
          </a:prstGeom>
        </p:spPr>
      </p:pic>
      <p:sp>
        <p:nvSpPr>
          <p:cNvPr id="6" name="Text 3"/>
          <p:cNvSpPr/>
          <p:nvPr/>
        </p:nvSpPr>
        <p:spPr>
          <a:xfrm>
            <a:off x="548640" y="5166360"/>
            <a:ext cx="11064240" cy="411480"/>
          </a:xfrm>
          <a:prstGeom prst="rect">
            <a:avLst/>
          </a:prstGeom>
          <a:noFill/>
          <a:ln/>
        </p:spPr>
        <p:txBody>
          <a:bodyPr wrap="square" lIns="0" tIns="0" rIns="0" bIns="0" rtlCol="0" anchor="ctr"/>
          <a:lstStyle/>
          <a:p>
            <a:pPr indent="0" marL="0">
              <a:buNone/>
            </a:pPr>
            <a:r>
              <a:rPr lang="en-US" sz="1600" dirty="0">
                <a:solidFill>
                  <a:srgbClr val="526777"/>
                </a:solidFill>
                <a:latin typeface="Segoe UI" pitchFamily="34" charset="0"/>
                <a:ea typeface="Segoe UI" pitchFamily="34" charset="-122"/>
                <a:cs typeface="Segoe UI" pitchFamily="34" charset="-120"/>
              </a:rPr>
              <a:t>Staging français v6 | 2026-10-23 | Cinq lignes conservées</a:t>
            </a:r>
            <a:endParaRPr lang="en-US" sz="1600" dirty="0"/>
          </a:p>
        </p:txBody>
      </p:sp>
      <p:sp>
        <p:nvSpPr>
          <p:cNvPr id="7" name="Text 4"/>
          <p:cNvSpPr/>
          <p:nvPr/>
        </p:nvSpPr>
        <p:spPr>
          <a:xfrm>
            <a:off x="548640" y="5623560"/>
            <a:ext cx="11064240" cy="457200"/>
          </a:xfrm>
          <a:prstGeom prst="rect">
            <a:avLst/>
          </a:prstGeom>
          <a:noFill/>
          <a:ln/>
        </p:spPr>
        <p:txBody>
          <a:bodyPr wrap="square" lIns="0" tIns="0" rIns="0" bIns="0" rtlCol="0" anchor="ctr"/>
          <a:lstStyle/>
          <a:p>
            <a:pPr indent="0" marL="0">
              <a:buNone/>
            </a:pPr>
            <a:r>
              <a:rPr lang="en-US" sz="2000" b="1" dirty="0">
                <a:solidFill>
                  <a:srgbClr val="183449"/>
                </a:solidFill>
                <a:latin typeface="Segoe UI" pitchFamily="34" charset="0"/>
                <a:ea typeface="Segoe UI" pitchFamily="34" charset="-122"/>
                <a:cs typeface="Segoe UI" pitchFamily="34" charset="-120"/>
              </a:rPr>
              <a:t>Pass: 4 peut coexister avec un résumé de réussites 100% / 5/5.</a:t>
            </a:r>
            <a:endParaRPr lang="en-US" sz="2000" dirty="0"/>
          </a:p>
        </p:txBody>
      </p:sp>
      <p:sp>
        <p:nvSpPr>
          <p:cNvPr id="8" name="Text 5">
            <a:hlinkClick r:id="rId3"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Formation synthétique | Guide et Atelier 19</a:t>
            </a:r>
            <a:endParaRPr lang="en-US" sz="1000" dirty="0"/>
          </a:p>
        </p:txBody>
      </p:sp>
      <p:sp>
        <p:nvSpPr>
          <p:cNvPr id="9" name="Text 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14 / 37</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INGÉNIERIE DE L’ÉVALUATION</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Ne pas mélanger les générations d’API</a:t>
            </a:r>
            <a:endParaRPr lang="en-US" sz="2700" dirty="0"/>
          </a:p>
        </p:txBody>
      </p:sp>
      <p:sp>
        <p:nvSpPr>
          <p:cNvPr id="5" name="Text 3"/>
          <p:cNvSpPr/>
          <p:nvPr/>
        </p:nvSpPr>
        <p:spPr>
          <a:xfrm>
            <a:off x="594360" y="1828800"/>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01</a:t>
            </a:r>
            <a:endParaRPr lang="en-US" sz="1700" dirty="0"/>
          </a:p>
        </p:txBody>
      </p:sp>
      <p:sp>
        <p:nvSpPr>
          <p:cNvPr id="6" name="Text 4"/>
          <p:cNvSpPr/>
          <p:nvPr/>
        </p:nvSpPr>
        <p:spPr>
          <a:xfrm>
            <a:off x="1325880" y="1828800"/>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Projects SDK et Evals natif : parcours cloud du dépôt.</a:t>
            </a:r>
            <a:endParaRPr lang="en-US" sz="2000" dirty="0"/>
          </a:p>
        </p:txBody>
      </p:sp>
      <p:sp>
        <p:nvSpPr>
          <p:cNvPr id="7" name="Shape 5"/>
          <p:cNvSpPr/>
          <p:nvPr/>
        </p:nvSpPr>
        <p:spPr>
          <a:xfrm>
            <a:off x="1325880" y="2660904"/>
            <a:ext cx="10149840" cy="0"/>
          </a:xfrm>
          <a:prstGeom prst="line">
            <a:avLst/>
          </a:prstGeom>
          <a:noFill/>
          <a:ln w="6350">
            <a:solidFill>
              <a:srgbClr val="DCE5ED"/>
            </a:solidFill>
            <a:prstDash val="solid"/>
          </a:ln>
        </p:spPr>
      </p:sp>
      <p:sp>
        <p:nvSpPr>
          <p:cNvPr id="8" name="Text 6"/>
          <p:cNvSpPr/>
          <p:nvPr/>
        </p:nvSpPr>
        <p:spPr>
          <a:xfrm>
            <a:off x="594360" y="2770632"/>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02</a:t>
            </a:r>
            <a:endParaRPr lang="en-US" sz="1700" dirty="0"/>
          </a:p>
        </p:txBody>
      </p:sp>
      <p:sp>
        <p:nvSpPr>
          <p:cNvPr id="9" name="Text 7"/>
          <p:cNvSpPr/>
          <p:nvPr/>
        </p:nvSpPr>
        <p:spPr>
          <a:xfrm>
            <a:off x="1325880" y="2770632"/>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azure-ai-evaluation expose un evaluate() local distinct.</a:t>
            </a:r>
            <a:endParaRPr lang="en-US" sz="2000" dirty="0"/>
          </a:p>
        </p:txBody>
      </p:sp>
      <p:sp>
        <p:nvSpPr>
          <p:cNvPr id="10" name="Shape 8"/>
          <p:cNvSpPr/>
          <p:nvPr/>
        </p:nvSpPr>
        <p:spPr>
          <a:xfrm>
            <a:off x="1325880" y="3602736"/>
            <a:ext cx="10149840" cy="0"/>
          </a:xfrm>
          <a:prstGeom prst="line">
            <a:avLst/>
          </a:prstGeom>
          <a:noFill/>
          <a:ln w="6350">
            <a:solidFill>
              <a:srgbClr val="DCE5ED"/>
            </a:solidFill>
            <a:prstDash val="solid"/>
          </a:ln>
        </p:spPr>
      </p:sp>
      <p:sp>
        <p:nvSpPr>
          <p:cNvPr id="11" name="Text 9"/>
          <p:cNvSpPr/>
          <p:nvPr/>
        </p:nvSpPr>
        <p:spPr>
          <a:xfrm>
            <a:off x="594360" y="3712464"/>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03</a:t>
            </a:r>
            <a:endParaRPr lang="en-US" sz="1700" dirty="0"/>
          </a:p>
        </p:txBody>
      </p:sp>
      <p:sp>
        <p:nvSpPr>
          <p:cNvPr id="12" name="Text 10"/>
          <p:cNvSpPr/>
          <p:nvPr/>
        </p:nvSpPr>
        <p:spPr>
          <a:xfrm>
            <a:off x="1325880" y="3712464"/>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Évaluateurs intégrés, code et grilles ont des schémas différents.</a:t>
            </a:r>
            <a:endParaRPr lang="en-US" sz="2000" dirty="0"/>
          </a:p>
        </p:txBody>
      </p:sp>
      <p:sp>
        <p:nvSpPr>
          <p:cNvPr id="13" name="Shape 11"/>
          <p:cNvSpPr/>
          <p:nvPr/>
        </p:nvSpPr>
        <p:spPr>
          <a:xfrm>
            <a:off x="1325880" y="4544568"/>
            <a:ext cx="10149840" cy="0"/>
          </a:xfrm>
          <a:prstGeom prst="line">
            <a:avLst/>
          </a:prstGeom>
          <a:noFill/>
          <a:ln w="6350">
            <a:solidFill>
              <a:srgbClr val="DCE5ED"/>
            </a:solidFill>
            <a:prstDash val="solid"/>
          </a:ln>
        </p:spPr>
      </p:sp>
      <p:sp>
        <p:nvSpPr>
          <p:cNvPr id="14" name="Text 12"/>
          <p:cNvSpPr/>
          <p:nvPr/>
        </p:nvSpPr>
        <p:spPr>
          <a:xfrm>
            <a:off x="594360" y="4654296"/>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04</a:t>
            </a:r>
            <a:endParaRPr lang="en-US" sz="1700" dirty="0"/>
          </a:p>
        </p:txBody>
      </p:sp>
      <p:sp>
        <p:nvSpPr>
          <p:cNvPr id="15" name="Text 13"/>
          <p:cNvSpPr/>
          <p:nvPr/>
        </p:nvSpPr>
        <p:spPr>
          <a:xfrm>
            <a:off x="1325880" y="4654296"/>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Préversion, région et version restent des limites.</a:t>
            </a:r>
            <a:endParaRPr lang="en-US" sz="2000" dirty="0"/>
          </a:p>
        </p:txBody>
      </p:sp>
      <p:sp>
        <p:nvSpPr>
          <p:cNvPr id="16" name="Shape 14"/>
          <p:cNvSpPr/>
          <p:nvPr/>
        </p:nvSpPr>
        <p:spPr>
          <a:xfrm>
            <a:off x="1325880" y="5486400"/>
            <a:ext cx="10149840" cy="0"/>
          </a:xfrm>
          <a:prstGeom prst="line">
            <a:avLst/>
          </a:prstGeom>
          <a:noFill/>
          <a:ln w="6350">
            <a:solidFill>
              <a:srgbClr val="DCE5ED"/>
            </a:solidFill>
            <a:prstDash val="solid"/>
          </a:ln>
        </p:spPr>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Formation synthétique | Guide et Atelier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15 / 37</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INGÉNIERIE DE L’ÉVALUATION</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Le contrat de l’évaluateur intégré</a:t>
            </a:r>
            <a:endParaRPr lang="en-US" sz="2700" dirty="0"/>
          </a:p>
        </p:txBody>
      </p:sp>
      <p:sp>
        <p:nvSpPr>
          <p:cNvPr id="5" name="Text 3"/>
          <p:cNvSpPr/>
          <p:nvPr/>
        </p:nvSpPr>
        <p:spPr>
          <a:xfrm>
            <a:off x="594360" y="1828800"/>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01</a:t>
            </a:r>
            <a:endParaRPr lang="en-US" sz="1700" dirty="0"/>
          </a:p>
        </p:txBody>
      </p:sp>
      <p:sp>
        <p:nvSpPr>
          <p:cNvPr id="6" name="Text 4"/>
          <p:cNvSpPr/>
          <p:nvPr/>
        </p:nvSpPr>
        <p:spPr>
          <a:xfrm>
            <a:off x="1325880" y="1828800"/>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type : azure_ai_evaluator; nom : builtin.groundedness.</a:t>
            </a:r>
            <a:endParaRPr lang="en-US" sz="2000" dirty="0"/>
          </a:p>
        </p:txBody>
      </p:sp>
      <p:sp>
        <p:nvSpPr>
          <p:cNvPr id="7" name="Shape 5"/>
          <p:cNvSpPr/>
          <p:nvPr/>
        </p:nvSpPr>
        <p:spPr>
          <a:xfrm>
            <a:off x="1325880" y="2660904"/>
            <a:ext cx="10149840" cy="0"/>
          </a:xfrm>
          <a:prstGeom prst="line">
            <a:avLst/>
          </a:prstGeom>
          <a:noFill/>
          <a:ln w="6350">
            <a:solidFill>
              <a:srgbClr val="DCE5ED"/>
            </a:solidFill>
            <a:prstDash val="solid"/>
          </a:ln>
        </p:spPr>
      </p:sp>
      <p:sp>
        <p:nvSpPr>
          <p:cNvPr id="8" name="Text 6"/>
          <p:cNvSpPr/>
          <p:nvPr/>
        </p:nvSpPr>
        <p:spPr>
          <a:xfrm>
            <a:off x="594360" y="2770632"/>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02</a:t>
            </a:r>
            <a:endParaRPr lang="en-US" sz="1700" dirty="0"/>
          </a:p>
        </p:txBody>
      </p:sp>
      <p:sp>
        <p:nvSpPr>
          <p:cNvPr id="9" name="Text 7"/>
          <p:cNvSpPr/>
          <p:nvPr/>
        </p:nvSpPr>
        <p:spPr>
          <a:xfrm>
            <a:off x="1325880" y="2770632"/>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Mapper contexte fiable et réponse dans la langue choisie.</a:t>
            </a:r>
            <a:endParaRPr lang="en-US" sz="2000" dirty="0"/>
          </a:p>
        </p:txBody>
      </p:sp>
      <p:sp>
        <p:nvSpPr>
          <p:cNvPr id="10" name="Shape 8"/>
          <p:cNvSpPr/>
          <p:nvPr/>
        </p:nvSpPr>
        <p:spPr>
          <a:xfrm>
            <a:off x="1325880" y="3602736"/>
            <a:ext cx="10149840" cy="0"/>
          </a:xfrm>
          <a:prstGeom prst="line">
            <a:avLst/>
          </a:prstGeom>
          <a:noFill/>
          <a:ln w="6350">
            <a:solidFill>
              <a:srgbClr val="DCE5ED"/>
            </a:solidFill>
            <a:prstDash val="solid"/>
          </a:ln>
        </p:spPr>
      </p:sp>
      <p:sp>
        <p:nvSpPr>
          <p:cNvPr id="11" name="Text 9"/>
          <p:cNvSpPr/>
          <p:nvPr/>
        </p:nvSpPr>
        <p:spPr>
          <a:xfrm>
            <a:off x="594360" y="3712464"/>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03</a:t>
            </a:r>
            <a:endParaRPr lang="en-US" sz="1700" dirty="0"/>
          </a:p>
        </p:txBody>
      </p:sp>
      <p:sp>
        <p:nvSpPr>
          <p:cNvPr id="12" name="Text 10"/>
          <p:cNvSpPr/>
          <p:nvPr/>
        </p:nvSpPr>
        <p:spPr>
          <a:xfrm>
            <a:off x="1325880" y="3712464"/>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Le code épinglé utilise initialization_parameters.deployment_name.</a:t>
            </a:r>
            <a:endParaRPr lang="en-US" sz="2000" dirty="0"/>
          </a:p>
        </p:txBody>
      </p:sp>
      <p:sp>
        <p:nvSpPr>
          <p:cNvPr id="13" name="Shape 11"/>
          <p:cNvSpPr/>
          <p:nvPr/>
        </p:nvSpPr>
        <p:spPr>
          <a:xfrm>
            <a:off x="1325880" y="4544568"/>
            <a:ext cx="10149840" cy="0"/>
          </a:xfrm>
          <a:prstGeom prst="line">
            <a:avLst/>
          </a:prstGeom>
          <a:noFill/>
          <a:ln w="6350">
            <a:solidFill>
              <a:srgbClr val="DCE5ED"/>
            </a:solidFill>
            <a:prstDash val="solid"/>
          </a:ln>
        </p:spPr>
      </p:sp>
      <p:sp>
        <p:nvSpPr>
          <p:cNvPr id="14" name="Text 12"/>
          <p:cNvSpPr/>
          <p:nvPr/>
        </p:nvSpPr>
        <p:spPr>
          <a:xfrm>
            <a:off x="594360" y="4654296"/>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04</a:t>
            </a:r>
            <a:endParaRPr lang="en-US" sz="1700" dirty="0"/>
          </a:p>
        </p:txBody>
      </p:sp>
      <p:sp>
        <p:nvSpPr>
          <p:cNvPr id="15" name="Text 13"/>
          <p:cNvSpPr/>
          <p:nvPr/>
        </p:nvSpPr>
        <p:spPr>
          <a:xfrm>
            <a:off x="1325880" y="4654296"/>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Task adherence reçoit messages et output_items normalisés.</a:t>
            </a:r>
            <a:endParaRPr lang="en-US" sz="2000" dirty="0"/>
          </a:p>
        </p:txBody>
      </p:sp>
      <p:sp>
        <p:nvSpPr>
          <p:cNvPr id="16" name="Shape 14"/>
          <p:cNvSpPr/>
          <p:nvPr/>
        </p:nvSpPr>
        <p:spPr>
          <a:xfrm>
            <a:off x="1325880" y="5486400"/>
            <a:ext cx="10149840" cy="0"/>
          </a:xfrm>
          <a:prstGeom prst="line">
            <a:avLst/>
          </a:prstGeom>
          <a:noFill/>
          <a:ln w="6350">
            <a:solidFill>
              <a:srgbClr val="DCE5ED"/>
            </a:solidFill>
            <a:prstDash val="solid"/>
          </a:ln>
        </p:spPr>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Formation synthétique | Guide et Atelier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16 / 37</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INGÉNIERIE DE L’ÉVALUATION</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Trois métriques, trois questions</a:t>
            </a:r>
            <a:endParaRPr lang="en-US" sz="2700" dirty="0"/>
          </a:p>
        </p:txBody>
      </p:sp>
      <p:sp>
        <p:nvSpPr>
          <p:cNvPr id="5" name="Text 3"/>
          <p:cNvSpPr/>
          <p:nvPr/>
        </p:nvSpPr>
        <p:spPr>
          <a:xfrm>
            <a:off x="594360" y="1828800"/>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01</a:t>
            </a:r>
            <a:endParaRPr lang="en-US" sz="1700" dirty="0"/>
          </a:p>
        </p:txBody>
      </p:sp>
      <p:sp>
        <p:nvSpPr>
          <p:cNvPr id="6" name="Text 4"/>
          <p:cNvSpPr/>
          <p:nvPr/>
        </p:nvSpPr>
        <p:spPr>
          <a:xfrm>
            <a:off x="1325880" y="1828800"/>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Coherence : l’accusé est-il logiquement compréhensible?</a:t>
            </a:r>
            <a:endParaRPr lang="en-US" sz="2000" dirty="0"/>
          </a:p>
        </p:txBody>
      </p:sp>
      <p:sp>
        <p:nvSpPr>
          <p:cNvPr id="7" name="Shape 5"/>
          <p:cNvSpPr/>
          <p:nvPr/>
        </p:nvSpPr>
        <p:spPr>
          <a:xfrm>
            <a:off x="1325880" y="2660904"/>
            <a:ext cx="10149840" cy="0"/>
          </a:xfrm>
          <a:prstGeom prst="line">
            <a:avLst/>
          </a:prstGeom>
          <a:noFill/>
          <a:ln w="6350">
            <a:solidFill>
              <a:srgbClr val="DCE5ED"/>
            </a:solidFill>
            <a:prstDash val="solid"/>
          </a:ln>
        </p:spPr>
      </p:sp>
      <p:sp>
        <p:nvSpPr>
          <p:cNvPr id="8" name="Text 6"/>
          <p:cNvSpPr/>
          <p:nvPr/>
        </p:nvSpPr>
        <p:spPr>
          <a:xfrm>
            <a:off x="594360" y="2770632"/>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02</a:t>
            </a:r>
            <a:endParaRPr lang="en-US" sz="1700" dirty="0"/>
          </a:p>
        </p:txBody>
      </p:sp>
      <p:sp>
        <p:nvSpPr>
          <p:cNvPr id="9" name="Text 7"/>
          <p:cNvSpPr/>
          <p:nvPr/>
        </p:nvSpPr>
        <p:spPr>
          <a:xfrm>
            <a:off x="1325880" y="2770632"/>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Groundedness : les faits indépendants le soutiennent-ils?</a:t>
            </a:r>
            <a:endParaRPr lang="en-US" sz="2000" dirty="0"/>
          </a:p>
        </p:txBody>
      </p:sp>
      <p:sp>
        <p:nvSpPr>
          <p:cNvPr id="10" name="Shape 8"/>
          <p:cNvSpPr/>
          <p:nvPr/>
        </p:nvSpPr>
        <p:spPr>
          <a:xfrm>
            <a:off x="1325880" y="3602736"/>
            <a:ext cx="10149840" cy="0"/>
          </a:xfrm>
          <a:prstGeom prst="line">
            <a:avLst/>
          </a:prstGeom>
          <a:noFill/>
          <a:ln w="6350">
            <a:solidFill>
              <a:srgbClr val="DCE5ED"/>
            </a:solidFill>
            <a:prstDash val="solid"/>
          </a:ln>
        </p:spPr>
      </p:sp>
      <p:sp>
        <p:nvSpPr>
          <p:cNvPr id="11" name="Text 9"/>
          <p:cNvSpPr/>
          <p:nvPr/>
        </p:nvSpPr>
        <p:spPr>
          <a:xfrm>
            <a:off x="594360" y="3712464"/>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03</a:t>
            </a:r>
            <a:endParaRPr lang="en-US" sz="1700" dirty="0"/>
          </a:p>
        </p:txBody>
      </p:sp>
      <p:sp>
        <p:nvSpPr>
          <p:cNvPr id="12" name="Text 10"/>
          <p:cNvSpPr/>
          <p:nvPr/>
        </p:nvSpPr>
        <p:spPr>
          <a:xfrm>
            <a:off x="1325880" y="3712464"/>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Task adherence : respecte-t-il la tâche demandeur bornée?</a:t>
            </a:r>
            <a:endParaRPr lang="en-US" sz="2000" dirty="0"/>
          </a:p>
        </p:txBody>
      </p:sp>
      <p:sp>
        <p:nvSpPr>
          <p:cNvPr id="13" name="Shape 11"/>
          <p:cNvSpPr/>
          <p:nvPr/>
        </p:nvSpPr>
        <p:spPr>
          <a:xfrm>
            <a:off x="1325880" y="4544568"/>
            <a:ext cx="10149840" cy="0"/>
          </a:xfrm>
          <a:prstGeom prst="line">
            <a:avLst/>
          </a:prstGeom>
          <a:noFill/>
          <a:ln w="6350">
            <a:solidFill>
              <a:srgbClr val="DCE5ED"/>
            </a:solidFill>
            <a:prstDash val="solid"/>
          </a:ln>
        </p:spPr>
      </p:sp>
      <p:sp>
        <p:nvSpPr>
          <p:cNvPr id="14" name="Text 12"/>
          <p:cNvSpPr/>
          <p:nvPr/>
        </p:nvSpPr>
        <p:spPr>
          <a:xfrm>
            <a:off x="594360" y="4654296"/>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04</a:t>
            </a:r>
            <a:endParaRPr lang="en-US" sz="1700" dirty="0"/>
          </a:p>
        </p:txBody>
      </p:sp>
      <p:sp>
        <p:nvSpPr>
          <p:cNvPr id="15" name="Text 13"/>
          <p:cNvSpPr/>
          <p:nvPr/>
        </p:nvSpPr>
        <p:spPr>
          <a:xfrm>
            <a:off x="1325880" y="4654296"/>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Aucune ne prouve calcul, outils, persistance ou RBAC.</a:t>
            </a:r>
            <a:endParaRPr lang="en-US" sz="2000" dirty="0"/>
          </a:p>
        </p:txBody>
      </p:sp>
      <p:sp>
        <p:nvSpPr>
          <p:cNvPr id="16" name="Shape 14"/>
          <p:cNvSpPr/>
          <p:nvPr/>
        </p:nvSpPr>
        <p:spPr>
          <a:xfrm>
            <a:off x="1325880" y="5486400"/>
            <a:ext cx="10149840" cy="0"/>
          </a:xfrm>
          <a:prstGeom prst="line">
            <a:avLst/>
          </a:prstGeom>
          <a:noFill/>
          <a:ln w="6350">
            <a:solidFill>
              <a:srgbClr val="DCE5ED"/>
            </a:solidFill>
            <a:prstDash val="solid"/>
          </a:ln>
        </p:spPr>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Formation synthétique | Guide et Atelier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17 / 37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INGÉNIERIE DE L’ÉVALUATION</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Groundedness : examiner les entrées</a:t>
            </a:r>
            <a:endParaRPr lang="en-US" sz="2700" dirty="0"/>
          </a:p>
        </p:txBody>
      </p:sp>
      <p:pic>
        <p:nvPicPr>
          <p:cNvPr id="5" name="Image 0" descr="Catalogue Groundedness : entrées possibles et note ordinale de 1 à 5.">
            <a:hlinkClick r:id="rId2" tooltip=""/>
          </p:cNvPr>
          <p:cNvPicPr>
            <a:picLocks noChangeAspect="1"/>
          </p:cNvPicPr>
          <p:nvPr/>
        </p:nvPicPr>
        <p:blipFill>
          <a:blip r:embed="rId1"/>
          <a:srcRect l="18206" r="202" t="53937" b="9924"/>
          <a:stretch/>
        </p:blipFill>
        <p:spPr>
          <a:xfrm>
            <a:off x="548640" y="1874520"/>
            <a:ext cx="11064240" cy="3063240"/>
          </a:xfrm>
          <a:prstGeom prst="rect">
            <a:avLst/>
          </a:prstGeom>
        </p:spPr>
      </p:pic>
      <p:sp>
        <p:nvSpPr>
          <p:cNvPr id="6" name="Text 3"/>
          <p:cNvSpPr/>
          <p:nvPr/>
        </p:nvSpPr>
        <p:spPr>
          <a:xfrm>
            <a:off x="548640" y="5166360"/>
            <a:ext cx="11064240" cy="411480"/>
          </a:xfrm>
          <a:prstGeom prst="rect">
            <a:avLst/>
          </a:prstGeom>
          <a:noFill/>
          <a:ln/>
        </p:spPr>
        <p:txBody>
          <a:bodyPr wrap="square" lIns="0" tIns="0" rIns="0" bIns="0" rtlCol="0" anchor="ctr"/>
          <a:lstStyle/>
          <a:p>
            <a:pPr indent="0" marL="0">
              <a:buNone/>
            </a:pPr>
            <a:r>
              <a:rPr lang="en-US" sz="1600" dirty="0">
                <a:solidFill>
                  <a:srgbClr val="526777"/>
                </a:solidFill>
                <a:latin typeface="Segoe UI" pitchFamily="34" charset="0"/>
                <a:ea typeface="Segoe UI" pitchFamily="34" charset="-122"/>
                <a:cs typeface="Segoe UI" pitchFamily="34" charset="-120"/>
              </a:rPr>
              <a:t>Catalogue staging v18 | 2026-10-23 | Définition, pas résultat</a:t>
            </a:r>
            <a:endParaRPr lang="en-US" sz="1600" dirty="0"/>
          </a:p>
        </p:txBody>
      </p:sp>
      <p:sp>
        <p:nvSpPr>
          <p:cNvPr id="7" name="Text 4"/>
          <p:cNvSpPr/>
          <p:nvPr/>
        </p:nvSpPr>
        <p:spPr>
          <a:xfrm>
            <a:off x="548640" y="5623560"/>
            <a:ext cx="11064240" cy="457200"/>
          </a:xfrm>
          <a:prstGeom prst="rect">
            <a:avLst/>
          </a:prstGeom>
          <a:noFill/>
          <a:ln/>
        </p:spPr>
        <p:txBody>
          <a:bodyPr wrap="square" lIns="0" tIns="0" rIns="0" bIns="0" rtlCol="0" anchor="ctr"/>
          <a:lstStyle/>
          <a:p>
            <a:pPr indent="0" marL="0">
              <a:buNone/>
            </a:pPr>
            <a:r>
              <a:rPr lang="en-US" sz="2000" b="1" dirty="0">
                <a:solidFill>
                  <a:srgbClr val="183449"/>
                </a:solidFill>
                <a:latin typeface="Segoe UI" pitchFamily="34" charset="0"/>
                <a:ea typeface="Segoe UI" pitchFamily="34" charset="-122"/>
                <a:cs typeface="Segoe UI" pitchFamily="34" charset="-120"/>
              </a:rPr>
              <a:t>Utiliser un contexte fiable indépendant, jamais la réponse candidate.</a:t>
            </a:r>
            <a:endParaRPr lang="en-US" sz="2000" dirty="0"/>
          </a:p>
        </p:txBody>
      </p:sp>
      <p:sp>
        <p:nvSpPr>
          <p:cNvPr id="8" name="Text 5">
            <a:hlinkClick r:id="rId3"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Formation synthétique | Guide et Atelier 19</a:t>
            </a:r>
            <a:endParaRPr lang="en-US" sz="1000" dirty="0"/>
          </a:p>
        </p:txBody>
      </p:sp>
      <p:sp>
        <p:nvSpPr>
          <p:cNvPr id="9" name="Text 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18 / 37</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INGÉNIERIE DE L’ÉVALUATION</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Le bilinguisme n’est pas une moyenne unique</a:t>
            </a:r>
            <a:endParaRPr lang="en-US" sz="2700" dirty="0"/>
          </a:p>
        </p:txBody>
      </p:sp>
      <p:sp>
        <p:nvSpPr>
          <p:cNvPr id="5" name="Text 3"/>
          <p:cNvSpPr/>
          <p:nvPr/>
        </p:nvSpPr>
        <p:spPr>
          <a:xfrm>
            <a:off x="594360" y="1828800"/>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01</a:t>
            </a:r>
            <a:endParaRPr lang="en-US" sz="1700" dirty="0"/>
          </a:p>
        </p:txBody>
      </p:sp>
      <p:sp>
        <p:nvSpPr>
          <p:cNvPr id="6" name="Text 4"/>
          <p:cNvSpPr/>
          <p:nvPr/>
        </p:nvSpPr>
        <p:spPr>
          <a:xfrm>
            <a:off x="1325880" y="1828800"/>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Convertir une source en essais EN et FR distincts.</a:t>
            </a:r>
            <a:endParaRPr lang="en-US" sz="2000" dirty="0"/>
          </a:p>
        </p:txBody>
      </p:sp>
      <p:sp>
        <p:nvSpPr>
          <p:cNvPr id="7" name="Shape 5"/>
          <p:cNvSpPr/>
          <p:nvPr/>
        </p:nvSpPr>
        <p:spPr>
          <a:xfrm>
            <a:off x="1325880" y="2660904"/>
            <a:ext cx="10149840" cy="0"/>
          </a:xfrm>
          <a:prstGeom prst="line">
            <a:avLst/>
          </a:prstGeom>
          <a:noFill/>
          <a:ln w="6350">
            <a:solidFill>
              <a:srgbClr val="DCE5ED"/>
            </a:solidFill>
            <a:prstDash val="solid"/>
          </a:ln>
        </p:spPr>
      </p:sp>
      <p:sp>
        <p:nvSpPr>
          <p:cNvPr id="8" name="Text 6"/>
          <p:cNvSpPr/>
          <p:nvPr/>
        </p:nvSpPr>
        <p:spPr>
          <a:xfrm>
            <a:off x="594360" y="2770632"/>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02</a:t>
            </a:r>
            <a:endParaRPr lang="en-US" sz="1700" dirty="0"/>
          </a:p>
        </p:txBody>
      </p:sp>
      <p:sp>
        <p:nvSpPr>
          <p:cNvPr id="9" name="Text 7"/>
          <p:cNvSpPr/>
          <p:nvPr/>
        </p:nvSpPr>
        <p:spPr>
          <a:xfrm>
            <a:off x="1325880" y="2770632"/>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Texte sélectionné en chaîne, pas carte bilingue brute.</a:t>
            </a:r>
            <a:endParaRPr lang="en-US" sz="2000" dirty="0"/>
          </a:p>
        </p:txBody>
      </p:sp>
      <p:sp>
        <p:nvSpPr>
          <p:cNvPr id="10" name="Shape 8"/>
          <p:cNvSpPr/>
          <p:nvPr/>
        </p:nvSpPr>
        <p:spPr>
          <a:xfrm>
            <a:off x="1325880" y="3602736"/>
            <a:ext cx="10149840" cy="0"/>
          </a:xfrm>
          <a:prstGeom prst="line">
            <a:avLst/>
          </a:prstGeom>
          <a:noFill/>
          <a:ln w="6350">
            <a:solidFill>
              <a:srgbClr val="DCE5ED"/>
            </a:solidFill>
            <a:prstDash val="solid"/>
          </a:ln>
        </p:spPr>
      </p:sp>
      <p:sp>
        <p:nvSpPr>
          <p:cNvPr id="11" name="Text 9"/>
          <p:cNvSpPr/>
          <p:nvPr/>
        </p:nvSpPr>
        <p:spPr>
          <a:xfrm>
            <a:off x="594360" y="3712464"/>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03</a:t>
            </a:r>
            <a:endParaRPr lang="en-US" sz="1700" dirty="0"/>
          </a:p>
        </p:txBody>
      </p:sp>
      <p:sp>
        <p:nvSpPr>
          <p:cNvPr id="12" name="Text 10"/>
          <p:cNvSpPr/>
          <p:nvPr/>
        </p:nvSpPr>
        <p:spPr>
          <a:xfrm>
            <a:off x="1325880" y="3712464"/>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Examiner défauts et mentions obligatoires par langue.</a:t>
            </a:r>
            <a:endParaRPr lang="en-US" sz="2000" dirty="0"/>
          </a:p>
        </p:txBody>
      </p:sp>
      <p:sp>
        <p:nvSpPr>
          <p:cNvPr id="13" name="Shape 11"/>
          <p:cNvSpPr/>
          <p:nvPr/>
        </p:nvSpPr>
        <p:spPr>
          <a:xfrm>
            <a:off x="1325880" y="4544568"/>
            <a:ext cx="10149840" cy="0"/>
          </a:xfrm>
          <a:prstGeom prst="line">
            <a:avLst/>
          </a:prstGeom>
          <a:noFill/>
          <a:ln w="6350">
            <a:solidFill>
              <a:srgbClr val="DCE5ED"/>
            </a:solidFill>
            <a:prstDash val="solid"/>
          </a:ln>
        </p:spPr>
      </p:sp>
      <p:sp>
        <p:nvSpPr>
          <p:cNvPr id="14" name="Text 12"/>
          <p:cNvSpPr/>
          <p:nvPr/>
        </p:nvSpPr>
        <p:spPr>
          <a:xfrm>
            <a:off x="594360" y="4654296"/>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04</a:t>
            </a:r>
            <a:endParaRPr lang="en-US" sz="1700" dirty="0"/>
          </a:p>
        </p:txBody>
      </p:sp>
      <p:sp>
        <p:nvSpPr>
          <p:cNvPr id="15" name="Text 13"/>
          <p:cNvSpPr/>
          <p:nvPr/>
        </p:nvSpPr>
        <p:spPr>
          <a:xfrm>
            <a:off x="1325880" y="4654296"/>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Une moyenne globale peut masquer une régression française.</a:t>
            </a:r>
            <a:endParaRPr lang="en-US" sz="2000" dirty="0"/>
          </a:p>
        </p:txBody>
      </p:sp>
      <p:sp>
        <p:nvSpPr>
          <p:cNvPr id="16" name="Shape 14"/>
          <p:cNvSpPr/>
          <p:nvPr/>
        </p:nvSpPr>
        <p:spPr>
          <a:xfrm>
            <a:off x="1325880" y="5486400"/>
            <a:ext cx="10149840" cy="0"/>
          </a:xfrm>
          <a:prstGeom prst="line">
            <a:avLst/>
          </a:prstGeom>
          <a:noFill/>
          <a:ln w="6350">
            <a:solidFill>
              <a:srgbClr val="DCE5ED"/>
            </a:solidFill>
            <a:prstDash val="solid"/>
          </a:ln>
        </p:spPr>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Formation synthétique | Guide et Atelier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19 / 37</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INGÉNIERIE DE L’ÉVALUATION</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Provenance : une étiquette n’est pas un épinglage</a:t>
            </a:r>
            <a:endParaRPr lang="en-US" sz="2700" dirty="0"/>
          </a:p>
        </p:txBody>
      </p:sp>
      <p:sp>
        <p:nvSpPr>
          <p:cNvPr id="5" name="Text 3"/>
          <p:cNvSpPr/>
          <p:nvPr/>
        </p:nvSpPr>
        <p:spPr>
          <a:xfrm>
            <a:off x="594360" y="1828800"/>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01</a:t>
            </a:r>
            <a:endParaRPr lang="en-US" sz="1700" dirty="0"/>
          </a:p>
        </p:txBody>
      </p:sp>
      <p:sp>
        <p:nvSpPr>
          <p:cNvPr id="6" name="Text 4"/>
          <p:cNvSpPr/>
          <p:nvPr/>
        </p:nvSpPr>
        <p:spPr>
          <a:xfrm>
            <a:off x="1325880" y="1828800"/>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--version consigne seulement le déploiement observé.</a:t>
            </a:r>
            <a:endParaRPr lang="en-US" sz="2000" dirty="0"/>
          </a:p>
        </p:txBody>
      </p:sp>
      <p:sp>
        <p:nvSpPr>
          <p:cNvPr id="7" name="Shape 5"/>
          <p:cNvSpPr/>
          <p:nvPr/>
        </p:nvSpPr>
        <p:spPr>
          <a:xfrm>
            <a:off x="1325880" y="2660904"/>
            <a:ext cx="10149840" cy="0"/>
          </a:xfrm>
          <a:prstGeom prst="line">
            <a:avLst/>
          </a:prstGeom>
          <a:noFill/>
          <a:ln w="6350">
            <a:solidFill>
              <a:srgbClr val="DCE5ED"/>
            </a:solidFill>
            <a:prstDash val="solid"/>
          </a:ln>
        </p:spPr>
      </p:sp>
      <p:sp>
        <p:nvSpPr>
          <p:cNvPr id="8" name="Text 6"/>
          <p:cNvSpPr/>
          <p:nvPr/>
        </p:nvSpPr>
        <p:spPr>
          <a:xfrm>
            <a:off x="594360" y="2770632"/>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02</a:t>
            </a:r>
            <a:endParaRPr lang="en-US" sz="1700" dirty="0"/>
          </a:p>
        </p:txBody>
      </p:sp>
      <p:sp>
        <p:nvSpPr>
          <p:cNvPr id="9" name="Text 7"/>
          <p:cNvSpPr/>
          <p:nvPr/>
        </p:nvSpPr>
        <p:spPr>
          <a:xfrm>
            <a:off x="1325880" y="2770632"/>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Réserver une fenêtre stable; vérifier version avant et après.</a:t>
            </a:r>
            <a:endParaRPr lang="en-US" sz="2000" dirty="0"/>
          </a:p>
        </p:txBody>
      </p:sp>
      <p:sp>
        <p:nvSpPr>
          <p:cNvPr id="10" name="Shape 8"/>
          <p:cNvSpPr/>
          <p:nvPr/>
        </p:nvSpPr>
        <p:spPr>
          <a:xfrm>
            <a:off x="1325880" y="3602736"/>
            <a:ext cx="10149840" cy="0"/>
          </a:xfrm>
          <a:prstGeom prst="line">
            <a:avLst/>
          </a:prstGeom>
          <a:noFill/>
          <a:ln w="6350">
            <a:solidFill>
              <a:srgbClr val="DCE5ED"/>
            </a:solidFill>
            <a:prstDash val="solid"/>
          </a:ln>
        </p:spPr>
      </p:sp>
      <p:sp>
        <p:nvSpPr>
          <p:cNvPr id="11" name="Text 9"/>
          <p:cNvSpPr/>
          <p:nvPr/>
        </p:nvSpPr>
        <p:spPr>
          <a:xfrm>
            <a:off x="594360" y="3712464"/>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03</a:t>
            </a:r>
            <a:endParaRPr lang="en-US" sz="1700" dirty="0"/>
          </a:p>
        </p:txBody>
      </p:sp>
      <p:sp>
        <p:nvSpPr>
          <p:cNvPr id="12" name="Text 10"/>
          <p:cNvSpPr/>
          <p:nvPr/>
        </p:nvSpPr>
        <p:spPr>
          <a:xfrm>
            <a:off x="1325880" y="3712464"/>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Figer source, jeu, grille, évaluateur et modèle juge.</a:t>
            </a:r>
            <a:endParaRPr lang="en-US" sz="2000" dirty="0"/>
          </a:p>
        </p:txBody>
      </p:sp>
      <p:sp>
        <p:nvSpPr>
          <p:cNvPr id="13" name="Shape 11"/>
          <p:cNvSpPr/>
          <p:nvPr/>
        </p:nvSpPr>
        <p:spPr>
          <a:xfrm>
            <a:off x="1325880" y="4544568"/>
            <a:ext cx="10149840" cy="0"/>
          </a:xfrm>
          <a:prstGeom prst="line">
            <a:avLst/>
          </a:prstGeom>
          <a:noFill/>
          <a:ln w="6350">
            <a:solidFill>
              <a:srgbClr val="DCE5ED"/>
            </a:solidFill>
            <a:prstDash val="solid"/>
          </a:ln>
        </p:spPr>
      </p:sp>
      <p:sp>
        <p:nvSpPr>
          <p:cNvPr id="14" name="Text 12"/>
          <p:cNvSpPr/>
          <p:nvPr/>
        </p:nvSpPr>
        <p:spPr>
          <a:xfrm>
            <a:off x="594360" y="4654296"/>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04</a:t>
            </a:r>
            <a:endParaRPr lang="en-US" sz="1700" dirty="0"/>
          </a:p>
        </p:txBody>
      </p:sp>
      <p:sp>
        <p:nvSpPr>
          <p:cNvPr id="15" name="Text 13"/>
          <p:cNvSpPr/>
          <p:nvPr/>
        </p:nvSpPr>
        <p:spPr>
          <a:xfrm>
            <a:off x="1325880" y="4654296"/>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Garder captures, IDs natifs/réponse et empreintes.</a:t>
            </a:r>
            <a:endParaRPr lang="en-US" sz="2000" dirty="0"/>
          </a:p>
        </p:txBody>
      </p:sp>
      <p:sp>
        <p:nvSpPr>
          <p:cNvPr id="16" name="Shape 14"/>
          <p:cNvSpPr/>
          <p:nvPr/>
        </p:nvSpPr>
        <p:spPr>
          <a:xfrm>
            <a:off x="1325880" y="5486400"/>
            <a:ext cx="10149840" cy="0"/>
          </a:xfrm>
          <a:prstGeom prst="line">
            <a:avLst/>
          </a:prstGeom>
          <a:noFill/>
          <a:ln w="6350">
            <a:solidFill>
              <a:srgbClr val="DCE5ED"/>
            </a:solidFill>
            <a:prstDash val="solid"/>
          </a:ln>
        </p:spPr>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Formation synthétique | Guide et Atelier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20 / 37</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INGÉNIERIE DE L’ÉVALUATION</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Complétude et qualité sont deux contrôles</a:t>
            </a:r>
            <a:endParaRPr lang="en-US" sz="2700" dirty="0"/>
          </a:p>
        </p:txBody>
      </p:sp>
      <p:sp>
        <p:nvSpPr>
          <p:cNvPr id="5" name="Shape 3"/>
          <p:cNvSpPr/>
          <p:nvPr/>
        </p:nvSpPr>
        <p:spPr>
          <a:xfrm>
            <a:off x="548640" y="1874520"/>
            <a:ext cx="5394960" cy="3886200"/>
          </a:xfrm>
          <a:prstGeom prst="rect">
            <a:avLst/>
          </a:prstGeom>
          <a:solidFill>
            <a:srgbClr val="EDF4FA"/>
          </a:solidFill>
          <a:ln w="12700">
            <a:solidFill>
              <a:srgbClr val="DCE5ED"/>
            </a:solidFill>
            <a:prstDash val="solid"/>
          </a:ln>
        </p:spPr>
      </p:sp>
      <p:sp>
        <p:nvSpPr>
          <p:cNvPr id="6" name="Text 4"/>
          <p:cNvSpPr/>
          <p:nvPr/>
        </p:nvSpPr>
        <p:spPr>
          <a:xfrm>
            <a:off x="822960" y="2148840"/>
            <a:ext cx="4846320" cy="640080"/>
          </a:xfrm>
          <a:prstGeom prst="rect">
            <a:avLst/>
          </a:prstGeom>
          <a:noFill/>
          <a:ln/>
        </p:spPr>
        <p:txBody>
          <a:bodyPr wrap="square" lIns="0" tIns="0" rIns="0" bIns="0" rtlCol="0" anchor="ctr"/>
          <a:lstStyle/>
          <a:p>
            <a:pPr indent="0" marL="0">
              <a:buNone/>
            </a:pPr>
            <a:r>
              <a:rPr lang="en-US" sz="2300" b="1" dirty="0">
                <a:solidFill>
                  <a:srgbClr val="0078D4"/>
                </a:solidFill>
                <a:latin typeface="Segoe UI" pitchFamily="34" charset="0"/>
                <a:ea typeface="Segoe UI" pitchFamily="34" charset="-122"/>
                <a:cs typeface="Segoe UI" pitchFamily="34" charset="-120"/>
              </a:rPr>
              <a:t>Complétude</a:t>
            </a:r>
            <a:endParaRPr lang="en-US" sz="2300" dirty="0"/>
          </a:p>
        </p:txBody>
      </p:sp>
      <p:sp>
        <p:nvSpPr>
          <p:cNvPr id="7" name="Text 5"/>
          <p:cNvSpPr/>
          <p:nvPr/>
        </p:nvSpPr>
        <p:spPr>
          <a:xfrm>
            <a:off x="822960" y="3017520"/>
            <a:ext cx="4846320" cy="594360"/>
          </a:xfrm>
          <a:prstGeom prst="rect">
            <a:avLst/>
          </a:prstGeom>
          <a:noFill/>
          <a:ln/>
        </p:spPr>
        <p:txBody>
          <a:bodyPr wrap="square" lIns="0" tIns="0" rIns="0" bIns="0" rtlCol="0" anchor="ctr"/>
          <a:lstStyle/>
          <a:p>
            <a:pPr indent="0" marL="0">
              <a:buNone/>
            </a:pPr>
            <a:r>
              <a:rPr lang="en-US" sz="1900" dirty="0">
                <a:solidFill>
                  <a:srgbClr val="183449"/>
                </a:solidFill>
                <a:latin typeface="Segoe UI" pitchFamily="34" charset="0"/>
                <a:ea typeface="Segoe UI" pitchFamily="34" charset="-122"/>
                <a:cs typeface="Segoe UI" pitchFamily="34" charset="-120"/>
              </a:rPr>
              <a:t>État terminal completed</a:t>
            </a:r>
            <a:endParaRPr lang="en-US" sz="1900" dirty="0"/>
          </a:p>
        </p:txBody>
      </p:sp>
      <p:sp>
        <p:nvSpPr>
          <p:cNvPr id="8" name="Text 6"/>
          <p:cNvSpPr/>
          <p:nvPr/>
        </p:nvSpPr>
        <p:spPr>
          <a:xfrm>
            <a:off x="822960" y="3794760"/>
            <a:ext cx="4846320" cy="594360"/>
          </a:xfrm>
          <a:prstGeom prst="rect">
            <a:avLst/>
          </a:prstGeom>
          <a:noFill/>
          <a:ln/>
        </p:spPr>
        <p:txBody>
          <a:bodyPr wrap="square" lIns="0" tIns="0" rIns="0" bIns="0" rtlCol="0" anchor="ctr"/>
          <a:lstStyle/>
          <a:p>
            <a:pPr indent="0" marL="0">
              <a:buNone/>
            </a:pPr>
            <a:r>
              <a:rPr lang="en-US" sz="1900" dirty="0">
                <a:solidFill>
                  <a:srgbClr val="183449"/>
                </a:solidFill>
                <a:latin typeface="Segoe UI" pitchFamily="34" charset="0"/>
                <a:ea typeface="Segoe UI" pitchFamily="34" charset="-122"/>
                <a:cs typeface="Segoe UI" pitchFamily="34" charset="-120"/>
              </a:rPr>
              <a:t>Lignes et métriques uniques attendues</a:t>
            </a:r>
            <a:endParaRPr lang="en-US" sz="1900" dirty="0"/>
          </a:p>
        </p:txBody>
      </p:sp>
      <p:sp>
        <p:nvSpPr>
          <p:cNvPr id="9" name="Text 7"/>
          <p:cNvSpPr/>
          <p:nvPr/>
        </p:nvSpPr>
        <p:spPr>
          <a:xfrm>
            <a:off x="822960" y="4572000"/>
            <a:ext cx="4846320" cy="594360"/>
          </a:xfrm>
          <a:prstGeom prst="rect">
            <a:avLst/>
          </a:prstGeom>
          <a:noFill/>
          <a:ln/>
        </p:spPr>
        <p:txBody>
          <a:bodyPr wrap="square" lIns="0" tIns="0" rIns="0" bIns="0" rtlCol="0" anchor="ctr"/>
          <a:lstStyle/>
          <a:p>
            <a:pPr indent="0" marL="0">
              <a:buNone/>
            </a:pPr>
            <a:r>
              <a:rPr lang="en-US" sz="1900" dirty="0">
                <a:solidFill>
                  <a:srgbClr val="183449"/>
                </a:solidFill>
                <a:latin typeface="Segoe UI" pitchFamily="34" charset="0"/>
                <a:ea typeface="Segoe UI" pitchFamily="34" charset="-122"/>
                <a:cs typeface="Segoe UI" pitchFamily="34" charset="-120"/>
              </a:rPr>
              <a:t>Aucune erreur ni exclusion</a:t>
            </a:r>
            <a:endParaRPr lang="en-US" sz="1900" dirty="0"/>
          </a:p>
        </p:txBody>
      </p:sp>
      <p:sp>
        <p:nvSpPr>
          <p:cNvPr id="10" name="Shape 8"/>
          <p:cNvSpPr/>
          <p:nvPr/>
        </p:nvSpPr>
        <p:spPr>
          <a:xfrm>
            <a:off x="6217920" y="1874520"/>
            <a:ext cx="5394960" cy="3886200"/>
          </a:xfrm>
          <a:prstGeom prst="rect">
            <a:avLst/>
          </a:prstGeom>
          <a:solidFill>
            <a:srgbClr val="EDF4FA"/>
          </a:solidFill>
          <a:ln w="12700">
            <a:solidFill>
              <a:srgbClr val="DCE5ED"/>
            </a:solidFill>
            <a:prstDash val="solid"/>
          </a:ln>
        </p:spPr>
      </p:sp>
      <p:sp>
        <p:nvSpPr>
          <p:cNvPr id="11" name="Text 9"/>
          <p:cNvSpPr/>
          <p:nvPr/>
        </p:nvSpPr>
        <p:spPr>
          <a:xfrm>
            <a:off x="6492240" y="2148840"/>
            <a:ext cx="4846320" cy="640080"/>
          </a:xfrm>
          <a:prstGeom prst="rect">
            <a:avLst/>
          </a:prstGeom>
          <a:noFill/>
          <a:ln/>
        </p:spPr>
        <p:txBody>
          <a:bodyPr wrap="square" lIns="0" tIns="0" rIns="0" bIns="0" rtlCol="0" anchor="ctr"/>
          <a:lstStyle/>
          <a:p>
            <a:pPr indent="0" marL="0">
              <a:buNone/>
            </a:pPr>
            <a:r>
              <a:rPr lang="en-US" sz="2300" b="1" dirty="0">
                <a:solidFill>
                  <a:srgbClr val="0078D4"/>
                </a:solidFill>
                <a:latin typeface="Segoe UI" pitchFamily="34" charset="0"/>
                <a:ea typeface="Segoe UI" pitchFamily="34" charset="-122"/>
                <a:cs typeface="Segoe UI" pitchFamily="34" charset="-120"/>
              </a:rPr>
              <a:t>Qualité</a:t>
            </a:r>
            <a:endParaRPr lang="en-US" sz="2300" dirty="0"/>
          </a:p>
        </p:txBody>
      </p:sp>
      <p:sp>
        <p:nvSpPr>
          <p:cNvPr id="12" name="Text 10"/>
          <p:cNvSpPr/>
          <p:nvPr/>
        </p:nvSpPr>
        <p:spPr>
          <a:xfrm>
            <a:off x="6492240" y="3017520"/>
            <a:ext cx="4846320" cy="594360"/>
          </a:xfrm>
          <a:prstGeom prst="rect">
            <a:avLst/>
          </a:prstGeom>
          <a:noFill/>
          <a:ln/>
        </p:spPr>
        <p:txBody>
          <a:bodyPr wrap="square" lIns="0" tIns="0" rIns="0" bIns="0" rtlCol="0" anchor="ctr"/>
          <a:lstStyle/>
          <a:p>
            <a:pPr indent="0" marL="0">
              <a:buNone/>
            </a:pPr>
            <a:r>
              <a:rPr lang="en-US" sz="1900" dirty="0">
                <a:solidFill>
                  <a:srgbClr val="183449"/>
                </a:solidFill>
                <a:latin typeface="Segoe UI" pitchFamily="34" charset="0"/>
                <a:ea typeface="Segoe UI" pitchFamily="34" charset="-122"/>
                <a:cs typeface="Segoe UI" pitchFamily="34" charset="-120"/>
              </a:rPr>
              <a:t>Seuils par métrique calibrés</a:t>
            </a:r>
            <a:endParaRPr lang="en-US" sz="1900" dirty="0"/>
          </a:p>
        </p:txBody>
      </p:sp>
      <p:sp>
        <p:nvSpPr>
          <p:cNvPr id="13" name="Text 11"/>
          <p:cNvSpPr/>
          <p:nvPr/>
        </p:nvSpPr>
        <p:spPr>
          <a:xfrm>
            <a:off x="6492240" y="3794760"/>
            <a:ext cx="4846320" cy="594360"/>
          </a:xfrm>
          <a:prstGeom prst="rect">
            <a:avLst/>
          </a:prstGeom>
          <a:noFill/>
          <a:ln/>
        </p:spPr>
        <p:txBody>
          <a:bodyPr wrap="square" lIns="0" tIns="0" rIns="0" bIns="0" rtlCol="0" anchor="ctr"/>
          <a:lstStyle/>
          <a:p>
            <a:pPr indent="0" marL="0">
              <a:buNone/>
            </a:pPr>
            <a:r>
              <a:rPr lang="en-US" sz="1900" dirty="0">
                <a:solidFill>
                  <a:srgbClr val="183449"/>
                </a:solidFill>
                <a:latin typeface="Segoe UI" pitchFamily="34" charset="0"/>
                <a:ea typeface="Segoe UI" pitchFamily="34" charset="-122"/>
                <a:cs typeface="Segoe UI" pitchFamily="34" charset="-120"/>
              </a:rPr>
              <a:t>Faux positifs/négatifs par segment</a:t>
            </a:r>
            <a:endParaRPr lang="en-US" sz="1900" dirty="0"/>
          </a:p>
        </p:txBody>
      </p:sp>
      <p:sp>
        <p:nvSpPr>
          <p:cNvPr id="14" name="Text 12"/>
          <p:cNvSpPr/>
          <p:nvPr/>
        </p:nvSpPr>
        <p:spPr>
          <a:xfrm>
            <a:off x="6492240" y="4572000"/>
            <a:ext cx="4846320" cy="594360"/>
          </a:xfrm>
          <a:prstGeom prst="rect">
            <a:avLst/>
          </a:prstGeom>
          <a:noFill/>
          <a:ln/>
        </p:spPr>
        <p:txBody>
          <a:bodyPr wrap="square" lIns="0" tIns="0" rIns="0" bIns="0" rtlCol="0" anchor="ctr"/>
          <a:lstStyle/>
          <a:p>
            <a:pPr indent="0" marL="0">
              <a:buNone/>
            </a:pPr>
            <a:r>
              <a:rPr lang="en-US" sz="1900" dirty="0">
                <a:solidFill>
                  <a:srgbClr val="183449"/>
                </a:solidFill>
                <a:latin typeface="Segoe UI" pitchFamily="34" charset="0"/>
                <a:ea typeface="Segoe UI" pitchFamily="34" charset="-122"/>
                <a:cs typeface="Segoe UI" pitchFamily="34" charset="-120"/>
              </a:rPr>
              <a:t>Révision humaine et incertitude</a:t>
            </a:r>
            <a:endParaRPr lang="en-US" sz="1900" dirty="0"/>
          </a:p>
        </p:txBody>
      </p:sp>
      <p:sp>
        <p:nvSpPr>
          <p:cNvPr id="15" name="Text 13">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Formation synthétique | Guide et Atelier 19</a:t>
            </a:r>
            <a:endParaRPr lang="en-US" sz="1000" dirty="0"/>
          </a:p>
        </p:txBody>
      </p:sp>
      <p:sp>
        <p:nvSpPr>
          <p:cNvPr id="16" name="Text 14"/>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21 / 37</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INGÉNIERIE DE L’ÉVALUATION</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Comprendre la politique existante</a:t>
            </a:r>
            <a:endParaRPr lang="en-US" sz="2700" dirty="0"/>
          </a:p>
        </p:txBody>
      </p:sp>
      <p:sp>
        <p:nvSpPr>
          <p:cNvPr id="5" name="Text 3"/>
          <p:cNvSpPr/>
          <p:nvPr/>
        </p:nvSpPr>
        <p:spPr>
          <a:xfrm>
            <a:off x="594360" y="1828800"/>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01</a:t>
            </a:r>
            <a:endParaRPr lang="en-US" sz="1700" dirty="0"/>
          </a:p>
        </p:txBody>
      </p:sp>
      <p:sp>
        <p:nvSpPr>
          <p:cNvPr id="6" name="Text 4"/>
          <p:cNvSpPr/>
          <p:nvPr/>
        </p:nvSpPr>
        <p:spPr>
          <a:xfrm>
            <a:off x="1325880" y="1828800"/>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Déterminisme et preuve native incomplète bloquent.</a:t>
            </a:r>
            <a:endParaRPr lang="en-US" sz="2000" dirty="0"/>
          </a:p>
        </p:txBody>
      </p:sp>
      <p:sp>
        <p:nvSpPr>
          <p:cNvPr id="7" name="Shape 5"/>
          <p:cNvSpPr/>
          <p:nvPr/>
        </p:nvSpPr>
        <p:spPr>
          <a:xfrm>
            <a:off x="1325880" y="2660904"/>
            <a:ext cx="10149840" cy="0"/>
          </a:xfrm>
          <a:prstGeom prst="line">
            <a:avLst/>
          </a:prstGeom>
          <a:noFill/>
          <a:ln w="6350">
            <a:solidFill>
              <a:srgbClr val="DCE5ED"/>
            </a:solidFill>
            <a:prstDash val="solid"/>
          </a:ln>
        </p:spPr>
      </p:sp>
      <p:sp>
        <p:nvSpPr>
          <p:cNvPr id="8" name="Text 6"/>
          <p:cNvSpPr/>
          <p:nvPr/>
        </p:nvSpPr>
        <p:spPr>
          <a:xfrm>
            <a:off x="594360" y="2770632"/>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02</a:t>
            </a:r>
            <a:endParaRPr lang="en-US" sz="1700" dirty="0"/>
          </a:p>
        </p:txBody>
      </p:sp>
      <p:sp>
        <p:nvSpPr>
          <p:cNvPr id="9" name="Text 7"/>
          <p:cNvSpPr/>
          <p:nvPr/>
        </p:nvSpPr>
        <p:spPr>
          <a:xfrm>
            <a:off x="1325880" y="2770632"/>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Les notes natives complètes restent consultatives dans le workflow.</a:t>
            </a:r>
            <a:endParaRPr lang="en-US" sz="2000" dirty="0"/>
          </a:p>
        </p:txBody>
      </p:sp>
      <p:sp>
        <p:nvSpPr>
          <p:cNvPr id="10" name="Shape 8"/>
          <p:cNvSpPr/>
          <p:nvPr/>
        </p:nvSpPr>
        <p:spPr>
          <a:xfrm>
            <a:off x="1325880" y="3602736"/>
            <a:ext cx="10149840" cy="0"/>
          </a:xfrm>
          <a:prstGeom prst="line">
            <a:avLst/>
          </a:prstGeom>
          <a:noFill/>
          <a:ln w="6350">
            <a:solidFill>
              <a:srgbClr val="DCE5ED"/>
            </a:solidFill>
            <a:prstDash val="solid"/>
          </a:ln>
        </p:spPr>
      </p:sp>
      <p:sp>
        <p:nvSpPr>
          <p:cNvPr id="11" name="Text 9"/>
          <p:cNvSpPr/>
          <p:nvPr/>
        </p:nvSpPr>
        <p:spPr>
          <a:xfrm>
            <a:off x="594360" y="3712464"/>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03</a:t>
            </a:r>
            <a:endParaRPr lang="en-US" sz="1700" dirty="0"/>
          </a:p>
        </p:txBody>
      </p:sp>
      <p:sp>
        <p:nvSpPr>
          <p:cNvPr id="12" name="Text 10"/>
          <p:cNvSpPr/>
          <p:nvPr/>
        </p:nvSpPr>
        <p:spPr>
          <a:xfrm>
            <a:off x="1325880" y="3712464"/>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--minimum-pass-rate 1.0 signifie 100 % des cas, pas une note 1/5.</a:t>
            </a:r>
            <a:endParaRPr lang="en-US" sz="2000" dirty="0"/>
          </a:p>
        </p:txBody>
      </p:sp>
      <p:sp>
        <p:nvSpPr>
          <p:cNvPr id="13" name="Shape 11"/>
          <p:cNvSpPr/>
          <p:nvPr/>
        </p:nvSpPr>
        <p:spPr>
          <a:xfrm>
            <a:off x="1325880" y="4544568"/>
            <a:ext cx="10149840" cy="0"/>
          </a:xfrm>
          <a:prstGeom prst="line">
            <a:avLst/>
          </a:prstGeom>
          <a:noFill/>
          <a:ln w="6350">
            <a:solidFill>
              <a:srgbClr val="DCE5ED"/>
            </a:solidFill>
            <a:prstDash val="solid"/>
          </a:ln>
        </p:spPr>
      </p:sp>
      <p:sp>
        <p:nvSpPr>
          <p:cNvPr id="14" name="Text 12"/>
          <p:cNvSpPr/>
          <p:nvPr/>
        </p:nvSpPr>
        <p:spPr>
          <a:xfrm>
            <a:off x="594360" y="4654296"/>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04</a:t>
            </a:r>
            <a:endParaRPr lang="en-US" sz="1700" dirty="0"/>
          </a:p>
        </p:txBody>
      </p:sp>
      <p:sp>
        <p:nvSpPr>
          <p:cNvPr id="15" name="Text 13"/>
          <p:cNvSpPr/>
          <p:nvPr/>
        </p:nvSpPr>
        <p:spPr>
          <a:xfrm>
            <a:off x="1325880" y="4654296"/>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Approbation protégée et identité réelle restent obligatoires.</a:t>
            </a:r>
            <a:endParaRPr lang="en-US" sz="2000" dirty="0"/>
          </a:p>
        </p:txBody>
      </p:sp>
      <p:sp>
        <p:nvSpPr>
          <p:cNvPr id="16" name="Shape 14"/>
          <p:cNvSpPr/>
          <p:nvPr/>
        </p:nvSpPr>
        <p:spPr>
          <a:xfrm>
            <a:off x="1325880" y="5486400"/>
            <a:ext cx="10149840" cy="0"/>
          </a:xfrm>
          <a:prstGeom prst="line">
            <a:avLst/>
          </a:prstGeom>
          <a:noFill/>
          <a:ln w="6350">
            <a:solidFill>
              <a:srgbClr val="DCE5ED"/>
            </a:solidFill>
            <a:prstDash val="solid"/>
          </a:ln>
        </p:spPr>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Formation synthétique | Guide et Atelier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22 / 37</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INGÉNIERIE DE L’ÉVALUATION</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Cas réel : panne service, pas défaut modèle</a:t>
            </a:r>
            <a:endParaRPr lang="en-US" sz="2700" dirty="0"/>
          </a:p>
        </p:txBody>
      </p:sp>
      <p:sp>
        <p:nvSpPr>
          <p:cNvPr id="5" name="Text 3"/>
          <p:cNvSpPr/>
          <p:nvPr/>
        </p:nvSpPr>
        <p:spPr>
          <a:xfrm>
            <a:off x="594360" y="1828800"/>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01</a:t>
            </a:r>
            <a:endParaRPr lang="en-US" sz="1700" dirty="0"/>
          </a:p>
        </p:txBody>
      </p:sp>
      <p:sp>
        <p:nvSpPr>
          <p:cNvPr id="6" name="Text 4"/>
          <p:cNvSpPr/>
          <p:nvPr/>
        </p:nvSpPr>
        <p:spPr>
          <a:xfrm>
            <a:off x="1325880" y="1828800"/>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Livraison 39527950931, essai 1 : SystemError, aucune ligne notée.</a:t>
            </a:r>
            <a:endParaRPr lang="en-US" sz="2000" dirty="0"/>
          </a:p>
        </p:txBody>
      </p:sp>
      <p:sp>
        <p:nvSpPr>
          <p:cNvPr id="7" name="Shape 5"/>
          <p:cNvSpPr/>
          <p:nvPr/>
        </p:nvSpPr>
        <p:spPr>
          <a:xfrm>
            <a:off x="1325880" y="2660904"/>
            <a:ext cx="10149840" cy="0"/>
          </a:xfrm>
          <a:prstGeom prst="line">
            <a:avLst/>
          </a:prstGeom>
          <a:noFill/>
          <a:ln w="6350">
            <a:solidFill>
              <a:srgbClr val="DCE5ED"/>
            </a:solidFill>
            <a:prstDash val="solid"/>
          </a:ln>
        </p:spPr>
      </p:sp>
      <p:sp>
        <p:nvSpPr>
          <p:cNvPr id="8" name="Text 6"/>
          <p:cNvSpPr/>
          <p:nvPr/>
        </p:nvSpPr>
        <p:spPr>
          <a:xfrm>
            <a:off x="594360" y="2770632"/>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02</a:t>
            </a:r>
            <a:endParaRPr lang="en-US" sz="1700" dirty="0"/>
          </a:p>
        </p:txBody>
      </p:sp>
      <p:sp>
        <p:nvSpPr>
          <p:cNvPr id="9" name="Text 7"/>
          <p:cNvSpPr/>
          <p:nvPr/>
        </p:nvSpPr>
        <p:spPr>
          <a:xfrm>
            <a:off x="1325880" y="2770632"/>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Le contrôle de complétude a bloqué la production.</a:t>
            </a:r>
            <a:endParaRPr lang="en-US" sz="2000" dirty="0"/>
          </a:p>
        </p:txBody>
      </p:sp>
      <p:sp>
        <p:nvSpPr>
          <p:cNvPr id="10" name="Shape 8"/>
          <p:cNvSpPr/>
          <p:nvPr/>
        </p:nvSpPr>
        <p:spPr>
          <a:xfrm>
            <a:off x="1325880" y="3602736"/>
            <a:ext cx="10149840" cy="0"/>
          </a:xfrm>
          <a:prstGeom prst="line">
            <a:avLst/>
          </a:prstGeom>
          <a:noFill/>
          <a:ln w="6350">
            <a:solidFill>
              <a:srgbClr val="DCE5ED"/>
            </a:solidFill>
            <a:prstDash val="solid"/>
          </a:ln>
        </p:spPr>
      </p:sp>
      <p:sp>
        <p:nvSpPr>
          <p:cNvPr id="11" name="Text 9"/>
          <p:cNvSpPr/>
          <p:nvPr/>
        </p:nvSpPr>
        <p:spPr>
          <a:xfrm>
            <a:off x="594360" y="3712464"/>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03</a:t>
            </a:r>
            <a:endParaRPr lang="en-US" sz="1700" dirty="0"/>
          </a:p>
        </p:txBody>
      </p:sp>
      <p:sp>
        <p:nvSpPr>
          <p:cNvPr id="12" name="Text 10"/>
          <p:cNvSpPr/>
          <p:nvPr/>
        </p:nvSpPr>
        <p:spPr>
          <a:xfrm>
            <a:off x="1325880" y="3712464"/>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Relance autorisée : seul job échoué, même code 2c3f13b.</a:t>
            </a:r>
            <a:endParaRPr lang="en-US" sz="2000" dirty="0"/>
          </a:p>
        </p:txBody>
      </p:sp>
      <p:sp>
        <p:nvSpPr>
          <p:cNvPr id="13" name="Shape 11"/>
          <p:cNvSpPr/>
          <p:nvPr/>
        </p:nvSpPr>
        <p:spPr>
          <a:xfrm>
            <a:off x="1325880" y="4544568"/>
            <a:ext cx="10149840" cy="0"/>
          </a:xfrm>
          <a:prstGeom prst="line">
            <a:avLst/>
          </a:prstGeom>
          <a:noFill/>
          <a:ln w="6350">
            <a:solidFill>
              <a:srgbClr val="DCE5ED"/>
            </a:solidFill>
            <a:prstDash val="solid"/>
          </a:ln>
        </p:spPr>
      </p:sp>
      <p:sp>
        <p:nvSpPr>
          <p:cNvPr id="14" name="Text 12"/>
          <p:cNvSpPr/>
          <p:nvPr/>
        </p:nvSpPr>
        <p:spPr>
          <a:xfrm>
            <a:off x="594360" y="4654296"/>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04</a:t>
            </a:r>
            <a:endParaRPr lang="en-US" sz="1700" dirty="0"/>
          </a:p>
        </p:txBody>
      </p:sp>
      <p:sp>
        <p:nvSpPr>
          <p:cNvPr id="15" name="Text 13"/>
          <p:cNvSpPr/>
          <p:nvPr/>
        </p:nvSpPr>
        <p:spPr>
          <a:xfrm>
            <a:off x="1325880" y="4654296"/>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Essai 2 : EN/FR complets 5/5, puis promotion protégée.</a:t>
            </a:r>
            <a:endParaRPr lang="en-US" sz="2000" dirty="0"/>
          </a:p>
        </p:txBody>
      </p:sp>
      <p:sp>
        <p:nvSpPr>
          <p:cNvPr id="16" name="Shape 14"/>
          <p:cNvSpPr/>
          <p:nvPr/>
        </p:nvSpPr>
        <p:spPr>
          <a:xfrm>
            <a:off x="1325880" y="5486400"/>
            <a:ext cx="10149840" cy="0"/>
          </a:xfrm>
          <a:prstGeom prst="line">
            <a:avLst/>
          </a:prstGeom>
          <a:noFill/>
          <a:ln w="6350">
            <a:solidFill>
              <a:srgbClr val="DCE5ED"/>
            </a:solidFill>
            <a:prstDash val="solid"/>
          </a:ln>
        </p:spPr>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Formation synthétique | Guide et Atelier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23 / 37</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INGÉNIERIE DE L’ÉVALUATION</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Défier le juge avec une fausse réponse élégante</a:t>
            </a:r>
            <a:endParaRPr lang="en-US" sz="2700" dirty="0"/>
          </a:p>
        </p:txBody>
      </p:sp>
      <p:sp>
        <p:nvSpPr>
          <p:cNvPr id="5" name="Text 3"/>
          <p:cNvSpPr/>
          <p:nvPr/>
        </p:nvSpPr>
        <p:spPr>
          <a:xfrm>
            <a:off x="594360" y="1828800"/>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01</a:t>
            </a:r>
            <a:endParaRPr lang="en-US" sz="1700" dirty="0"/>
          </a:p>
        </p:txBody>
      </p:sp>
      <p:sp>
        <p:nvSpPr>
          <p:cNvPr id="6" name="Text 4"/>
          <p:cNvSpPr/>
          <p:nvPr/>
        </p:nvSpPr>
        <p:spPr>
          <a:xfrm>
            <a:off x="1325880" y="1828800"/>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Contrôle : « Approuvé; votre soumission finale de 900 CAD est envoyée. »</a:t>
            </a:r>
            <a:endParaRPr lang="en-US" sz="2000" dirty="0"/>
          </a:p>
        </p:txBody>
      </p:sp>
      <p:sp>
        <p:nvSpPr>
          <p:cNvPr id="7" name="Shape 5"/>
          <p:cNvSpPr/>
          <p:nvPr/>
        </p:nvSpPr>
        <p:spPr>
          <a:xfrm>
            <a:off x="1325880" y="2660904"/>
            <a:ext cx="10149840" cy="0"/>
          </a:xfrm>
          <a:prstGeom prst="line">
            <a:avLst/>
          </a:prstGeom>
          <a:noFill/>
          <a:ln w="6350">
            <a:solidFill>
              <a:srgbClr val="DCE5ED"/>
            </a:solidFill>
            <a:prstDash val="solid"/>
          </a:ln>
        </p:spPr>
      </p:sp>
      <p:sp>
        <p:nvSpPr>
          <p:cNvPr id="8" name="Text 6"/>
          <p:cNvSpPr/>
          <p:nvPr/>
        </p:nvSpPr>
        <p:spPr>
          <a:xfrm>
            <a:off x="594360" y="2770632"/>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02</a:t>
            </a:r>
            <a:endParaRPr lang="en-US" sz="1700" dirty="0"/>
          </a:p>
        </p:txBody>
      </p:sp>
      <p:sp>
        <p:nvSpPr>
          <p:cNvPr id="9" name="Text 7"/>
          <p:cNvSpPr/>
          <p:nvPr/>
        </p:nvSpPr>
        <p:spPr>
          <a:xfrm>
            <a:off x="1325880" y="2770632"/>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Violations : approbation, prix divulgué et faux envoi.</a:t>
            </a:r>
            <a:endParaRPr lang="en-US" sz="2000" dirty="0"/>
          </a:p>
        </p:txBody>
      </p:sp>
      <p:sp>
        <p:nvSpPr>
          <p:cNvPr id="10" name="Shape 8"/>
          <p:cNvSpPr/>
          <p:nvPr/>
        </p:nvSpPr>
        <p:spPr>
          <a:xfrm>
            <a:off x="1325880" y="3602736"/>
            <a:ext cx="10149840" cy="0"/>
          </a:xfrm>
          <a:prstGeom prst="line">
            <a:avLst/>
          </a:prstGeom>
          <a:noFill/>
          <a:ln w="6350">
            <a:solidFill>
              <a:srgbClr val="DCE5ED"/>
            </a:solidFill>
            <a:prstDash val="solid"/>
          </a:ln>
        </p:spPr>
      </p:sp>
      <p:sp>
        <p:nvSpPr>
          <p:cNvPr id="11" name="Text 9"/>
          <p:cNvSpPr/>
          <p:nvPr/>
        </p:nvSpPr>
        <p:spPr>
          <a:xfrm>
            <a:off x="594360" y="3712464"/>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03</a:t>
            </a:r>
            <a:endParaRPr lang="en-US" sz="1700" dirty="0"/>
          </a:p>
        </p:txBody>
      </p:sp>
      <p:sp>
        <p:nvSpPr>
          <p:cNvPr id="12" name="Text 10"/>
          <p:cNvSpPr/>
          <p:nvPr/>
        </p:nvSpPr>
        <p:spPr>
          <a:xfrm>
            <a:off x="1325880" y="3712464"/>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Groundedness/task adherence devraient rejeter ces affirmations.</a:t>
            </a:r>
            <a:endParaRPr lang="en-US" sz="2000" dirty="0"/>
          </a:p>
        </p:txBody>
      </p:sp>
      <p:sp>
        <p:nvSpPr>
          <p:cNvPr id="13" name="Shape 11"/>
          <p:cNvSpPr/>
          <p:nvPr/>
        </p:nvSpPr>
        <p:spPr>
          <a:xfrm>
            <a:off x="1325880" y="4544568"/>
            <a:ext cx="10149840" cy="0"/>
          </a:xfrm>
          <a:prstGeom prst="line">
            <a:avLst/>
          </a:prstGeom>
          <a:noFill/>
          <a:ln w="6350">
            <a:solidFill>
              <a:srgbClr val="DCE5ED"/>
            </a:solidFill>
            <a:prstDash val="solid"/>
          </a:ln>
        </p:spPr>
      </p:sp>
      <p:sp>
        <p:nvSpPr>
          <p:cNvPr id="14" name="Text 12"/>
          <p:cNvSpPr/>
          <p:nvPr/>
        </p:nvSpPr>
        <p:spPr>
          <a:xfrm>
            <a:off x="594360" y="4654296"/>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04</a:t>
            </a:r>
            <a:endParaRPr lang="en-US" sz="1700" dirty="0"/>
          </a:p>
        </p:txBody>
      </p:sp>
      <p:sp>
        <p:nvSpPr>
          <p:cNvPr id="15" name="Text 13"/>
          <p:cNvSpPr/>
          <p:nvPr/>
        </p:nvSpPr>
        <p:spPr>
          <a:xfrm>
            <a:off x="1325880" y="4654296"/>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Coherence peut réussir : fluidité n’est pas vérité.</a:t>
            </a:r>
            <a:endParaRPr lang="en-US" sz="2000" dirty="0"/>
          </a:p>
        </p:txBody>
      </p:sp>
      <p:sp>
        <p:nvSpPr>
          <p:cNvPr id="16" name="Shape 14"/>
          <p:cNvSpPr/>
          <p:nvPr/>
        </p:nvSpPr>
        <p:spPr>
          <a:xfrm>
            <a:off x="1325880" y="5486400"/>
            <a:ext cx="10149840" cy="0"/>
          </a:xfrm>
          <a:prstGeom prst="line">
            <a:avLst/>
          </a:prstGeom>
          <a:noFill/>
          <a:ln w="6350">
            <a:solidFill>
              <a:srgbClr val="DCE5ED"/>
            </a:solidFill>
            <a:prstDash val="solid"/>
          </a:ln>
        </p:spPr>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Formation synthétique | Guide et Atelier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24 / 37</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INGÉNIERIE DE L’ÉVALUATION</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Les faux positifs connus restent visibles</a:t>
            </a:r>
            <a:endParaRPr lang="en-US" sz="2700" dirty="0"/>
          </a:p>
        </p:txBody>
      </p:sp>
      <p:sp>
        <p:nvSpPr>
          <p:cNvPr id="5" name="Text 3"/>
          <p:cNvSpPr/>
          <p:nvPr/>
        </p:nvSpPr>
        <p:spPr>
          <a:xfrm>
            <a:off x="594360" y="1828800"/>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01</a:t>
            </a:r>
            <a:endParaRPr lang="en-US" sz="1700" dirty="0"/>
          </a:p>
        </p:txBody>
      </p:sp>
      <p:sp>
        <p:nvSpPr>
          <p:cNvPr id="6" name="Text 4"/>
          <p:cNvSpPr/>
          <p:nvPr/>
        </p:nvSpPr>
        <p:spPr>
          <a:xfrm>
            <a:off x="1325880" y="1828800"/>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Les contrôles RAG conservés incluaient une mauvaise réponse.</a:t>
            </a:r>
            <a:endParaRPr lang="en-US" sz="2000" dirty="0"/>
          </a:p>
        </p:txBody>
      </p:sp>
      <p:sp>
        <p:nvSpPr>
          <p:cNvPr id="7" name="Shape 5"/>
          <p:cNvSpPr/>
          <p:nvPr/>
        </p:nvSpPr>
        <p:spPr>
          <a:xfrm>
            <a:off x="1325880" y="2660904"/>
            <a:ext cx="10149840" cy="0"/>
          </a:xfrm>
          <a:prstGeom prst="line">
            <a:avLst/>
          </a:prstGeom>
          <a:noFill/>
          <a:ln w="6350">
            <a:solidFill>
              <a:srgbClr val="DCE5ED"/>
            </a:solidFill>
            <a:prstDash val="solid"/>
          </a:ln>
        </p:spPr>
      </p:sp>
      <p:sp>
        <p:nvSpPr>
          <p:cNvPr id="8" name="Text 6"/>
          <p:cNvSpPr/>
          <p:nvPr/>
        </p:nvSpPr>
        <p:spPr>
          <a:xfrm>
            <a:off x="594360" y="2770632"/>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02</a:t>
            </a:r>
            <a:endParaRPr lang="en-US" sz="1700" dirty="0"/>
          </a:p>
        </p:txBody>
      </p:sp>
      <p:sp>
        <p:nvSpPr>
          <p:cNvPr id="9" name="Text 7"/>
          <p:cNvSpPr/>
          <p:nvPr/>
        </p:nvSpPr>
        <p:spPr>
          <a:xfrm>
            <a:off x="1325880" y="2770632"/>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groundedness et groundedness_pro l’ont acceptée.</a:t>
            </a:r>
            <a:endParaRPr lang="en-US" sz="2000" dirty="0"/>
          </a:p>
        </p:txBody>
      </p:sp>
      <p:sp>
        <p:nvSpPr>
          <p:cNvPr id="10" name="Shape 8"/>
          <p:cNvSpPr/>
          <p:nvPr/>
        </p:nvSpPr>
        <p:spPr>
          <a:xfrm>
            <a:off x="1325880" y="3602736"/>
            <a:ext cx="10149840" cy="0"/>
          </a:xfrm>
          <a:prstGeom prst="line">
            <a:avLst/>
          </a:prstGeom>
          <a:noFill/>
          <a:ln w="6350">
            <a:solidFill>
              <a:srgbClr val="DCE5ED"/>
            </a:solidFill>
            <a:prstDash val="solid"/>
          </a:ln>
        </p:spPr>
      </p:sp>
      <p:sp>
        <p:nvSpPr>
          <p:cNvPr id="11" name="Text 9"/>
          <p:cNvSpPr/>
          <p:nvPr/>
        </p:nvSpPr>
        <p:spPr>
          <a:xfrm>
            <a:off x="594360" y="3712464"/>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03</a:t>
            </a:r>
            <a:endParaRPr lang="en-US" sz="1700" dirty="0"/>
          </a:p>
        </p:txBody>
      </p:sp>
      <p:sp>
        <p:nvSpPr>
          <p:cNvPr id="12" name="Text 10"/>
          <p:cNvSpPr/>
          <p:nvPr/>
        </p:nvSpPr>
        <p:spPr>
          <a:xfrm>
            <a:off x="1325880" y="3712464"/>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L’expérience de contrôle négatif a donc échoué.</a:t>
            </a:r>
            <a:endParaRPr lang="en-US" sz="2000" dirty="0"/>
          </a:p>
        </p:txBody>
      </p:sp>
      <p:sp>
        <p:nvSpPr>
          <p:cNvPr id="13" name="Shape 11"/>
          <p:cNvSpPr/>
          <p:nvPr/>
        </p:nvSpPr>
        <p:spPr>
          <a:xfrm>
            <a:off x="1325880" y="4544568"/>
            <a:ext cx="10149840" cy="0"/>
          </a:xfrm>
          <a:prstGeom prst="line">
            <a:avLst/>
          </a:prstGeom>
          <a:noFill/>
          <a:ln w="6350">
            <a:solidFill>
              <a:srgbClr val="DCE5ED"/>
            </a:solidFill>
            <a:prstDash val="solid"/>
          </a:ln>
        </p:spPr>
      </p:sp>
      <p:sp>
        <p:nvSpPr>
          <p:cNvPr id="14" name="Text 12"/>
          <p:cNvSpPr/>
          <p:nvPr/>
        </p:nvSpPr>
        <p:spPr>
          <a:xfrm>
            <a:off x="594360" y="4654296"/>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04</a:t>
            </a:r>
            <a:endParaRPr lang="en-US" sz="1700" dirty="0"/>
          </a:p>
        </p:txBody>
      </p:sp>
      <p:sp>
        <p:nvSpPr>
          <p:cNvPr id="15" name="Text 13"/>
          <p:cNvSpPr/>
          <p:nvPr/>
        </p:nvSpPr>
        <p:spPr>
          <a:xfrm>
            <a:off x="1325880" y="4654296"/>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Conserver prédicats explicites et expertise humaine.</a:t>
            </a:r>
            <a:endParaRPr lang="en-US" sz="2000" dirty="0"/>
          </a:p>
        </p:txBody>
      </p:sp>
      <p:sp>
        <p:nvSpPr>
          <p:cNvPr id="16" name="Shape 14"/>
          <p:cNvSpPr/>
          <p:nvPr/>
        </p:nvSpPr>
        <p:spPr>
          <a:xfrm>
            <a:off x="1325880" y="5486400"/>
            <a:ext cx="10149840" cy="0"/>
          </a:xfrm>
          <a:prstGeom prst="line">
            <a:avLst/>
          </a:prstGeom>
          <a:noFill/>
          <a:ln w="6350">
            <a:solidFill>
              <a:srgbClr val="DCE5ED"/>
            </a:solidFill>
            <a:prstDash val="solid"/>
          </a:ln>
        </p:spPr>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Formation synthétique | Guide et Atelier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25 / 37</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INGÉNIERIE DE L’ÉVALUATION</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Mesurer la calibration, pas seulement la moyenne</a:t>
            </a:r>
            <a:endParaRPr lang="en-US" sz="2700" dirty="0"/>
          </a:p>
        </p:txBody>
      </p:sp>
      <p:sp>
        <p:nvSpPr>
          <p:cNvPr id="5" name="Text 3"/>
          <p:cNvSpPr/>
          <p:nvPr/>
        </p:nvSpPr>
        <p:spPr>
          <a:xfrm>
            <a:off x="594360" y="1828800"/>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01</a:t>
            </a:r>
            <a:endParaRPr lang="en-US" sz="1700" dirty="0"/>
          </a:p>
        </p:txBody>
      </p:sp>
      <p:sp>
        <p:nvSpPr>
          <p:cNvPr id="6" name="Text 4"/>
          <p:cNvSpPr/>
          <p:nvPr/>
        </p:nvSpPr>
        <p:spPr>
          <a:xfrm>
            <a:off x="1325880" y="1828800"/>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Étiqueter cas valides, faux, incomplets et mauvaise langue.</a:t>
            </a:r>
            <a:endParaRPr lang="en-US" sz="2000" dirty="0"/>
          </a:p>
        </p:txBody>
      </p:sp>
      <p:sp>
        <p:nvSpPr>
          <p:cNvPr id="7" name="Shape 5"/>
          <p:cNvSpPr/>
          <p:nvPr/>
        </p:nvSpPr>
        <p:spPr>
          <a:xfrm>
            <a:off x="1325880" y="2660904"/>
            <a:ext cx="10149840" cy="0"/>
          </a:xfrm>
          <a:prstGeom prst="line">
            <a:avLst/>
          </a:prstGeom>
          <a:noFill/>
          <a:ln w="6350">
            <a:solidFill>
              <a:srgbClr val="DCE5ED"/>
            </a:solidFill>
            <a:prstDash val="solid"/>
          </a:ln>
        </p:spPr>
      </p:sp>
      <p:sp>
        <p:nvSpPr>
          <p:cNvPr id="8" name="Text 6"/>
          <p:cNvSpPr/>
          <p:nvPr/>
        </p:nvSpPr>
        <p:spPr>
          <a:xfrm>
            <a:off x="594360" y="2770632"/>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02</a:t>
            </a:r>
            <a:endParaRPr lang="en-US" sz="1700" dirty="0"/>
          </a:p>
        </p:txBody>
      </p:sp>
      <p:sp>
        <p:nvSpPr>
          <p:cNvPr id="9" name="Text 7"/>
          <p:cNvSpPr/>
          <p:nvPr/>
        </p:nvSpPr>
        <p:spPr>
          <a:xfrm>
            <a:off x="1325880" y="2770632"/>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Compter fausses acceptations et faux rejets par métrique/segment.</a:t>
            </a:r>
            <a:endParaRPr lang="en-US" sz="2000" dirty="0"/>
          </a:p>
        </p:txBody>
      </p:sp>
      <p:sp>
        <p:nvSpPr>
          <p:cNvPr id="10" name="Shape 8"/>
          <p:cNvSpPr/>
          <p:nvPr/>
        </p:nvSpPr>
        <p:spPr>
          <a:xfrm>
            <a:off x="1325880" y="3602736"/>
            <a:ext cx="10149840" cy="0"/>
          </a:xfrm>
          <a:prstGeom prst="line">
            <a:avLst/>
          </a:prstGeom>
          <a:noFill/>
          <a:ln w="6350">
            <a:solidFill>
              <a:srgbClr val="DCE5ED"/>
            </a:solidFill>
            <a:prstDash val="solid"/>
          </a:ln>
        </p:spPr>
      </p:sp>
      <p:sp>
        <p:nvSpPr>
          <p:cNvPr id="11" name="Text 9"/>
          <p:cNvSpPr/>
          <p:nvPr/>
        </p:nvSpPr>
        <p:spPr>
          <a:xfrm>
            <a:off x="594360" y="3712464"/>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03</a:t>
            </a:r>
            <a:endParaRPr lang="en-US" sz="1700" dirty="0"/>
          </a:p>
        </p:txBody>
      </p:sp>
      <p:sp>
        <p:nvSpPr>
          <p:cNvPr id="12" name="Text 10"/>
          <p:cNvSpPr/>
          <p:nvPr/>
        </p:nvSpPr>
        <p:spPr>
          <a:xfrm>
            <a:off x="1325880" y="3712464"/>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Inspecter les désaccords; masquer les labels du candidat si possible.</a:t>
            </a:r>
            <a:endParaRPr lang="en-US" sz="2000" dirty="0"/>
          </a:p>
        </p:txBody>
      </p:sp>
      <p:sp>
        <p:nvSpPr>
          <p:cNvPr id="13" name="Shape 11"/>
          <p:cNvSpPr/>
          <p:nvPr/>
        </p:nvSpPr>
        <p:spPr>
          <a:xfrm>
            <a:off x="1325880" y="4544568"/>
            <a:ext cx="10149840" cy="0"/>
          </a:xfrm>
          <a:prstGeom prst="line">
            <a:avLst/>
          </a:prstGeom>
          <a:noFill/>
          <a:ln w="6350">
            <a:solidFill>
              <a:srgbClr val="DCE5ED"/>
            </a:solidFill>
            <a:prstDash val="solid"/>
          </a:ln>
        </p:spPr>
      </p:sp>
      <p:sp>
        <p:nvSpPr>
          <p:cNvPr id="14" name="Text 12"/>
          <p:cNvSpPr/>
          <p:nvPr/>
        </p:nvSpPr>
        <p:spPr>
          <a:xfrm>
            <a:off x="594360" y="4654296"/>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04</a:t>
            </a:r>
            <a:endParaRPr lang="en-US" sz="1700" dirty="0"/>
          </a:p>
        </p:txBody>
      </p:sp>
      <p:sp>
        <p:nvSpPr>
          <p:cNvPr id="15" name="Text 13"/>
          <p:cNvSpPr/>
          <p:nvPr/>
        </p:nvSpPr>
        <p:spPr>
          <a:xfrm>
            <a:off x="1325880" y="4654296"/>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Conserver grille, seuils, modèle et échecs.</a:t>
            </a:r>
            <a:endParaRPr lang="en-US" sz="2000" dirty="0"/>
          </a:p>
        </p:txBody>
      </p:sp>
      <p:sp>
        <p:nvSpPr>
          <p:cNvPr id="16" name="Shape 14"/>
          <p:cNvSpPr/>
          <p:nvPr/>
        </p:nvSpPr>
        <p:spPr>
          <a:xfrm>
            <a:off x="1325880" y="5486400"/>
            <a:ext cx="10149840" cy="0"/>
          </a:xfrm>
          <a:prstGeom prst="line">
            <a:avLst/>
          </a:prstGeom>
          <a:noFill/>
          <a:ln w="6350">
            <a:solidFill>
              <a:srgbClr val="DCE5ED"/>
            </a:solidFill>
            <a:prstDash val="solid"/>
          </a:ln>
        </p:spPr>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Formation synthétique | Guide et Atelier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26 / 37</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INGÉNIERIE DE L’ÉVALUATION</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Deux expériences de répétition différentes</a:t>
            </a:r>
            <a:endParaRPr lang="en-US" sz="2700" dirty="0"/>
          </a:p>
        </p:txBody>
      </p:sp>
      <p:sp>
        <p:nvSpPr>
          <p:cNvPr id="5" name="Shape 3"/>
          <p:cNvSpPr/>
          <p:nvPr/>
        </p:nvSpPr>
        <p:spPr>
          <a:xfrm>
            <a:off x="548640" y="1874520"/>
            <a:ext cx="5394960" cy="3886200"/>
          </a:xfrm>
          <a:prstGeom prst="rect">
            <a:avLst/>
          </a:prstGeom>
          <a:solidFill>
            <a:srgbClr val="EDF4FA"/>
          </a:solidFill>
          <a:ln w="12700">
            <a:solidFill>
              <a:srgbClr val="DCE5ED"/>
            </a:solidFill>
            <a:prstDash val="solid"/>
          </a:ln>
        </p:spPr>
      </p:sp>
      <p:sp>
        <p:nvSpPr>
          <p:cNvPr id="6" name="Text 4"/>
          <p:cNvSpPr/>
          <p:nvPr/>
        </p:nvSpPr>
        <p:spPr>
          <a:xfrm>
            <a:off x="822960" y="2148840"/>
            <a:ext cx="4846320" cy="640080"/>
          </a:xfrm>
          <a:prstGeom prst="rect">
            <a:avLst/>
          </a:prstGeom>
          <a:noFill/>
          <a:ln/>
        </p:spPr>
        <p:txBody>
          <a:bodyPr wrap="square" lIns="0" tIns="0" rIns="0" bIns="0" rtlCol="0" anchor="ctr"/>
          <a:lstStyle/>
          <a:p>
            <a:pPr indent="0" marL="0">
              <a:buNone/>
            </a:pPr>
            <a:r>
              <a:rPr lang="en-US" sz="2300" b="1" dirty="0">
                <a:solidFill>
                  <a:srgbClr val="0078D4"/>
                </a:solidFill>
                <a:latin typeface="Segoe UI" pitchFamily="34" charset="0"/>
                <a:ea typeface="Segoe UI" pitchFamily="34" charset="-122"/>
                <a:cs typeface="Segoe UI" pitchFamily="34" charset="-120"/>
              </a:rPr>
              <a:t>Variance de génération</a:t>
            </a:r>
            <a:endParaRPr lang="en-US" sz="2300" dirty="0"/>
          </a:p>
        </p:txBody>
      </p:sp>
      <p:sp>
        <p:nvSpPr>
          <p:cNvPr id="7" name="Text 5"/>
          <p:cNvSpPr/>
          <p:nvPr/>
        </p:nvSpPr>
        <p:spPr>
          <a:xfrm>
            <a:off x="822960" y="3017520"/>
            <a:ext cx="4846320" cy="594360"/>
          </a:xfrm>
          <a:prstGeom prst="rect">
            <a:avLst/>
          </a:prstGeom>
          <a:noFill/>
          <a:ln/>
        </p:spPr>
        <p:txBody>
          <a:bodyPr wrap="square" lIns="0" tIns="0" rIns="0" bIns="0" rtlCol="0" anchor="ctr"/>
          <a:lstStyle/>
          <a:p>
            <a:pPr indent="0" marL="0">
              <a:buNone/>
            </a:pPr>
            <a:r>
              <a:rPr lang="en-US" sz="1900" dirty="0">
                <a:solidFill>
                  <a:srgbClr val="183449"/>
                </a:solidFill>
                <a:latin typeface="Segoe UI" pitchFamily="34" charset="0"/>
                <a:ea typeface="Segoe UI" pitchFamily="34" charset="-122"/>
                <a:cs typeface="Segoe UI" pitchFamily="34" charset="-120"/>
              </a:rPr>
              <a:t>Mêmes cas et état initial figés</a:t>
            </a:r>
            <a:endParaRPr lang="en-US" sz="1900" dirty="0"/>
          </a:p>
        </p:txBody>
      </p:sp>
      <p:sp>
        <p:nvSpPr>
          <p:cNvPr id="8" name="Text 6"/>
          <p:cNvSpPr/>
          <p:nvPr/>
        </p:nvSpPr>
        <p:spPr>
          <a:xfrm>
            <a:off x="822960" y="3794760"/>
            <a:ext cx="4846320" cy="594360"/>
          </a:xfrm>
          <a:prstGeom prst="rect">
            <a:avLst/>
          </a:prstGeom>
          <a:noFill/>
          <a:ln/>
        </p:spPr>
        <p:txBody>
          <a:bodyPr wrap="square" lIns="0" tIns="0" rIns="0" bIns="0" rtlCol="0" anchor="ctr"/>
          <a:lstStyle/>
          <a:p>
            <a:pPr indent="0" marL="0">
              <a:buNone/>
            </a:pPr>
            <a:r>
              <a:rPr lang="en-US" sz="1900" dirty="0">
                <a:solidFill>
                  <a:srgbClr val="183449"/>
                </a:solidFill>
                <a:latin typeface="Segoe UI" pitchFamily="34" charset="0"/>
                <a:ea typeface="Segoe UI" pitchFamily="34" charset="-122"/>
                <a:cs typeface="Segoe UI" pitchFamily="34" charset="-120"/>
              </a:rPr>
              <a:t>Nouvelles captures à chaque essai</a:t>
            </a:r>
            <a:endParaRPr lang="en-US" sz="1900" dirty="0"/>
          </a:p>
        </p:txBody>
      </p:sp>
      <p:sp>
        <p:nvSpPr>
          <p:cNvPr id="9" name="Text 7"/>
          <p:cNvSpPr/>
          <p:nvPr/>
        </p:nvSpPr>
        <p:spPr>
          <a:xfrm>
            <a:off x="822960" y="4572000"/>
            <a:ext cx="4846320" cy="594360"/>
          </a:xfrm>
          <a:prstGeom prst="rect">
            <a:avLst/>
          </a:prstGeom>
          <a:noFill/>
          <a:ln/>
        </p:spPr>
        <p:txBody>
          <a:bodyPr wrap="square" lIns="0" tIns="0" rIns="0" bIns="0" rtlCol="0" anchor="ctr"/>
          <a:lstStyle/>
          <a:p>
            <a:pPr indent="0" marL="0">
              <a:buNone/>
            </a:pPr>
            <a:r>
              <a:rPr lang="en-US" sz="1900" dirty="0">
                <a:solidFill>
                  <a:srgbClr val="183449"/>
                </a:solidFill>
                <a:latin typeface="Segoe UI" pitchFamily="34" charset="0"/>
                <a:ea typeface="Segoe UI" pitchFamily="34" charset="-122"/>
                <a:cs typeface="Segoe UI" pitchFamily="34" charset="-120"/>
              </a:rPr>
              <a:t>Juger et garder chaque réponse</a:t>
            </a:r>
            <a:endParaRPr lang="en-US" sz="1900" dirty="0"/>
          </a:p>
        </p:txBody>
      </p:sp>
      <p:sp>
        <p:nvSpPr>
          <p:cNvPr id="10" name="Shape 8"/>
          <p:cNvSpPr/>
          <p:nvPr/>
        </p:nvSpPr>
        <p:spPr>
          <a:xfrm>
            <a:off x="6217920" y="1874520"/>
            <a:ext cx="5394960" cy="3886200"/>
          </a:xfrm>
          <a:prstGeom prst="rect">
            <a:avLst/>
          </a:prstGeom>
          <a:solidFill>
            <a:srgbClr val="EDF4FA"/>
          </a:solidFill>
          <a:ln w="12700">
            <a:solidFill>
              <a:srgbClr val="DCE5ED"/>
            </a:solidFill>
            <a:prstDash val="solid"/>
          </a:ln>
        </p:spPr>
      </p:sp>
      <p:sp>
        <p:nvSpPr>
          <p:cNvPr id="11" name="Text 9"/>
          <p:cNvSpPr/>
          <p:nvPr/>
        </p:nvSpPr>
        <p:spPr>
          <a:xfrm>
            <a:off x="6492240" y="2148840"/>
            <a:ext cx="4846320" cy="640080"/>
          </a:xfrm>
          <a:prstGeom prst="rect">
            <a:avLst/>
          </a:prstGeom>
          <a:noFill/>
          <a:ln/>
        </p:spPr>
        <p:txBody>
          <a:bodyPr wrap="square" lIns="0" tIns="0" rIns="0" bIns="0" rtlCol="0" anchor="ctr"/>
          <a:lstStyle/>
          <a:p>
            <a:pPr indent="0" marL="0">
              <a:buNone/>
            </a:pPr>
            <a:r>
              <a:rPr lang="en-US" sz="2300" b="1" dirty="0">
                <a:solidFill>
                  <a:srgbClr val="0078D4"/>
                </a:solidFill>
                <a:latin typeface="Segoe UI" pitchFamily="34" charset="0"/>
                <a:ea typeface="Segoe UI" pitchFamily="34" charset="-122"/>
                <a:cs typeface="Segoe UI" pitchFamily="34" charset="-120"/>
              </a:rPr>
              <a:t>Variance du juge</a:t>
            </a:r>
            <a:endParaRPr lang="en-US" sz="2300" dirty="0"/>
          </a:p>
        </p:txBody>
      </p:sp>
      <p:sp>
        <p:nvSpPr>
          <p:cNvPr id="12" name="Text 10"/>
          <p:cNvSpPr/>
          <p:nvPr/>
        </p:nvSpPr>
        <p:spPr>
          <a:xfrm>
            <a:off x="6492240" y="3017520"/>
            <a:ext cx="4846320" cy="594360"/>
          </a:xfrm>
          <a:prstGeom prst="rect">
            <a:avLst/>
          </a:prstGeom>
          <a:noFill/>
          <a:ln/>
        </p:spPr>
        <p:txBody>
          <a:bodyPr wrap="square" lIns="0" tIns="0" rIns="0" bIns="0" rtlCol="0" anchor="ctr"/>
          <a:lstStyle/>
          <a:p>
            <a:pPr indent="0" marL="0">
              <a:buNone/>
            </a:pPr>
            <a:r>
              <a:rPr lang="en-US" sz="1900" dirty="0">
                <a:solidFill>
                  <a:srgbClr val="183449"/>
                </a:solidFill>
                <a:latin typeface="Segoe UI" pitchFamily="34" charset="0"/>
                <a:ea typeface="Segoe UI" pitchFamily="34" charset="-122"/>
                <a:cs typeface="Segoe UI" pitchFamily="34" charset="-120"/>
              </a:rPr>
              <a:t>Mêmes captures immuables</a:t>
            </a:r>
            <a:endParaRPr lang="en-US" sz="1900" dirty="0"/>
          </a:p>
        </p:txBody>
      </p:sp>
      <p:sp>
        <p:nvSpPr>
          <p:cNvPr id="13" name="Text 11"/>
          <p:cNvSpPr/>
          <p:nvPr/>
        </p:nvSpPr>
        <p:spPr>
          <a:xfrm>
            <a:off x="6492240" y="3794760"/>
            <a:ext cx="4846320" cy="594360"/>
          </a:xfrm>
          <a:prstGeom prst="rect">
            <a:avLst/>
          </a:prstGeom>
          <a:noFill/>
          <a:ln/>
        </p:spPr>
        <p:txBody>
          <a:bodyPr wrap="square" lIns="0" tIns="0" rIns="0" bIns="0" rtlCol="0" anchor="ctr"/>
          <a:lstStyle/>
          <a:p>
            <a:pPr indent="0" marL="0">
              <a:buNone/>
            </a:pPr>
            <a:r>
              <a:rPr lang="en-US" sz="1900" dirty="0">
                <a:solidFill>
                  <a:srgbClr val="183449"/>
                </a:solidFill>
                <a:latin typeface="Segoe UI" pitchFamily="34" charset="0"/>
                <a:ea typeface="Segoe UI" pitchFamily="34" charset="-122"/>
                <a:cs typeface="Segoe UI" pitchFamily="34" charset="-120"/>
              </a:rPr>
              <a:t>Appeler evaluate(), pas capture()</a:t>
            </a:r>
            <a:endParaRPr lang="en-US" sz="1900" dirty="0"/>
          </a:p>
        </p:txBody>
      </p:sp>
      <p:sp>
        <p:nvSpPr>
          <p:cNvPr id="14" name="Text 12"/>
          <p:cNvSpPr/>
          <p:nvPr/>
        </p:nvSpPr>
        <p:spPr>
          <a:xfrm>
            <a:off x="6492240" y="4572000"/>
            <a:ext cx="4846320" cy="594360"/>
          </a:xfrm>
          <a:prstGeom prst="rect">
            <a:avLst/>
          </a:prstGeom>
          <a:noFill/>
          <a:ln/>
        </p:spPr>
        <p:txBody>
          <a:bodyPr wrap="square" lIns="0" tIns="0" rIns="0" bIns="0" rtlCol="0" anchor="ctr"/>
          <a:lstStyle/>
          <a:p>
            <a:pPr indent="0" marL="0">
              <a:buNone/>
            </a:pPr>
            <a:r>
              <a:rPr lang="en-US" sz="1900" dirty="0">
                <a:solidFill>
                  <a:srgbClr val="183449"/>
                </a:solidFill>
                <a:latin typeface="Segoe UI" pitchFamily="34" charset="0"/>
                <a:ea typeface="Segoe UI" pitchFamily="34" charset="-122"/>
                <a:cs typeface="Segoe UI" pitchFamily="34" charset="-120"/>
              </a:rPr>
              <a:t>Consigner la réutilisation</a:t>
            </a:r>
            <a:endParaRPr lang="en-US" sz="1900" dirty="0"/>
          </a:p>
        </p:txBody>
      </p:sp>
      <p:sp>
        <p:nvSpPr>
          <p:cNvPr id="15" name="Text 13">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Formation synthétique | Guide et Atelier 19</a:t>
            </a:r>
            <a:endParaRPr lang="en-US" sz="1000" dirty="0"/>
          </a:p>
        </p:txBody>
      </p:sp>
      <p:sp>
        <p:nvSpPr>
          <p:cNvPr id="16" name="Text 14"/>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27 / 37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INGÉNIERIE DE L’ÉVALUATION</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5/5 ne démontre pas la perfection</a:t>
            </a:r>
            <a:endParaRPr lang="en-US" sz="2700" dirty="0"/>
          </a:p>
        </p:txBody>
      </p:sp>
      <p:sp>
        <p:nvSpPr>
          <p:cNvPr id="5" name="Text 3"/>
          <p:cNvSpPr/>
          <p:nvPr/>
        </p:nvSpPr>
        <p:spPr>
          <a:xfrm>
            <a:off x="594360" y="1828800"/>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01</a:t>
            </a:r>
            <a:endParaRPr lang="en-US" sz="1700" dirty="0"/>
          </a:p>
        </p:txBody>
      </p:sp>
      <p:sp>
        <p:nvSpPr>
          <p:cNvPr id="6" name="Text 4"/>
          <p:cNvSpPr/>
          <p:nvPr/>
        </p:nvSpPr>
        <p:spPr>
          <a:xfrm>
            <a:off x="1325880" y="1828800"/>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Wilson 95 % illustratif pour 5/5 : environ 0,57 à 1,00.</a:t>
            </a:r>
            <a:endParaRPr lang="en-US" sz="2000" dirty="0"/>
          </a:p>
        </p:txBody>
      </p:sp>
      <p:sp>
        <p:nvSpPr>
          <p:cNvPr id="7" name="Shape 5"/>
          <p:cNvSpPr/>
          <p:nvPr/>
        </p:nvSpPr>
        <p:spPr>
          <a:xfrm>
            <a:off x="1325880" y="2660904"/>
            <a:ext cx="10149840" cy="0"/>
          </a:xfrm>
          <a:prstGeom prst="line">
            <a:avLst/>
          </a:prstGeom>
          <a:noFill/>
          <a:ln w="6350">
            <a:solidFill>
              <a:srgbClr val="DCE5ED"/>
            </a:solidFill>
            <a:prstDash val="solid"/>
          </a:ln>
        </p:spPr>
      </p:sp>
      <p:sp>
        <p:nvSpPr>
          <p:cNvPr id="8" name="Text 6"/>
          <p:cNvSpPr/>
          <p:nvPr/>
        </p:nvSpPr>
        <p:spPr>
          <a:xfrm>
            <a:off x="594360" y="2770632"/>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02</a:t>
            </a:r>
            <a:endParaRPr lang="en-US" sz="1700" dirty="0"/>
          </a:p>
        </p:txBody>
      </p:sp>
      <p:sp>
        <p:nvSpPr>
          <p:cNvPr id="9" name="Text 7"/>
          <p:cNvSpPr/>
          <p:nvPr/>
        </p:nvSpPr>
        <p:spPr>
          <a:xfrm>
            <a:off x="1325880" y="2770632"/>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Cet intervalle suppose des observations Bernoulli indépendantes.</a:t>
            </a:r>
            <a:endParaRPr lang="en-US" sz="2000" dirty="0"/>
          </a:p>
        </p:txBody>
      </p:sp>
      <p:sp>
        <p:nvSpPr>
          <p:cNvPr id="10" name="Shape 8"/>
          <p:cNvSpPr/>
          <p:nvPr/>
        </p:nvSpPr>
        <p:spPr>
          <a:xfrm>
            <a:off x="1325880" y="3602736"/>
            <a:ext cx="10149840" cy="0"/>
          </a:xfrm>
          <a:prstGeom prst="line">
            <a:avLst/>
          </a:prstGeom>
          <a:noFill/>
          <a:ln w="6350">
            <a:solidFill>
              <a:srgbClr val="DCE5ED"/>
            </a:solidFill>
            <a:prstDash val="solid"/>
          </a:ln>
        </p:spPr>
      </p:sp>
      <p:sp>
        <p:nvSpPr>
          <p:cNvPr id="11" name="Text 9"/>
          <p:cNvSpPr/>
          <p:nvPr/>
        </p:nvSpPr>
        <p:spPr>
          <a:xfrm>
            <a:off x="594360" y="3712464"/>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03</a:t>
            </a:r>
            <a:endParaRPr lang="en-US" sz="1700" dirty="0"/>
          </a:p>
        </p:txBody>
      </p:sp>
      <p:sp>
        <p:nvSpPr>
          <p:cNvPr id="12" name="Text 10"/>
          <p:cNvSpPr/>
          <p:nvPr/>
        </p:nvSpPr>
        <p:spPr>
          <a:xfrm>
            <a:off x="1325880" y="3712464"/>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Notes répétées d’un cas : corrélées, pas de nouveaux clients.</a:t>
            </a:r>
            <a:endParaRPr lang="en-US" sz="2000" dirty="0"/>
          </a:p>
        </p:txBody>
      </p:sp>
      <p:sp>
        <p:nvSpPr>
          <p:cNvPr id="13" name="Shape 11"/>
          <p:cNvSpPr/>
          <p:nvPr/>
        </p:nvSpPr>
        <p:spPr>
          <a:xfrm>
            <a:off x="1325880" y="4544568"/>
            <a:ext cx="10149840" cy="0"/>
          </a:xfrm>
          <a:prstGeom prst="line">
            <a:avLst/>
          </a:prstGeom>
          <a:noFill/>
          <a:ln w="6350">
            <a:solidFill>
              <a:srgbClr val="DCE5ED"/>
            </a:solidFill>
            <a:prstDash val="solid"/>
          </a:ln>
        </p:spPr>
      </p:sp>
      <p:sp>
        <p:nvSpPr>
          <p:cNvPr id="14" name="Text 12"/>
          <p:cNvSpPr/>
          <p:nvPr/>
        </p:nvSpPr>
        <p:spPr>
          <a:xfrm>
            <a:off x="594360" y="4654296"/>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04</a:t>
            </a:r>
            <a:endParaRPr lang="en-US" sz="1700" dirty="0"/>
          </a:p>
        </p:txBody>
      </p:sp>
      <p:sp>
        <p:nvSpPr>
          <p:cNvPr id="15" name="Text 13"/>
          <p:cNvSpPr/>
          <p:nvPr/>
        </p:nvSpPr>
        <p:spPr>
          <a:xfrm>
            <a:off x="1325880" y="4654296"/>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Présenter incertitude par cas et limites des préjudices rares.</a:t>
            </a:r>
            <a:endParaRPr lang="en-US" sz="2000" dirty="0"/>
          </a:p>
        </p:txBody>
      </p:sp>
      <p:sp>
        <p:nvSpPr>
          <p:cNvPr id="16" name="Shape 14"/>
          <p:cNvSpPr/>
          <p:nvPr/>
        </p:nvSpPr>
        <p:spPr>
          <a:xfrm>
            <a:off x="1325880" y="5486400"/>
            <a:ext cx="10149840" cy="0"/>
          </a:xfrm>
          <a:prstGeom prst="line">
            <a:avLst/>
          </a:prstGeom>
          <a:noFill/>
          <a:ln w="6350">
            <a:solidFill>
              <a:srgbClr val="DCE5ED"/>
            </a:solidFill>
            <a:prstDash val="solid"/>
          </a:ln>
        </p:spPr>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Formation synthétique | Guide et Atelier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28 / 37</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INGÉNIERIE DE L’ÉVALUATION</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Comparer équitablement les candidats</a:t>
            </a:r>
            <a:endParaRPr lang="en-US" sz="2700" dirty="0"/>
          </a:p>
        </p:txBody>
      </p:sp>
      <p:sp>
        <p:nvSpPr>
          <p:cNvPr id="5" name="Text 3"/>
          <p:cNvSpPr/>
          <p:nvPr/>
        </p:nvSpPr>
        <p:spPr>
          <a:xfrm>
            <a:off x="594360" y="1828800"/>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01</a:t>
            </a:r>
            <a:endParaRPr lang="en-US" sz="1700" dirty="0"/>
          </a:p>
        </p:txBody>
      </p:sp>
      <p:sp>
        <p:nvSpPr>
          <p:cNvPr id="6" name="Text 4"/>
          <p:cNvSpPr/>
          <p:nvPr/>
        </p:nvSpPr>
        <p:spPr>
          <a:xfrm>
            <a:off x="1325880" y="1828800"/>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Apparier ID stable, langue, essai et état initial contrôlé.</a:t>
            </a:r>
            <a:endParaRPr lang="en-US" sz="2000" dirty="0"/>
          </a:p>
        </p:txBody>
      </p:sp>
      <p:sp>
        <p:nvSpPr>
          <p:cNvPr id="7" name="Shape 5"/>
          <p:cNvSpPr/>
          <p:nvPr/>
        </p:nvSpPr>
        <p:spPr>
          <a:xfrm>
            <a:off x="1325880" y="2660904"/>
            <a:ext cx="10149840" cy="0"/>
          </a:xfrm>
          <a:prstGeom prst="line">
            <a:avLst/>
          </a:prstGeom>
          <a:noFill/>
          <a:ln w="6350">
            <a:solidFill>
              <a:srgbClr val="DCE5ED"/>
            </a:solidFill>
            <a:prstDash val="solid"/>
          </a:ln>
        </p:spPr>
      </p:sp>
      <p:sp>
        <p:nvSpPr>
          <p:cNvPr id="8" name="Text 6"/>
          <p:cNvSpPr/>
          <p:nvPr/>
        </p:nvSpPr>
        <p:spPr>
          <a:xfrm>
            <a:off x="594360" y="2770632"/>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02</a:t>
            </a:r>
            <a:endParaRPr lang="en-US" sz="1700" dirty="0"/>
          </a:p>
        </p:txBody>
      </p:sp>
      <p:sp>
        <p:nvSpPr>
          <p:cNvPr id="9" name="Text 7"/>
          <p:cNvSpPr/>
          <p:nvPr/>
        </p:nvSpPr>
        <p:spPr>
          <a:xfrm>
            <a:off x="1325880" y="2770632"/>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Figer faits, grille, évaluateur et version du modèle juge.</a:t>
            </a:r>
            <a:endParaRPr lang="en-US" sz="2000" dirty="0"/>
          </a:p>
        </p:txBody>
      </p:sp>
      <p:sp>
        <p:nvSpPr>
          <p:cNvPr id="10" name="Shape 8"/>
          <p:cNvSpPr/>
          <p:nvPr/>
        </p:nvSpPr>
        <p:spPr>
          <a:xfrm>
            <a:off x="1325880" y="3602736"/>
            <a:ext cx="10149840" cy="0"/>
          </a:xfrm>
          <a:prstGeom prst="line">
            <a:avLst/>
          </a:prstGeom>
          <a:noFill/>
          <a:ln w="6350">
            <a:solidFill>
              <a:srgbClr val="DCE5ED"/>
            </a:solidFill>
            <a:prstDash val="solid"/>
          </a:ln>
        </p:spPr>
      </p:sp>
      <p:sp>
        <p:nvSpPr>
          <p:cNvPr id="11" name="Text 9"/>
          <p:cNvSpPr/>
          <p:nvPr/>
        </p:nvSpPr>
        <p:spPr>
          <a:xfrm>
            <a:off x="594360" y="3712464"/>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03</a:t>
            </a:r>
            <a:endParaRPr lang="en-US" sz="1700" dirty="0"/>
          </a:p>
        </p:txBody>
      </p:sp>
      <p:sp>
        <p:nvSpPr>
          <p:cNvPr id="12" name="Text 10"/>
          <p:cNvSpPr/>
          <p:nvPr/>
        </p:nvSpPr>
        <p:spPr>
          <a:xfrm>
            <a:off x="1325880" y="3712464"/>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Inspecter transitions réussite-échec, effet et incertitude.</a:t>
            </a:r>
            <a:endParaRPr lang="en-US" sz="2000" dirty="0"/>
          </a:p>
        </p:txBody>
      </p:sp>
      <p:sp>
        <p:nvSpPr>
          <p:cNvPr id="13" name="Shape 11"/>
          <p:cNvSpPr/>
          <p:nvPr/>
        </p:nvSpPr>
        <p:spPr>
          <a:xfrm>
            <a:off x="1325880" y="4544568"/>
            <a:ext cx="10149840" cy="0"/>
          </a:xfrm>
          <a:prstGeom prst="line">
            <a:avLst/>
          </a:prstGeom>
          <a:noFill/>
          <a:ln w="6350">
            <a:solidFill>
              <a:srgbClr val="DCE5ED"/>
            </a:solidFill>
            <a:prstDash val="solid"/>
          </a:ln>
        </p:spPr>
      </p:sp>
      <p:sp>
        <p:nvSpPr>
          <p:cNvPr id="14" name="Text 12"/>
          <p:cNvSpPr/>
          <p:nvPr/>
        </p:nvSpPr>
        <p:spPr>
          <a:xfrm>
            <a:off x="594360" y="4654296"/>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04</a:t>
            </a:r>
            <a:endParaRPr lang="en-US" sz="1700" dirty="0"/>
          </a:p>
        </p:txBody>
      </p:sp>
      <p:sp>
        <p:nvSpPr>
          <p:cNvPr id="15" name="Text 13"/>
          <p:cNvSpPr/>
          <p:nvPr/>
        </p:nvSpPr>
        <p:spPr>
          <a:xfrm>
            <a:off x="1325880" y="4654296"/>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Jeu/évaluateur modifié : nouvelle référence, pas amélioration.</a:t>
            </a:r>
            <a:endParaRPr lang="en-US" sz="2000" dirty="0"/>
          </a:p>
        </p:txBody>
      </p:sp>
      <p:sp>
        <p:nvSpPr>
          <p:cNvPr id="16" name="Shape 14"/>
          <p:cNvSpPr/>
          <p:nvPr/>
        </p:nvSpPr>
        <p:spPr>
          <a:xfrm>
            <a:off x="1325880" y="5486400"/>
            <a:ext cx="10149840" cy="0"/>
          </a:xfrm>
          <a:prstGeom prst="line">
            <a:avLst/>
          </a:prstGeom>
          <a:noFill/>
          <a:ln w="6350">
            <a:solidFill>
              <a:srgbClr val="DCE5ED"/>
            </a:solidFill>
            <a:prstDash val="solid"/>
          </a:ln>
        </p:spPr>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Formation synthétique | Guide et Atelier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29 / 37</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INGÉNIERIE DE L’ÉVALUATION</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Dépenser pour des preuves utiles</a:t>
            </a:r>
            <a:endParaRPr lang="en-US" sz="2700" dirty="0"/>
          </a:p>
        </p:txBody>
      </p:sp>
      <p:sp>
        <p:nvSpPr>
          <p:cNvPr id="5" name="Text 3"/>
          <p:cNvSpPr/>
          <p:nvPr/>
        </p:nvSpPr>
        <p:spPr>
          <a:xfrm>
            <a:off x="594360" y="1828800"/>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01</a:t>
            </a:r>
            <a:endParaRPr lang="en-US" sz="1700" dirty="0"/>
          </a:p>
        </p:txBody>
      </p:sp>
      <p:sp>
        <p:nvSpPr>
          <p:cNvPr id="6" name="Text 4"/>
          <p:cNvSpPr/>
          <p:nvPr/>
        </p:nvSpPr>
        <p:spPr>
          <a:xfrm>
            <a:off x="1325880" y="1828800"/>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Contrats locaux et golden gate avant les juges payants.</a:t>
            </a:r>
            <a:endParaRPr lang="en-US" sz="2000" dirty="0"/>
          </a:p>
        </p:txBody>
      </p:sp>
      <p:sp>
        <p:nvSpPr>
          <p:cNvPr id="7" name="Shape 5"/>
          <p:cNvSpPr/>
          <p:nvPr/>
        </p:nvSpPr>
        <p:spPr>
          <a:xfrm>
            <a:off x="1325880" y="2660904"/>
            <a:ext cx="10149840" cy="0"/>
          </a:xfrm>
          <a:prstGeom prst="line">
            <a:avLst/>
          </a:prstGeom>
          <a:noFill/>
          <a:ln w="6350">
            <a:solidFill>
              <a:srgbClr val="DCE5ED"/>
            </a:solidFill>
            <a:prstDash val="solid"/>
          </a:ln>
        </p:spPr>
      </p:sp>
      <p:sp>
        <p:nvSpPr>
          <p:cNvPr id="8" name="Text 6"/>
          <p:cNvSpPr/>
          <p:nvPr/>
        </p:nvSpPr>
        <p:spPr>
          <a:xfrm>
            <a:off x="594360" y="2770632"/>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02</a:t>
            </a:r>
            <a:endParaRPr lang="en-US" sz="1700" dirty="0"/>
          </a:p>
        </p:txBody>
      </p:sp>
      <p:sp>
        <p:nvSpPr>
          <p:cNvPr id="9" name="Text 7"/>
          <p:cNvSpPr/>
          <p:nvPr/>
        </p:nvSpPr>
        <p:spPr>
          <a:xfrm>
            <a:off x="1325880" y="2770632"/>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Pilote : 5 cas × 2 langues × 1 essai × 3 métriques = 30 jugements.</a:t>
            </a:r>
            <a:endParaRPr lang="en-US" sz="2000" dirty="0"/>
          </a:p>
        </p:txBody>
      </p:sp>
      <p:sp>
        <p:nvSpPr>
          <p:cNvPr id="10" name="Shape 8"/>
          <p:cNvSpPr/>
          <p:nvPr/>
        </p:nvSpPr>
        <p:spPr>
          <a:xfrm>
            <a:off x="1325880" y="3602736"/>
            <a:ext cx="10149840" cy="0"/>
          </a:xfrm>
          <a:prstGeom prst="line">
            <a:avLst/>
          </a:prstGeom>
          <a:noFill/>
          <a:ln w="6350">
            <a:solidFill>
              <a:srgbClr val="DCE5ED"/>
            </a:solidFill>
            <a:prstDash val="solid"/>
          </a:ln>
        </p:spPr>
      </p:sp>
      <p:sp>
        <p:nvSpPr>
          <p:cNvPr id="11" name="Text 9"/>
          <p:cNvSpPr/>
          <p:nvPr/>
        </p:nvSpPr>
        <p:spPr>
          <a:xfrm>
            <a:off x="594360" y="3712464"/>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03</a:t>
            </a:r>
            <a:endParaRPr lang="en-US" sz="1700" dirty="0"/>
          </a:p>
        </p:txBody>
      </p:sp>
      <p:sp>
        <p:nvSpPr>
          <p:cNvPr id="12" name="Text 10"/>
          <p:cNvSpPr/>
          <p:nvPr/>
        </p:nvSpPr>
        <p:spPr>
          <a:xfrm>
            <a:off x="1325880" y="3712464"/>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Répétitions, longs contextes et relances augmentent le coût.</a:t>
            </a:r>
            <a:endParaRPr lang="en-US" sz="2000" dirty="0"/>
          </a:p>
        </p:txBody>
      </p:sp>
      <p:sp>
        <p:nvSpPr>
          <p:cNvPr id="13" name="Shape 11"/>
          <p:cNvSpPr/>
          <p:nvPr/>
        </p:nvSpPr>
        <p:spPr>
          <a:xfrm>
            <a:off x="1325880" y="4544568"/>
            <a:ext cx="10149840" cy="0"/>
          </a:xfrm>
          <a:prstGeom prst="line">
            <a:avLst/>
          </a:prstGeom>
          <a:noFill/>
          <a:ln w="6350">
            <a:solidFill>
              <a:srgbClr val="DCE5ED"/>
            </a:solidFill>
            <a:prstDash val="solid"/>
          </a:ln>
        </p:spPr>
      </p:sp>
      <p:sp>
        <p:nvSpPr>
          <p:cNvPr id="14" name="Text 12"/>
          <p:cNvSpPr/>
          <p:nvPr/>
        </p:nvSpPr>
        <p:spPr>
          <a:xfrm>
            <a:off x="594360" y="4654296"/>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04</a:t>
            </a:r>
            <a:endParaRPr lang="en-US" sz="1700" dirty="0"/>
          </a:p>
        </p:txBody>
      </p:sp>
      <p:sp>
        <p:nvSpPr>
          <p:cNvPr id="15" name="Text 13"/>
          <p:cNvSpPr/>
          <p:nvPr/>
        </p:nvSpPr>
        <p:spPr>
          <a:xfrm>
            <a:off x="1325880" y="4654296"/>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Réutiliser les captures; borner concurrence et budget.</a:t>
            </a:r>
            <a:endParaRPr lang="en-US" sz="2000" dirty="0"/>
          </a:p>
        </p:txBody>
      </p:sp>
      <p:sp>
        <p:nvSpPr>
          <p:cNvPr id="16" name="Shape 14"/>
          <p:cNvSpPr/>
          <p:nvPr/>
        </p:nvSpPr>
        <p:spPr>
          <a:xfrm>
            <a:off x="1325880" y="5486400"/>
            <a:ext cx="10149840" cy="0"/>
          </a:xfrm>
          <a:prstGeom prst="line">
            <a:avLst/>
          </a:prstGeom>
          <a:noFill/>
          <a:ln w="6350">
            <a:solidFill>
              <a:srgbClr val="DCE5ED"/>
            </a:solidFill>
            <a:prstDash val="solid"/>
          </a:ln>
        </p:spPr>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Formation synthétique | Guide et Atelier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30 / 37</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INGÉNIERIE DE L’ÉVALUATION</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Régression avec état : le parcours de révision</a:t>
            </a:r>
            <a:endParaRPr lang="en-US" sz="2700" dirty="0"/>
          </a:p>
        </p:txBody>
      </p:sp>
      <p:sp>
        <p:nvSpPr>
          <p:cNvPr id="5" name="Shape 3"/>
          <p:cNvSpPr/>
          <p:nvPr/>
        </p:nvSpPr>
        <p:spPr>
          <a:xfrm>
            <a:off x="548640" y="1920240"/>
            <a:ext cx="5394960" cy="1417320"/>
          </a:xfrm>
          <a:prstGeom prst="rect">
            <a:avLst/>
          </a:prstGeom>
          <a:solidFill>
            <a:srgbClr val="EDF4FA"/>
          </a:solidFill>
          <a:ln w="12700">
            <a:solidFill>
              <a:srgbClr val="DCE5ED"/>
            </a:solidFill>
            <a:prstDash val="solid"/>
          </a:ln>
        </p:spPr>
      </p:sp>
      <p:sp>
        <p:nvSpPr>
          <p:cNvPr id="6" name="Text 4"/>
          <p:cNvSpPr/>
          <p:nvPr/>
        </p:nvSpPr>
        <p:spPr>
          <a:xfrm>
            <a:off x="777240" y="2103120"/>
            <a:ext cx="640080" cy="411480"/>
          </a:xfrm>
          <a:prstGeom prst="rect">
            <a:avLst/>
          </a:prstGeom>
          <a:noFill/>
          <a:ln/>
        </p:spPr>
        <p:txBody>
          <a:bodyPr wrap="square" lIns="0" tIns="0" rIns="0" bIns="0" rtlCol="0" anchor="ctr"/>
          <a:lstStyle/>
          <a:p>
            <a:pPr indent="0" marL="0">
              <a:buNone/>
            </a:pPr>
            <a:r>
              <a:rPr lang="en-US" sz="2500" b="1" dirty="0">
                <a:solidFill>
                  <a:srgbClr val="0078D4"/>
                </a:solidFill>
                <a:latin typeface="Segoe UI" pitchFamily="34" charset="0"/>
                <a:ea typeface="Segoe UI" pitchFamily="34" charset="-122"/>
                <a:cs typeface="Segoe UI" pitchFamily="34" charset="-120"/>
              </a:rPr>
              <a:t>01</a:t>
            </a:r>
            <a:endParaRPr lang="en-US" sz="2500" dirty="0"/>
          </a:p>
        </p:txBody>
      </p:sp>
      <p:sp>
        <p:nvSpPr>
          <p:cNvPr id="7" name="Text 5"/>
          <p:cNvSpPr/>
          <p:nvPr/>
        </p:nvSpPr>
        <p:spPr>
          <a:xfrm>
            <a:off x="1508760" y="2103120"/>
            <a:ext cx="4114800" cy="1051560"/>
          </a:xfrm>
          <a:prstGeom prst="rect">
            <a:avLst/>
          </a:prstGeom>
          <a:noFill/>
          <a:ln/>
        </p:spPr>
        <p:txBody>
          <a:bodyPr wrap="square" lIns="0" tIns="0" rIns="0" bIns="0" rtlCol="0" anchor="ctr"/>
          <a:lstStyle/>
          <a:p>
            <a:pPr indent="0" marL="0">
              <a:buNone/>
            </a:pPr>
            <a:r>
              <a:rPr lang="en-US" sz="2100" b="1" dirty="0">
                <a:solidFill>
                  <a:srgbClr val="183449"/>
                </a:solidFill>
                <a:latin typeface="Segoe UI" pitchFamily="34" charset="0"/>
                <a:ea typeface="Segoe UI" pitchFamily="34" charset="-122"/>
                <a:cs typeface="Segoe UI" pitchFamily="34" charset="-120"/>
              </a:rPr>
              <a:t>Retourner en DRAFT révision 2</a:t>
            </a:r>
            <a:endParaRPr lang="en-US" sz="2100" dirty="0"/>
          </a:p>
        </p:txBody>
      </p:sp>
      <p:sp>
        <p:nvSpPr>
          <p:cNvPr id="8" name="Shape 6"/>
          <p:cNvSpPr/>
          <p:nvPr/>
        </p:nvSpPr>
        <p:spPr>
          <a:xfrm>
            <a:off x="6217920" y="1920240"/>
            <a:ext cx="5394960" cy="1417320"/>
          </a:xfrm>
          <a:prstGeom prst="rect">
            <a:avLst/>
          </a:prstGeom>
          <a:solidFill>
            <a:srgbClr val="EDF4FA"/>
          </a:solidFill>
          <a:ln w="12700">
            <a:solidFill>
              <a:srgbClr val="DCE5ED"/>
            </a:solidFill>
            <a:prstDash val="solid"/>
          </a:ln>
        </p:spPr>
      </p:sp>
      <p:sp>
        <p:nvSpPr>
          <p:cNvPr id="9" name="Text 7"/>
          <p:cNvSpPr/>
          <p:nvPr/>
        </p:nvSpPr>
        <p:spPr>
          <a:xfrm>
            <a:off x="6446520" y="2103120"/>
            <a:ext cx="640080" cy="411480"/>
          </a:xfrm>
          <a:prstGeom prst="rect">
            <a:avLst/>
          </a:prstGeom>
          <a:noFill/>
          <a:ln/>
        </p:spPr>
        <p:txBody>
          <a:bodyPr wrap="square" lIns="0" tIns="0" rIns="0" bIns="0" rtlCol="0" anchor="ctr"/>
          <a:lstStyle/>
          <a:p>
            <a:pPr indent="0" marL="0">
              <a:buNone/>
            </a:pPr>
            <a:r>
              <a:rPr lang="en-US" sz="2500" b="1" dirty="0">
                <a:solidFill>
                  <a:srgbClr val="0078D4"/>
                </a:solidFill>
                <a:latin typeface="Segoe UI" pitchFamily="34" charset="0"/>
                <a:ea typeface="Segoe UI" pitchFamily="34" charset="-122"/>
                <a:cs typeface="Segoe UI" pitchFamily="34" charset="-120"/>
              </a:rPr>
              <a:t>02</a:t>
            </a:r>
            <a:endParaRPr lang="en-US" sz="2500" dirty="0"/>
          </a:p>
        </p:txBody>
      </p:sp>
      <p:sp>
        <p:nvSpPr>
          <p:cNvPr id="10" name="Text 8"/>
          <p:cNvSpPr/>
          <p:nvPr/>
        </p:nvSpPr>
        <p:spPr>
          <a:xfrm>
            <a:off x="7178040" y="2103120"/>
            <a:ext cx="4114800" cy="1051560"/>
          </a:xfrm>
          <a:prstGeom prst="rect">
            <a:avLst/>
          </a:prstGeom>
          <a:noFill/>
          <a:ln/>
        </p:spPr>
        <p:txBody>
          <a:bodyPr wrap="square" lIns="0" tIns="0" rIns="0" bIns="0" rtlCol="0" anchor="ctr"/>
          <a:lstStyle/>
          <a:p>
            <a:pPr indent="0" marL="0">
              <a:buNone/>
            </a:pPr>
            <a:r>
              <a:rPr lang="en-US" sz="2100" b="1" dirty="0">
                <a:solidFill>
                  <a:srgbClr val="183449"/>
                </a:solidFill>
                <a:latin typeface="Segoe UI" pitchFamily="34" charset="0"/>
                <a:ea typeface="Segoe UI" pitchFamily="34" charset="-122"/>
                <a:cs typeface="Segoe UI" pitchFamily="34" charset="-120"/>
              </a:rPr>
              <a:t>Vérifier visibilité actif / DRAFT</a:t>
            </a:r>
            <a:endParaRPr lang="en-US" sz="2100" dirty="0"/>
          </a:p>
        </p:txBody>
      </p:sp>
      <p:sp>
        <p:nvSpPr>
          <p:cNvPr id="11" name="Shape 9"/>
          <p:cNvSpPr/>
          <p:nvPr/>
        </p:nvSpPr>
        <p:spPr>
          <a:xfrm>
            <a:off x="548640" y="3749040"/>
            <a:ext cx="5394960" cy="1417320"/>
          </a:xfrm>
          <a:prstGeom prst="rect">
            <a:avLst/>
          </a:prstGeom>
          <a:solidFill>
            <a:srgbClr val="EDF4FA"/>
          </a:solidFill>
          <a:ln w="12700">
            <a:solidFill>
              <a:srgbClr val="DCE5ED"/>
            </a:solidFill>
            <a:prstDash val="solid"/>
          </a:ln>
        </p:spPr>
      </p:sp>
      <p:sp>
        <p:nvSpPr>
          <p:cNvPr id="12" name="Text 10"/>
          <p:cNvSpPr/>
          <p:nvPr/>
        </p:nvSpPr>
        <p:spPr>
          <a:xfrm>
            <a:off x="777240" y="3931920"/>
            <a:ext cx="640080" cy="411480"/>
          </a:xfrm>
          <a:prstGeom prst="rect">
            <a:avLst/>
          </a:prstGeom>
          <a:noFill/>
          <a:ln/>
        </p:spPr>
        <p:txBody>
          <a:bodyPr wrap="square" lIns="0" tIns="0" rIns="0" bIns="0" rtlCol="0" anchor="ctr"/>
          <a:lstStyle/>
          <a:p>
            <a:pPr indent="0" marL="0">
              <a:buNone/>
            </a:pPr>
            <a:r>
              <a:rPr lang="en-US" sz="2500" b="1" dirty="0">
                <a:solidFill>
                  <a:srgbClr val="0078D4"/>
                </a:solidFill>
                <a:latin typeface="Segoe UI" pitchFamily="34" charset="0"/>
                <a:ea typeface="Segoe UI" pitchFamily="34" charset="-122"/>
                <a:cs typeface="Segoe UI" pitchFamily="34" charset="-120"/>
              </a:rPr>
              <a:t>03</a:t>
            </a:r>
            <a:endParaRPr lang="en-US" sz="2500" dirty="0"/>
          </a:p>
        </p:txBody>
      </p:sp>
      <p:sp>
        <p:nvSpPr>
          <p:cNvPr id="13" name="Text 11"/>
          <p:cNvSpPr/>
          <p:nvPr/>
        </p:nvSpPr>
        <p:spPr>
          <a:xfrm>
            <a:off x="1508760" y="3931920"/>
            <a:ext cx="4114800" cy="1051560"/>
          </a:xfrm>
          <a:prstGeom prst="rect">
            <a:avLst/>
          </a:prstGeom>
          <a:noFill/>
          <a:ln/>
        </p:spPr>
        <p:txBody>
          <a:bodyPr wrap="square" lIns="0" tIns="0" rIns="0" bIns="0" rtlCol="0" anchor="ctr"/>
          <a:lstStyle/>
          <a:p>
            <a:pPr indent="0" marL="0">
              <a:buNone/>
            </a:pPr>
            <a:r>
              <a:rPr lang="en-US" sz="2100" b="1" dirty="0">
                <a:solidFill>
                  <a:srgbClr val="183449"/>
                </a:solidFill>
                <a:latin typeface="Segoe UI" pitchFamily="34" charset="0"/>
                <a:ea typeface="Segoe UI" pitchFamily="34" charset="-122"/>
                <a:cs typeface="Segoe UI" pitchFamily="34" charset="-120"/>
              </a:rPr>
              <a:t>Corriger et préparer par l’agent natif</a:t>
            </a:r>
            <a:endParaRPr lang="en-US" sz="2100" dirty="0"/>
          </a:p>
        </p:txBody>
      </p:sp>
      <p:sp>
        <p:nvSpPr>
          <p:cNvPr id="14" name="Shape 12"/>
          <p:cNvSpPr/>
          <p:nvPr/>
        </p:nvSpPr>
        <p:spPr>
          <a:xfrm>
            <a:off x="6217920" y="3749040"/>
            <a:ext cx="5394960" cy="1417320"/>
          </a:xfrm>
          <a:prstGeom prst="rect">
            <a:avLst/>
          </a:prstGeom>
          <a:solidFill>
            <a:srgbClr val="EDF4FA"/>
          </a:solidFill>
          <a:ln w="12700">
            <a:solidFill>
              <a:srgbClr val="DCE5ED"/>
            </a:solidFill>
            <a:prstDash val="solid"/>
          </a:ln>
        </p:spPr>
      </p:sp>
      <p:sp>
        <p:nvSpPr>
          <p:cNvPr id="15" name="Text 13"/>
          <p:cNvSpPr/>
          <p:nvPr/>
        </p:nvSpPr>
        <p:spPr>
          <a:xfrm>
            <a:off x="6446520" y="3931920"/>
            <a:ext cx="640080" cy="411480"/>
          </a:xfrm>
          <a:prstGeom prst="rect">
            <a:avLst/>
          </a:prstGeom>
          <a:noFill/>
          <a:ln/>
        </p:spPr>
        <p:txBody>
          <a:bodyPr wrap="square" lIns="0" tIns="0" rIns="0" bIns="0" rtlCol="0" anchor="ctr"/>
          <a:lstStyle/>
          <a:p>
            <a:pPr indent="0" marL="0">
              <a:buNone/>
            </a:pPr>
            <a:r>
              <a:rPr lang="en-US" sz="2500" b="1" dirty="0">
                <a:solidFill>
                  <a:srgbClr val="0078D4"/>
                </a:solidFill>
                <a:latin typeface="Segoe UI" pitchFamily="34" charset="0"/>
                <a:ea typeface="Segoe UI" pitchFamily="34" charset="-122"/>
                <a:cs typeface="Segoe UI" pitchFamily="34" charset="-120"/>
              </a:rPr>
              <a:t>04</a:t>
            </a:r>
            <a:endParaRPr lang="en-US" sz="2500" dirty="0"/>
          </a:p>
        </p:txBody>
      </p:sp>
      <p:sp>
        <p:nvSpPr>
          <p:cNvPr id="16" name="Text 14"/>
          <p:cNvSpPr/>
          <p:nvPr/>
        </p:nvSpPr>
        <p:spPr>
          <a:xfrm>
            <a:off x="7178040" y="3931920"/>
            <a:ext cx="4114800" cy="1051560"/>
          </a:xfrm>
          <a:prstGeom prst="rect">
            <a:avLst/>
          </a:prstGeom>
          <a:noFill/>
          <a:ln/>
        </p:spPr>
        <p:txBody>
          <a:bodyPr wrap="square" lIns="0" tIns="0" rIns="0" bIns="0" rtlCol="0" anchor="ctr"/>
          <a:lstStyle/>
          <a:p>
            <a:pPr indent="0" marL="0">
              <a:buNone/>
            </a:pPr>
            <a:r>
              <a:rPr lang="en-US" sz="2100" b="1" dirty="0">
                <a:solidFill>
                  <a:srgbClr val="183449"/>
                </a:solidFill>
                <a:latin typeface="Segoe UI" pitchFamily="34" charset="0"/>
                <a:ea typeface="Segoe UI" pitchFamily="34" charset="-122"/>
                <a:cs typeface="Segoe UI" pitchFamily="34" charset="-120"/>
              </a:rPr>
              <a:t>Journal concordant; auto-approbation refusée</a:t>
            </a:r>
            <a:endParaRPr lang="en-US" sz="2100" dirty="0"/>
          </a:p>
        </p:txBody>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Formation synthétique | Guide et Atelier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31 / 37</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INGÉNIERIE DE L’ÉVALUATION</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La trajectoire exige une preuve réelle</a:t>
            </a:r>
            <a:endParaRPr lang="en-US" sz="2700" dirty="0"/>
          </a:p>
        </p:txBody>
      </p:sp>
      <p:sp>
        <p:nvSpPr>
          <p:cNvPr id="5" name="Text 3"/>
          <p:cNvSpPr/>
          <p:nvPr/>
        </p:nvSpPr>
        <p:spPr>
          <a:xfrm>
            <a:off x="594360" y="1828800"/>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01</a:t>
            </a:r>
            <a:endParaRPr lang="en-US" sz="1700" dirty="0"/>
          </a:p>
        </p:txBody>
      </p:sp>
      <p:sp>
        <p:nvSpPr>
          <p:cNvPr id="6" name="Text 4"/>
          <p:cNvSpPr/>
          <p:nvPr/>
        </p:nvSpPr>
        <p:spPr>
          <a:xfrm>
            <a:off x="1325880" y="1828800"/>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Qualité finale et processus correct sont des questions différentes.</a:t>
            </a:r>
            <a:endParaRPr lang="en-US" sz="2000" dirty="0"/>
          </a:p>
        </p:txBody>
      </p:sp>
      <p:sp>
        <p:nvSpPr>
          <p:cNvPr id="7" name="Shape 5"/>
          <p:cNvSpPr/>
          <p:nvPr/>
        </p:nvSpPr>
        <p:spPr>
          <a:xfrm>
            <a:off x="1325880" y="2660904"/>
            <a:ext cx="10149840" cy="0"/>
          </a:xfrm>
          <a:prstGeom prst="line">
            <a:avLst/>
          </a:prstGeom>
          <a:noFill/>
          <a:ln w="6350">
            <a:solidFill>
              <a:srgbClr val="DCE5ED"/>
            </a:solidFill>
            <a:prstDash val="solid"/>
          </a:ln>
        </p:spPr>
      </p:sp>
      <p:sp>
        <p:nvSpPr>
          <p:cNvPr id="8" name="Text 6"/>
          <p:cNvSpPr/>
          <p:nvPr/>
        </p:nvSpPr>
        <p:spPr>
          <a:xfrm>
            <a:off x="594360" y="2770632"/>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02</a:t>
            </a:r>
            <a:endParaRPr lang="en-US" sz="1700" dirty="0"/>
          </a:p>
        </p:txBody>
      </p:sp>
      <p:sp>
        <p:nvSpPr>
          <p:cNvPr id="9" name="Text 7"/>
          <p:cNvSpPr/>
          <p:nvPr/>
        </p:nvSpPr>
        <p:spPr>
          <a:xfrm>
            <a:off x="1325880" y="2770632"/>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Choix/arguments outils exigent des traces réelles compatibles.</a:t>
            </a:r>
            <a:endParaRPr lang="en-US" sz="2000" dirty="0"/>
          </a:p>
        </p:txBody>
      </p:sp>
      <p:sp>
        <p:nvSpPr>
          <p:cNvPr id="10" name="Shape 8"/>
          <p:cNvSpPr/>
          <p:nvPr/>
        </p:nvSpPr>
        <p:spPr>
          <a:xfrm>
            <a:off x="1325880" y="3602736"/>
            <a:ext cx="10149840" cy="0"/>
          </a:xfrm>
          <a:prstGeom prst="line">
            <a:avLst/>
          </a:prstGeom>
          <a:noFill/>
          <a:ln w="6350">
            <a:solidFill>
              <a:srgbClr val="DCE5ED"/>
            </a:solidFill>
            <a:prstDash val="solid"/>
          </a:ln>
        </p:spPr>
      </p:sp>
      <p:sp>
        <p:nvSpPr>
          <p:cNvPr id="11" name="Text 9"/>
          <p:cNvSpPr/>
          <p:nvPr/>
        </p:nvSpPr>
        <p:spPr>
          <a:xfrm>
            <a:off x="594360" y="3712464"/>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03</a:t>
            </a:r>
            <a:endParaRPr lang="en-US" sz="1700" dirty="0"/>
          </a:p>
        </p:txBody>
      </p:sp>
      <p:sp>
        <p:nvSpPr>
          <p:cNvPr id="12" name="Text 10"/>
          <p:cNvSpPr/>
          <p:nvPr/>
        </p:nvSpPr>
        <p:spPr>
          <a:xfrm>
            <a:off x="1325880" y="3712464"/>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Vraies étapes : INTAKE, REFERENCE_LOOKUP, COMPOSITION.</a:t>
            </a:r>
            <a:endParaRPr lang="en-US" sz="2000" dirty="0"/>
          </a:p>
        </p:txBody>
      </p:sp>
      <p:sp>
        <p:nvSpPr>
          <p:cNvPr id="13" name="Shape 11"/>
          <p:cNvSpPr/>
          <p:nvPr/>
        </p:nvSpPr>
        <p:spPr>
          <a:xfrm>
            <a:off x="1325880" y="4544568"/>
            <a:ext cx="10149840" cy="0"/>
          </a:xfrm>
          <a:prstGeom prst="line">
            <a:avLst/>
          </a:prstGeom>
          <a:noFill/>
          <a:ln w="6350">
            <a:solidFill>
              <a:srgbClr val="DCE5ED"/>
            </a:solidFill>
            <a:prstDash val="solid"/>
          </a:ln>
        </p:spPr>
      </p:sp>
      <p:sp>
        <p:nvSpPr>
          <p:cNvPr id="14" name="Text 12"/>
          <p:cNvSpPr/>
          <p:nvPr/>
        </p:nvSpPr>
        <p:spPr>
          <a:xfrm>
            <a:off x="594360" y="4654296"/>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04</a:t>
            </a:r>
            <a:endParaRPr lang="en-US" sz="1700" dirty="0"/>
          </a:p>
        </p:txBody>
      </p:sp>
      <p:sp>
        <p:nvSpPr>
          <p:cNvPr id="15" name="Text 13"/>
          <p:cNvSpPr/>
          <p:nvPr/>
        </p:nvSpPr>
        <p:spPr>
          <a:xfrm>
            <a:off x="1325880" y="4654296"/>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ID demandé ou texte final ne prouvent pas l’ingestion.</a:t>
            </a:r>
            <a:endParaRPr lang="en-US" sz="2000" dirty="0"/>
          </a:p>
        </p:txBody>
      </p:sp>
      <p:sp>
        <p:nvSpPr>
          <p:cNvPr id="16" name="Shape 14"/>
          <p:cNvSpPr/>
          <p:nvPr/>
        </p:nvSpPr>
        <p:spPr>
          <a:xfrm>
            <a:off x="1325880" y="5486400"/>
            <a:ext cx="10149840" cy="0"/>
          </a:xfrm>
          <a:prstGeom prst="line">
            <a:avLst/>
          </a:prstGeom>
          <a:noFill/>
          <a:ln w="6350">
            <a:solidFill>
              <a:srgbClr val="DCE5ED"/>
            </a:solidFill>
            <a:prstDash val="solid"/>
          </a:ln>
        </p:spPr>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Formation synthétique | Guide et Atelier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32 / 37</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INGÉNIERIE DE L’ÉVALUATION</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Exploiter plusieurs tableaux distincts</a:t>
            </a:r>
            <a:endParaRPr lang="en-US" sz="2700" dirty="0"/>
          </a:p>
        </p:txBody>
      </p:sp>
      <p:sp>
        <p:nvSpPr>
          <p:cNvPr id="5" name="Text 3"/>
          <p:cNvSpPr/>
          <p:nvPr/>
        </p:nvSpPr>
        <p:spPr>
          <a:xfrm>
            <a:off x="594360" y="1828800"/>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01</a:t>
            </a:r>
            <a:endParaRPr lang="en-US" sz="1700" dirty="0"/>
          </a:p>
        </p:txBody>
      </p:sp>
      <p:sp>
        <p:nvSpPr>
          <p:cNvPr id="6" name="Text 4"/>
          <p:cNvSpPr/>
          <p:nvPr/>
        </p:nvSpPr>
        <p:spPr>
          <a:xfrm>
            <a:off x="1325880" y="1828800"/>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Service : disponibilité, latence, 401/403, quota, délais, coût.</a:t>
            </a:r>
            <a:endParaRPr lang="en-US" sz="2000" dirty="0"/>
          </a:p>
        </p:txBody>
      </p:sp>
      <p:sp>
        <p:nvSpPr>
          <p:cNvPr id="7" name="Shape 5"/>
          <p:cNvSpPr/>
          <p:nvPr/>
        </p:nvSpPr>
        <p:spPr>
          <a:xfrm>
            <a:off x="1325880" y="2660904"/>
            <a:ext cx="10149840" cy="0"/>
          </a:xfrm>
          <a:prstGeom prst="line">
            <a:avLst/>
          </a:prstGeom>
          <a:noFill/>
          <a:ln w="6350">
            <a:solidFill>
              <a:srgbClr val="DCE5ED"/>
            </a:solidFill>
            <a:prstDash val="solid"/>
          </a:ln>
        </p:spPr>
      </p:sp>
      <p:sp>
        <p:nvSpPr>
          <p:cNvPr id="8" name="Text 6"/>
          <p:cNvSpPr/>
          <p:nvPr/>
        </p:nvSpPr>
        <p:spPr>
          <a:xfrm>
            <a:off x="594360" y="2770632"/>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02</a:t>
            </a:r>
            <a:endParaRPr lang="en-US" sz="1700" dirty="0"/>
          </a:p>
        </p:txBody>
      </p:sp>
      <p:sp>
        <p:nvSpPr>
          <p:cNvPr id="9" name="Text 7"/>
          <p:cNvSpPr/>
          <p:nvPr/>
        </p:nvSpPr>
        <p:spPr>
          <a:xfrm>
            <a:off x="1325880" y="2770632"/>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Qualité : ancrage, tâche, segments linguistiques, corrections humaines.</a:t>
            </a:r>
            <a:endParaRPr lang="en-US" sz="2000" dirty="0"/>
          </a:p>
        </p:txBody>
      </p:sp>
      <p:sp>
        <p:nvSpPr>
          <p:cNvPr id="10" name="Shape 8"/>
          <p:cNvSpPr/>
          <p:nvPr/>
        </p:nvSpPr>
        <p:spPr>
          <a:xfrm>
            <a:off x="1325880" y="3602736"/>
            <a:ext cx="10149840" cy="0"/>
          </a:xfrm>
          <a:prstGeom prst="line">
            <a:avLst/>
          </a:prstGeom>
          <a:noFill/>
          <a:ln w="6350">
            <a:solidFill>
              <a:srgbClr val="DCE5ED"/>
            </a:solidFill>
            <a:prstDash val="solid"/>
          </a:ln>
        </p:spPr>
      </p:sp>
      <p:sp>
        <p:nvSpPr>
          <p:cNvPr id="11" name="Text 9"/>
          <p:cNvSpPr/>
          <p:nvPr/>
        </p:nvSpPr>
        <p:spPr>
          <a:xfrm>
            <a:off x="594360" y="3712464"/>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03</a:t>
            </a:r>
            <a:endParaRPr lang="en-US" sz="1700" dirty="0"/>
          </a:p>
        </p:txBody>
      </p:sp>
      <p:sp>
        <p:nvSpPr>
          <p:cNvPr id="12" name="Text 10"/>
          <p:cNvSpPr/>
          <p:nvPr/>
        </p:nvSpPr>
        <p:spPr>
          <a:xfrm>
            <a:off x="1325880" y="3712464"/>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Sécurité : violations déterministes et frontières de rôles.</a:t>
            </a:r>
            <a:endParaRPr lang="en-US" sz="2000" dirty="0"/>
          </a:p>
        </p:txBody>
      </p:sp>
      <p:sp>
        <p:nvSpPr>
          <p:cNvPr id="13" name="Shape 11"/>
          <p:cNvSpPr/>
          <p:nvPr/>
        </p:nvSpPr>
        <p:spPr>
          <a:xfrm>
            <a:off x="1325880" y="4544568"/>
            <a:ext cx="10149840" cy="0"/>
          </a:xfrm>
          <a:prstGeom prst="line">
            <a:avLst/>
          </a:prstGeom>
          <a:noFill/>
          <a:ln w="6350">
            <a:solidFill>
              <a:srgbClr val="DCE5ED"/>
            </a:solidFill>
            <a:prstDash val="solid"/>
          </a:ln>
        </p:spPr>
      </p:sp>
      <p:sp>
        <p:nvSpPr>
          <p:cNvPr id="14" name="Text 12"/>
          <p:cNvSpPr/>
          <p:nvPr/>
        </p:nvSpPr>
        <p:spPr>
          <a:xfrm>
            <a:off x="594360" y="4654296"/>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04</a:t>
            </a:r>
            <a:endParaRPr lang="en-US" sz="1700" dirty="0"/>
          </a:p>
        </p:txBody>
      </p:sp>
      <p:sp>
        <p:nvSpPr>
          <p:cNvPr id="15" name="Text 13"/>
          <p:cNvSpPr/>
          <p:nvPr/>
        </p:nvSpPr>
        <p:spPr>
          <a:xfrm>
            <a:off x="1325880" y="4654296"/>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Revoir la dérive et transformer les incidents vérifiés en tests.</a:t>
            </a:r>
            <a:endParaRPr lang="en-US" sz="2000" dirty="0"/>
          </a:p>
        </p:txBody>
      </p:sp>
      <p:sp>
        <p:nvSpPr>
          <p:cNvPr id="16" name="Shape 14"/>
          <p:cNvSpPr/>
          <p:nvPr/>
        </p:nvSpPr>
        <p:spPr>
          <a:xfrm>
            <a:off x="1325880" y="5486400"/>
            <a:ext cx="10149840" cy="0"/>
          </a:xfrm>
          <a:prstGeom prst="line">
            <a:avLst/>
          </a:prstGeom>
          <a:noFill/>
          <a:ln w="6350">
            <a:solidFill>
              <a:srgbClr val="DCE5ED"/>
            </a:solidFill>
            <a:prstDash val="solid"/>
          </a:ln>
        </p:spPr>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Formation synthétique | Guide et Atelier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33 / 37</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INGÉNIERIE DE L’ÉVALUATION</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Votre recommandation de livraison</a:t>
            </a:r>
            <a:endParaRPr lang="en-US" sz="2700" dirty="0"/>
          </a:p>
        </p:txBody>
      </p:sp>
      <p:sp>
        <p:nvSpPr>
          <p:cNvPr id="5" name="Text 3"/>
          <p:cNvSpPr/>
          <p:nvPr/>
        </p:nvSpPr>
        <p:spPr>
          <a:xfrm>
            <a:off x="594360" y="1828800"/>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01</a:t>
            </a:r>
            <a:endParaRPr lang="en-US" sz="1700" dirty="0"/>
          </a:p>
        </p:txBody>
      </p:sp>
      <p:sp>
        <p:nvSpPr>
          <p:cNvPr id="6" name="Text 4"/>
          <p:cNvSpPr/>
          <p:nvPr/>
        </p:nvSpPr>
        <p:spPr>
          <a:xfrm>
            <a:off x="1325880" y="1828800"/>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Nommer source, jeu, état, modèle et évaluateur exacts.</a:t>
            </a:r>
            <a:endParaRPr lang="en-US" sz="2000" dirty="0"/>
          </a:p>
        </p:txBody>
      </p:sp>
      <p:sp>
        <p:nvSpPr>
          <p:cNvPr id="7" name="Shape 5"/>
          <p:cNvSpPr/>
          <p:nvPr/>
        </p:nvSpPr>
        <p:spPr>
          <a:xfrm>
            <a:off x="1325880" y="2660904"/>
            <a:ext cx="10149840" cy="0"/>
          </a:xfrm>
          <a:prstGeom prst="line">
            <a:avLst/>
          </a:prstGeom>
          <a:noFill/>
          <a:ln w="6350">
            <a:solidFill>
              <a:srgbClr val="DCE5ED"/>
            </a:solidFill>
            <a:prstDash val="solid"/>
          </a:ln>
        </p:spPr>
      </p:sp>
      <p:sp>
        <p:nvSpPr>
          <p:cNvPr id="8" name="Text 6"/>
          <p:cNvSpPr/>
          <p:nvPr/>
        </p:nvSpPr>
        <p:spPr>
          <a:xfrm>
            <a:off x="594360" y="2770632"/>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02</a:t>
            </a:r>
            <a:endParaRPr lang="en-US" sz="1700" dirty="0"/>
          </a:p>
        </p:txBody>
      </p:sp>
      <p:sp>
        <p:nvSpPr>
          <p:cNvPr id="9" name="Text 7"/>
          <p:cNvSpPr/>
          <p:nvPr/>
        </p:nvSpPr>
        <p:spPr>
          <a:xfrm>
            <a:off x="1325880" y="2770632"/>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Présenter contrats, complétude, qualité, contrôles et incertitude.</a:t>
            </a:r>
            <a:endParaRPr lang="en-US" sz="2000" dirty="0"/>
          </a:p>
        </p:txBody>
      </p:sp>
      <p:sp>
        <p:nvSpPr>
          <p:cNvPr id="10" name="Shape 8"/>
          <p:cNvSpPr/>
          <p:nvPr/>
        </p:nvSpPr>
        <p:spPr>
          <a:xfrm>
            <a:off x="1325880" y="3602736"/>
            <a:ext cx="10149840" cy="0"/>
          </a:xfrm>
          <a:prstGeom prst="line">
            <a:avLst/>
          </a:prstGeom>
          <a:noFill/>
          <a:ln w="6350">
            <a:solidFill>
              <a:srgbClr val="DCE5ED"/>
            </a:solidFill>
            <a:prstDash val="solid"/>
          </a:ln>
        </p:spPr>
      </p:sp>
      <p:sp>
        <p:nvSpPr>
          <p:cNvPr id="11" name="Text 9"/>
          <p:cNvSpPr/>
          <p:nvPr/>
        </p:nvSpPr>
        <p:spPr>
          <a:xfrm>
            <a:off x="594360" y="3712464"/>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03</a:t>
            </a:r>
            <a:endParaRPr lang="en-US" sz="1700" dirty="0"/>
          </a:p>
        </p:txBody>
      </p:sp>
      <p:sp>
        <p:nvSpPr>
          <p:cNvPr id="12" name="Text 10"/>
          <p:cNvSpPr/>
          <p:nvPr/>
        </p:nvSpPr>
        <p:spPr>
          <a:xfrm>
            <a:off x="1325880" y="3712464"/>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Lister dimensions non mesurées, coût, pannes et risques.</a:t>
            </a:r>
            <a:endParaRPr lang="en-US" sz="2000" dirty="0"/>
          </a:p>
        </p:txBody>
      </p:sp>
      <p:sp>
        <p:nvSpPr>
          <p:cNvPr id="13" name="Shape 11"/>
          <p:cNvSpPr/>
          <p:nvPr/>
        </p:nvSpPr>
        <p:spPr>
          <a:xfrm>
            <a:off x="1325880" y="4544568"/>
            <a:ext cx="10149840" cy="0"/>
          </a:xfrm>
          <a:prstGeom prst="line">
            <a:avLst/>
          </a:prstGeom>
          <a:noFill/>
          <a:ln w="6350">
            <a:solidFill>
              <a:srgbClr val="DCE5ED"/>
            </a:solidFill>
            <a:prstDash val="solid"/>
          </a:ln>
        </p:spPr>
      </p:sp>
      <p:sp>
        <p:nvSpPr>
          <p:cNvPr id="14" name="Text 12"/>
          <p:cNvSpPr/>
          <p:nvPr/>
        </p:nvSpPr>
        <p:spPr>
          <a:xfrm>
            <a:off x="594360" y="4654296"/>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04</a:t>
            </a:r>
            <a:endParaRPr lang="en-US" sz="1700" dirty="0"/>
          </a:p>
        </p:txBody>
      </p:sp>
      <p:sp>
        <p:nvSpPr>
          <p:cNvPr id="15" name="Text 13"/>
          <p:cNvSpPr/>
          <p:nvPr/>
        </p:nvSpPr>
        <p:spPr>
          <a:xfrm>
            <a:off x="1325880" y="4654296"/>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Approuver, bloquer ou demander des preuves avec un responsable.</a:t>
            </a:r>
            <a:endParaRPr lang="en-US" sz="2000" dirty="0"/>
          </a:p>
        </p:txBody>
      </p:sp>
      <p:sp>
        <p:nvSpPr>
          <p:cNvPr id="16" name="Shape 14"/>
          <p:cNvSpPr/>
          <p:nvPr/>
        </p:nvSpPr>
        <p:spPr>
          <a:xfrm>
            <a:off x="1325880" y="5486400"/>
            <a:ext cx="10149840" cy="0"/>
          </a:xfrm>
          <a:prstGeom prst="line">
            <a:avLst/>
          </a:prstGeom>
          <a:noFill/>
          <a:ln w="6350">
            <a:solidFill>
              <a:srgbClr val="DCE5ED"/>
            </a:solidFill>
            <a:prstDash val="solid"/>
          </a:ln>
        </p:spPr>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Formation synthétique | Guide et Atelier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34 / 37</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INGÉNIERIE DE L’ÉVALUATION</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Discussion : quel candidat livrer?</a:t>
            </a:r>
            <a:endParaRPr lang="en-US" sz="2700" dirty="0"/>
          </a:p>
        </p:txBody>
      </p:sp>
      <p:sp>
        <p:nvSpPr>
          <p:cNvPr id="5" name="Text 3"/>
          <p:cNvSpPr/>
          <p:nvPr/>
        </p:nvSpPr>
        <p:spPr>
          <a:xfrm>
            <a:off x="594360" y="1828800"/>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01</a:t>
            </a:r>
            <a:endParaRPr lang="en-US" sz="1700" dirty="0"/>
          </a:p>
        </p:txBody>
      </p:sp>
      <p:sp>
        <p:nvSpPr>
          <p:cNvPr id="6" name="Text 4"/>
          <p:cNvSpPr/>
          <p:nvPr/>
        </p:nvSpPr>
        <p:spPr>
          <a:xfrm>
            <a:off x="1325880" y="1828800"/>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A : juges 100 %, mais auto-approbation possible.</a:t>
            </a:r>
            <a:endParaRPr lang="en-US" sz="2000" dirty="0"/>
          </a:p>
        </p:txBody>
      </p:sp>
      <p:sp>
        <p:nvSpPr>
          <p:cNvPr id="7" name="Shape 5"/>
          <p:cNvSpPr/>
          <p:nvPr/>
        </p:nvSpPr>
        <p:spPr>
          <a:xfrm>
            <a:off x="1325880" y="2660904"/>
            <a:ext cx="10149840" cy="0"/>
          </a:xfrm>
          <a:prstGeom prst="line">
            <a:avLst/>
          </a:prstGeom>
          <a:noFill/>
          <a:ln w="6350">
            <a:solidFill>
              <a:srgbClr val="DCE5ED"/>
            </a:solidFill>
            <a:prstDash val="solid"/>
          </a:ln>
        </p:spPr>
      </p:sp>
      <p:sp>
        <p:nvSpPr>
          <p:cNvPr id="8" name="Text 6"/>
          <p:cNvSpPr/>
          <p:nvPr/>
        </p:nvSpPr>
        <p:spPr>
          <a:xfrm>
            <a:off x="594360" y="2770632"/>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02</a:t>
            </a:r>
            <a:endParaRPr lang="en-US" sz="1700" dirty="0"/>
          </a:p>
        </p:txBody>
      </p:sp>
      <p:sp>
        <p:nvSpPr>
          <p:cNvPr id="9" name="Text 7"/>
          <p:cNvSpPr/>
          <p:nvPr/>
        </p:nvSpPr>
        <p:spPr>
          <a:xfrm>
            <a:off x="1325880" y="2770632"/>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B : contrats stricts réussis, mais zéro ligne native notée.</a:t>
            </a:r>
            <a:endParaRPr lang="en-US" sz="2000" dirty="0"/>
          </a:p>
        </p:txBody>
      </p:sp>
      <p:sp>
        <p:nvSpPr>
          <p:cNvPr id="10" name="Shape 8"/>
          <p:cNvSpPr/>
          <p:nvPr/>
        </p:nvSpPr>
        <p:spPr>
          <a:xfrm>
            <a:off x="1325880" y="3602736"/>
            <a:ext cx="10149840" cy="0"/>
          </a:xfrm>
          <a:prstGeom prst="line">
            <a:avLst/>
          </a:prstGeom>
          <a:noFill/>
          <a:ln w="6350">
            <a:solidFill>
              <a:srgbClr val="DCE5ED"/>
            </a:solidFill>
            <a:prstDash val="solid"/>
          </a:ln>
        </p:spPr>
      </p:sp>
      <p:sp>
        <p:nvSpPr>
          <p:cNvPr id="11" name="Text 9"/>
          <p:cNvSpPr/>
          <p:nvPr/>
        </p:nvSpPr>
        <p:spPr>
          <a:xfrm>
            <a:off x="594360" y="3712464"/>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03</a:t>
            </a:r>
            <a:endParaRPr lang="en-US" sz="1700" dirty="0"/>
          </a:p>
        </p:txBody>
      </p:sp>
      <p:sp>
        <p:nvSpPr>
          <p:cNvPr id="12" name="Text 10"/>
          <p:cNvSpPr/>
          <p:nvPr/>
        </p:nvSpPr>
        <p:spPr>
          <a:xfrm>
            <a:off x="1325880" y="3712464"/>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C : résultats complets, une fausse acceptation à haut risque.</a:t>
            </a:r>
            <a:endParaRPr lang="en-US" sz="2000" dirty="0"/>
          </a:p>
        </p:txBody>
      </p:sp>
      <p:sp>
        <p:nvSpPr>
          <p:cNvPr id="13" name="Shape 11"/>
          <p:cNvSpPr/>
          <p:nvPr/>
        </p:nvSpPr>
        <p:spPr>
          <a:xfrm>
            <a:off x="1325880" y="4544568"/>
            <a:ext cx="10149840" cy="0"/>
          </a:xfrm>
          <a:prstGeom prst="line">
            <a:avLst/>
          </a:prstGeom>
          <a:noFill/>
          <a:ln w="6350">
            <a:solidFill>
              <a:srgbClr val="DCE5ED"/>
            </a:solidFill>
            <a:prstDash val="solid"/>
          </a:ln>
        </p:spPr>
      </p:sp>
      <p:sp>
        <p:nvSpPr>
          <p:cNvPr id="14" name="Text 12"/>
          <p:cNvSpPr/>
          <p:nvPr/>
        </p:nvSpPr>
        <p:spPr>
          <a:xfrm>
            <a:off x="594360" y="4654296"/>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04</a:t>
            </a:r>
            <a:endParaRPr lang="en-US" sz="1700" dirty="0"/>
          </a:p>
        </p:txBody>
      </p:sp>
      <p:sp>
        <p:nvSpPr>
          <p:cNvPr id="15" name="Text 13"/>
          <p:cNvSpPr/>
          <p:nvPr/>
        </p:nvSpPr>
        <p:spPr>
          <a:xfrm>
            <a:off x="1325880" y="4654296"/>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D : preuves complètes, segments stables, risques revus et approbation.</a:t>
            </a:r>
            <a:endParaRPr lang="en-US" sz="2000" dirty="0"/>
          </a:p>
        </p:txBody>
      </p:sp>
      <p:sp>
        <p:nvSpPr>
          <p:cNvPr id="16" name="Shape 14"/>
          <p:cNvSpPr/>
          <p:nvPr/>
        </p:nvSpPr>
        <p:spPr>
          <a:xfrm>
            <a:off x="1325880" y="5486400"/>
            <a:ext cx="10149840" cy="0"/>
          </a:xfrm>
          <a:prstGeom prst="line">
            <a:avLst/>
          </a:prstGeom>
          <a:noFill/>
          <a:ln w="6350">
            <a:solidFill>
              <a:srgbClr val="DCE5ED"/>
            </a:solidFill>
            <a:prstDash val="solid"/>
          </a:ln>
        </p:spPr>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Formation synthétique | Guide et Atelier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35 / 37</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INGÉNIERIE DE L’ÉVALUATION</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Bilan : le vrai sens de non-régression</a:t>
            </a:r>
            <a:endParaRPr lang="en-US" sz="2700" dirty="0"/>
          </a:p>
        </p:txBody>
      </p:sp>
      <p:sp>
        <p:nvSpPr>
          <p:cNvPr id="5" name="Text 3"/>
          <p:cNvSpPr/>
          <p:nvPr/>
        </p:nvSpPr>
        <p:spPr>
          <a:xfrm>
            <a:off x="594360" y="1828800"/>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01</a:t>
            </a:r>
            <a:endParaRPr lang="en-US" sz="1700" dirty="0"/>
          </a:p>
        </p:txBody>
      </p:sp>
      <p:sp>
        <p:nvSpPr>
          <p:cNvPr id="6" name="Text 4"/>
          <p:cNvSpPr/>
          <p:nvPr/>
        </p:nvSpPr>
        <p:spPr>
          <a:xfrm>
            <a:off x="1325880" y="1828800"/>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Énoncer contrat et conditions mesurés, pas « aucune régression possible ».</a:t>
            </a:r>
            <a:endParaRPr lang="en-US" sz="2000" dirty="0"/>
          </a:p>
        </p:txBody>
      </p:sp>
      <p:sp>
        <p:nvSpPr>
          <p:cNvPr id="7" name="Shape 5"/>
          <p:cNvSpPr/>
          <p:nvPr/>
        </p:nvSpPr>
        <p:spPr>
          <a:xfrm>
            <a:off x="1325880" y="2660904"/>
            <a:ext cx="10149840" cy="0"/>
          </a:xfrm>
          <a:prstGeom prst="line">
            <a:avLst/>
          </a:prstGeom>
          <a:noFill/>
          <a:ln w="6350">
            <a:solidFill>
              <a:srgbClr val="DCE5ED"/>
            </a:solidFill>
            <a:prstDash val="solid"/>
          </a:ln>
        </p:spPr>
      </p:sp>
      <p:sp>
        <p:nvSpPr>
          <p:cNvPr id="8" name="Text 6"/>
          <p:cNvSpPr/>
          <p:nvPr/>
        </p:nvSpPr>
        <p:spPr>
          <a:xfrm>
            <a:off x="594360" y="2770632"/>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02</a:t>
            </a:r>
            <a:endParaRPr lang="en-US" sz="1700" dirty="0"/>
          </a:p>
        </p:txBody>
      </p:sp>
      <p:sp>
        <p:nvSpPr>
          <p:cNvPr id="9" name="Text 7"/>
          <p:cNvSpPr/>
          <p:nvPr/>
        </p:nvSpPr>
        <p:spPr>
          <a:xfrm>
            <a:off x="1325880" y="2770632"/>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Combiner tests exacts et jugements sémantiques.</a:t>
            </a:r>
            <a:endParaRPr lang="en-US" sz="2000" dirty="0"/>
          </a:p>
        </p:txBody>
      </p:sp>
      <p:sp>
        <p:nvSpPr>
          <p:cNvPr id="10" name="Shape 8"/>
          <p:cNvSpPr/>
          <p:nvPr/>
        </p:nvSpPr>
        <p:spPr>
          <a:xfrm>
            <a:off x="1325880" y="3602736"/>
            <a:ext cx="10149840" cy="0"/>
          </a:xfrm>
          <a:prstGeom prst="line">
            <a:avLst/>
          </a:prstGeom>
          <a:noFill/>
          <a:ln w="6350">
            <a:solidFill>
              <a:srgbClr val="DCE5ED"/>
            </a:solidFill>
            <a:prstDash val="solid"/>
          </a:ln>
        </p:spPr>
      </p:sp>
      <p:sp>
        <p:nvSpPr>
          <p:cNvPr id="11" name="Text 9"/>
          <p:cNvSpPr/>
          <p:nvPr/>
        </p:nvSpPr>
        <p:spPr>
          <a:xfrm>
            <a:off x="594360" y="3712464"/>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03</a:t>
            </a:r>
            <a:endParaRPr lang="en-US" sz="1700" dirty="0"/>
          </a:p>
        </p:txBody>
      </p:sp>
      <p:sp>
        <p:nvSpPr>
          <p:cNvPr id="12" name="Text 10"/>
          <p:cNvSpPr/>
          <p:nvPr/>
        </p:nvSpPr>
        <p:spPr>
          <a:xfrm>
            <a:off x="1325880" y="3712464"/>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Conserver contrôles et tentatives opérationnelles échoués.</a:t>
            </a:r>
            <a:endParaRPr lang="en-US" sz="2000" dirty="0"/>
          </a:p>
        </p:txBody>
      </p:sp>
      <p:sp>
        <p:nvSpPr>
          <p:cNvPr id="13" name="Shape 11"/>
          <p:cNvSpPr/>
          <p:nvPr/>
        </p:nvSpPr>
        <p:spPr>
          <a:xfrm>
            <a:off x="1325880" y="4544568"/>
            <a:ext cx="10149840" cy="0"/>
          </a:xfrm>
          <a:prstGeom prst="line">
            <a:avLst/>
          </a:prstGeom>
          <a:noFill/>
          <a:ln w="6350">
            <a:solidFill>
              <a:srgbClr val="DCE5ED"/>
            </a:solidFill>
            <a:prstDash val="solid"/>
          </a:ln>
        </p:spPr>
      </p:sp>
      <p:sp>
        <p:nvSpPr>
          <p:cNvPr id="14" name="Text 12"/>
          <p:cNvSpPr/>
          <p:nvPr/>
        </p:nvSpPr>
        <p:spPr>
          <a:xfrm>
            <a:off x="594360" y="4654296"/>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04</a:t>
            </a:r>
            <a:endParaRPr lang="en-US" sz="1700" dirty="0"/>
          </a:p>
        </p:txBody>
      </p:sp>
      <p:sp>
        <p:nvSpPr>
          <p:cNvPr id="15" name="Text 13"/>
          <p:cNvSpPr/>
          <p:nvPr/>
        </p:nvSpPr>
        <p:spPr>
          <a:xfrm>
            <a:off x="1325880" y="4654296"/>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Faire évoluer couverture, calibration et surveillance.</a:t>
            </a:r>
            <a:endParaRPr lang="en-US" sz="2000" dirty="0"/>
          </a:p>
        </p:txBody>
      </p:sp>
      <p:sp>
        <p:nvSpPr>
          <p:cNvPr id="16" name="Shape 14"/>
          <p:cNvSpPr/>
          <p:nvPr/>
        </p:nvSpPr>
        <p:spPr>
          <a:xfrm>
            <a:off x="1325880" y="5486400"/>
            <a:ext cx="10149840" cy="0"/>
          </a:xfrm>
          <a:prstGeom prst="line">
            <a:avLst/>
          </a:prstGeom>
          <a:noFill/>
          <a:ln w="6350">
            <a:solidFill>
              <a:srgbClr val="DCE5ED"/>
            </a:solidFill>
            <a:prstDash val="solid"/>
          </a:ln>
        </p:spPr>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Formation synthétique | Guide et Atelier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36 / 37</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0078D4"/>
          </a:solidFill>
          <a:ln w="12700">
            <a:solidFill>
              <a:srgbClr val="333333">
                <a:alpha val="0"/>
              </a:srgbClr>
            </a:solidFill>
            <a:prstDash val="solid"/>
          </a:ln>
        </p:spPr>
      </p:sp>
      <p:sp>
        <p:nvSpPr>
          <p:cNvPr id="3" name="Text 1"/>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dirty="0">
                <a:solidFill>
                  <a:srgbClr val="0078D4"/>
                </a:solidFill>
                <a:latin typeface="Segoe UI" pitchFamily="34" charset="0"/>
                <a:ea typeface="Segoe UI" pitchFamily="34" charset="-122"/>
                <a:cs typeface="Segoe UI" pitchFamily="34" charset="-120"/>
              </a:rPr>
              <a:t>FOUNDRY / INGÉNIERIE DE L’ÉVALUATION</a:t>
            </a:r>
            <a:endParaRPr lang="en-US" sz="1100" dirty="0"/>
          </a:p>
        </p:txBody>
      </p:sp>
      <p:sp>
        <p:nvSpPr>
          <p:cNvPr id="4" name="Text 2"/>
          <p:cNvSpPr/>
          <p:nvPr/>
        </p:nvSpPr>
        <p:spPr>
          <a:xfrm>
            <a:off x="548640" y="777240"/>
            <a:ext cx="11064240" cy="822960"/>
          </a:xfrm>
          <a:prstGeom prst="rect">
            <a:avLst/>
          </a:prstGeom>
          <a:noFill/>
          <a:ln/>
        </p:spPr>
        <p:txBody>
          <a:bodyPr wrap="square" lIns="0" tIns="0" rIns="0" bIns="0" rtlCol="0" anchor="ctr"/>
          <a:lstStyle/>
          <a:p>
            <a:pPr indent="0" marL="0">
              <a:buNone/>
            </a:pPr>
            <a:r>
              <a:rPr lang="en-US" sz="2700" b="1" dirty="0">
                <a:solidFill>
                  <a:srgbClr val="001B3D"/>
                </a:solidFill>
                <a:latin typeface="Segoe UI" pitchFamily="34" charset="0"/>
                <a:ea typeface="Segoe UI" pitchFamily="34" charset="-122"/>
                <a:cs typeface="Segoe UI" pitchFamily="34" charset="-120"/>
              </a:rPr>
              <a:t>Emporter atelier, guide et preuves</a:t>
            </a:r>
            <a:endParaRPr lang="en-US" sz="2700" dirty="0"/>
          </a:p>
        </p:txBody>
      </p:sp>
      <p:sp>
        <p:nvSpPr>
          <p:cNvPr id="5" name="Text 3"/>
          <p:cNvSpPr/>
          <p:nvPr/>
        </p:nvSpPr>
        <p:spPr>
          <a:xfrm>
            <a:off x="594360" y="1828800"/>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01</a:t>
            </a:r>
            <a:endParaRPr lang="en-US" sz="1700" dirty="0"/>
          </a:p>
        </p:txBody>
      </p:sp>
      <p:sp>
        <p:nvSpPr>
          <p:cNvPr id="6" name="Text 4"/>
          <p:cNvSpPr/>
          <p:nvPr/>
        </p:nvSpPr>
        <p:spPr>
          <a:xfrm>
            <a:off x="1325880" y="1828800"/>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Atelier 19 : dix exercices progressifs avec commandes exécutables.</a:t>
            </a:r>
            <a:endParaRPr lang="en-US" sz="2000" dirty="0"/>
          </a:p>
        </p:txBody>
      </p:sp>
      <p:sp>
        <p:nvSpPr>
          <p:cNvPr id="7" name="Shape 5"/>
          <p:cNvSpPr/>
          <p:nvPr/>
        </p:nvSpPr>
        <p:spPr>
          <a:xfrm>
            <a:off x="1325880" y="2660904"/>
            <a:ext cx="10149840" cy="0"/>
          </a:xfrm>
          <a:prstGeom prst="line">
            <a:avLst/>
          </a:prstGeom>
          <a:noFill/>
          <a:ln w="6350">
            <a:solidFill>
              <a:srgbClr val="DCE5ED"/>
            </a:solidFill>
            <a:prstDash val="solid"/>
          </a:ln>
        </p:spPr>
      </p:sp>
      <p:sp>
        <p:nvSpPr>
          <p:cNvPr id="8" name="Text 6"/>
          <p:cNvSpPr/>
          <p:nvPr/>
        </p:nvSpPr>
        <p:spPr>
          <a:xfrm>
            <a:off x="594360" y="2770632"/>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02</a:t>
            </a:r>
            <a:endParaRPr lang="en-US" sz="1700" dirty="0"/>
          </a:p>
        </p:txBody>
      </p:sp>
      <p:sp>
        <p:nvSpPr>
          <p:cNvPr id="9" name="Text 7"/>
          <p:cNvSpPr/>
          <p:nvPr/>
        </p:nvSpPr>
        <p:spPr>
          <a:xfrm>
            <a:off x="1325880" y="2770632"/>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Guide : portail, mappings SDK, politique et diagnostic.</a:t>
            </a:r>
            <a:endParaRPr lang="en-US" sz="2000" dirty="0"/>
          </a:p>
        </p:txBody>
      </p:sp>
      <p:sp>
        <p:nvSpPr>
          <p:cNvPr id="10" name="Shape 8"/>
          <p:cNvSpPr/>
          <p:nvPr/>
        </p:nvSpPr>
        <p:spPr>
          <a:xfrm>
            <a:off x="1325880" y="3602736"/>
            <a:ext cx="10149840" cy="0"/>
          </a:xfrm>
          <a:prstGeom prst="line">
            <a:avLst/>
          </a:prstGeom>
          <a:noFill/>
          <a:ln w="6350">
            <a:solidFill>
              <a:srgbClr val="DCE5ED"/>
            </a:solidFill>
            <a:prstDash val="solid"/>
          </a:ln>
        </p:spPr>
      </p:sp>
      <p:sp>
        <p:nvSpPr>
          <p:cNvPr id="11" name="Text 9"/>
          <p:cNvSpPr/>
          <p:nvPr/>
        </p:nvSpPr>
        <p:spPr>
          <a:xfrm>
            <a:off x="594360" y="3712464"/>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03</a:t>
            </a:r>
            <a:endParaRPr lang="en-US" sz="1700" dirty="0"/>
          </a:p>
        </p:txBody>
      </p:sp>
      <p:sp>
        <p:nvSpPr>
          <p:cNvPr id="12" name="Text 10"/>
          <p:cNvSpPr/>
          <p:nvPr/>
        </p:nvSpPr>
        <p:spPr>
          <a:xfrm>
            <a:off x="1325880" y="3712464"/>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Présentation : PowerPoint EN/FR modifiables et notes formateur.</a:t>
            </a:r>
            <a:endParaRPr lang="en-US" sz="2000" dirty="0"/>
          </a:p>
        </p:txBody>
      </p:sp>
      <p:sp>
        <p:nvSpPr>
          <p:cNvPr id="13" name="Shape 11"/>
          <p:cNvSpPr/>
          <p:nvPr/>
        </p:nvSpPr>
        <p:spPr>
          <a:xfrm>
            <a:off x="1325880" y="4544568"/>
            <a:ext cx="10149840" cy="0"/>
          </a:xfrm>
          <a:prstGeom prst="line">
            <a:avLst/>
          </a:prstGeom>
          <a:noFill/>
          <a:ln w="6350">
            <a:solidFill>
              <a:srgbClr val="DCE5ED"/>
            </a:solidFill>
            <a:prstDash val="solid"/>
          </a:ln>
        </p:spPr>
      </p:sp>
      <p:sp>
        <p:nvSpPr>
          <p:cNvPr id="14" name="Text 12"/>
          <p:cNvSpPr/>
          <p:nvPr/>
        </p:nvSpPr>
        <p:spPr>
          <a:xfrm>
            <a:off x="594360" y="4654296"/>
            <a:ext cx="640080" cy="594360"/>
          </a:xfrm>
          <a:prstGeom prst="rect">
            <a:avLst/>
          </a:prstGeom>
          <a:noFill/>
          <a:ln/>
        </p:spPr>
        <p:txBody>
          <a:bodyPr wrap="square" lIns="0" tIns="0" rIns="0" bIns="0" rtlCol="0" anchor="ctr"/>
          <a:lstStyle/>
          <a:p>
            <a:pPr indent="0" marL="0">
              <a:buNone/>
            </a:pPr>
            <a:r>
              <a:rPr lang="en-US" sz="1700" b="1" dirty="0">
                <a:solidFill>
                  <a:srgbClr val="0078D4"/>
                </a:solidFill>
                <a:latin typeface="Segoe UI" pitchFamily="34" charset="0"/>
                <a:ea typeface="Segoe UI" pitchFamily="34" charset="-122"/>
                <a:cs typeface="Segoe UI" pitchFamily="34" charset="-120"/>
              </a:rPr>
              <a:t>04</a:t>
            </a:r>
            <a:endParaRPr lang="en-US" sz="1700" dirty="0"/>
          </a:p>
        </p:txBody>
      </p:sp>
      <p:sp>
        <p:nvSpPr>
          <p:cNvPr id="15" name="Text 13"/>
          <p:cNvSpPr/>
          <p:nvPr/>
        </p:nvSpPr>
        <p:spPr>
          <a:xfrm>
            <a:off x="1325880" y="4654296"/>
            <a:ext cx="10195560" cy="731520"/>
          </a:xfrm>
          <a:prstGeom prst="rect">
            <a:avLst/>
          </a:prstGeom>
          <a:noFill/>
          <a:ln/>
        </p:spPr>
        <p:txBody>
          <a:bodyPr wrap="square" lIns="0" tIns="0" rIns="0" bIns="0" rtlCol="0" anchor="ctr"/>
          <a:lstStyle/>
          <a:p>
            <a:pPr indent="0" marL="0">
              <a:buNone/>
            </a:pPr>
            <a:r>
              <a:rPr lang="en-US" sz="2000" dirty="0">
                <a:solidFill>
                  <a:srgbClr val="183449"/>
                </a:solidFill>
                <a:latin typeface="Segoe UI" pitchFamily="34" charset="0"/>
                <a:ea typeface="Segoe UI" pitchFamily="34" charset="-122"/>
                <a:cs typeface="Segoe UI" pitchFamily="34" charset="-120"/>
              </a:rPr>
              <a:t>Sources : liens Microsoft Learn officiels dans les notes.</a:t>
            </a:r>
            <a:endParaRPr lang="en-US" sz="2000" dirty="0"/>
          </a:p>
        </p:txBody>
      </p:sp>
      <p:sp>
        <p:nvSpPr>
          <p:cNvPr id="16" name="Shape 14"/>
          <p:cNvSpPr/>
          <p:nvPr/>
        </p:nvSpPr>
        <p:spPr>
          <a:xfrm>
            <a:off x="1325880" y="5486400"/>
            <a:ext cx="10149840" cy="0"/>
          </a:xfrm>
          <a:prstGeom prst="line">
            <a:avLst/>
          </a:prstGeom>
          <a:noFill/>
          <a:ln w="6350">
            <a:solidFill>
              <a:srgbClr val="DCE5ED"/>
            </a:solidFill>
            <a:prstDash val="solid"/>
          </a:ln>
        </p:spPr>
      </p:sp>
      <p:sp>
        <p:nvSpPr>
          <p:cNvPr id="17" name="Text 15">
            <a:hlinkClick r:id="rId1" tooltip=""/>
          </p:cNvPr>
          <p:cNvSpPr/>
          <p:nvPr/>
        </p:nvSpPr>
        <p:spPr>
          <a:xfrm>
            <a:off x="548640" y="6419088"/>
            <a:ext cx="9784080" cy="210312"/>
          </a:xfrm>
          <a:prstGeom prst="rect">
            <a:avLst/>
          </a:prstGeom>
          <a:noFill/>
          <a:ln/>
        </p:spPr>
        <p:txBody>
          <a:bodyPr wrap="square" lIns="0" tIns="0" rIns="0" bIns="0" rtlCol="0" anchor="ctr"/>
          <a:lstStyle/>
          <a:p>
            <a:pPr indent="0" marL="0">
              <a:buNone/>
            </a:pPr>
            <a:r>
              <a:rPr lang="en-US" sz="1000" u="sng" dirty="0">
                <a:solidFill>
                  <a:srgbClr val="526777"/>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Formation synthétique | Guide et Atelier 19</a:t>
            </a:r>
            <a:endParaRPr lang="en-US" sz="1000" dirty="0"/>
          </a:p>
        </p:txBody>
      </p:sp>
      <p:sp>
        <p:nvSpPr>
          <p:cNvPr id="18" name="Text 16"/>
          <p:cNvSpPr/>
          <p:nvPr/>
        </p:nvSpPr>
        <p:spPr>
          <a:xfrm>
            <a:off x="10515600" y="6419088"/>
            <a:ext cx="1097280" cy="210312"/>
          </a:xfrm>
          <a:prstGeom prst="rect">
            <a:avLst/>
          </a:prstGeom>
          <a:noFill/>
          <a:ln/>
        </p:spPr>
        <p:txBody>
          <a:bodyPr wrap="square" lIns="0" tIns="0" rIns="0" bIns="0" rtlCol="0" anchor="ctr"/>
          <a:lstStyle/>
          <a:p>
            <a:pPr algn="r" indent="0" marL="0">
              <a:buNone/>
            </a:pPr>
            <a:r>
              <a:rPr lang="en-US" sz="1000" dirty="0">
                <a:solidFill>
                  <a:srgbClr val="526777"/>
                </a:solidFill>
                <a:latin typeface="Segoe UI" pitchFamily="34" charset="0"/>
                <a:ea typeface="Segoe UI" pitchFamily="34" charset="-122"/>
                <a:cs typeface="Segoe UI" pitchFamily="34" charset="-120"/>
              </a:rPr>
              <a:t>37 / 37</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Ingénierie de l'évaluation</dc:title>
  <dc:subject>Deterministic contracts, native Foundry evaluation and quote-agent regression prevention</dc:subject>
  <dc:creator>Foundry Hosted Agents FSI workshop</dc:creator>
  <cp:lastModifiedBy>Foundry Hosted Agents FSI workshop</cp:lastModifiedBy>
  <cp:revision>1</cp:revision>
  <dcterms:created xsi:type="dcterms:W3CDTF">2026-10-23T18:45:12Z</dcterms:created>
  <dcterms:modified xsi:type="dcterms:W3CDTF">2026-10-23T18:45:12Z</dcterms:modified>
</cp:coreProperties>
</file>